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happens here rather than at the door, so nobody sits idle waiting for the room to catch up - get every check green before anyone pastes a prompt. Then 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 The EYES row fixes a real failure from this course: a student whose intent asked for readable axes got seven rows, every one a pytest on core/ and nothing about the screen. Every test passed and the chart was unreadable.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of Round 2 if you can spare the projector. The panic you are heading off is at Gate 3: three gates in, an hour gone, and the test count has not moved a single digit. Say out loud that documents are the deliverable of gates 1 to 3, and that the seven failures are supposed to sit there untouched until the maths gets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they will want to spend twenty. Push them to write badly and move on - a rough intent that exists beats a polished one that does not. The NOT-included question is the one to read aloud: no file loading, no saving, no third tone. That single line is what stops the agent gold-plating for the rest of the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teaches the course's actual skill, so do not let them rush it. Ask two or three to read out one acceptance criterion, and put it to the room: could that ever fail? Most first drafts say the peak is in the right place, which is exactly the check that misses the scaling bug they are about to hit at Gate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forward to Session 2 explicitly here. The one-file-per-task rule looks like pedantry to someone working alone, and it is the only reason four people can build in parallel next week without anyone having to learn how to resolve a merge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minutes, and the room will fragment here - some green in ten, some still fighting the scaling at the end. Say the timebox before they start. The failure to watch for is not a failing test, it is a student clicking approve on a diff they have not read: that feels productive and is exactly how the DC bug gets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after the lab, not before it. They have already watched an agent get the scaling wrong and a test catch it, so the maths now answers a question they actually have. Fifteen minutes; skip the last slide and hand it out if you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real file on the projector rather than the slide. The line to dwell on is np.arange: the gap between samples is 1/fs, and that single number decides everything the rest of the code can and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wagon wheel is the example that lands - most of them have seen it without knowing it had a name. If anyone asks why the tests use 1000 Hz for a 120 Hz tone, this is the answer: comfortably more than twice the highest frequency in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two-knobs line is the one to make them repeat back. Students reliably conflate the two and try to fix poor resolution by sampling faster, which does nothing at all - it raises a ceiling they were not hitting. Recording for longer is the only thing that separates two close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whole lab, so land it slowly. Ask which of their seven tests would still pass with the 2/n missing - the answer is the ones checking peak position, which is most of them. That is what an acceptance criterion that cannot fail buys you, stated in code they wrote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sidebar next to the file tree so the mapping is literally visible. This is also where the Round 1 mess pays off: their agent knew nothing about pages/ and wrote a loose script at the top level, so the tab never appeared. The convention only looks obvious once you have watched an agent miss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rerun model is the one thing to make them say back to you: there is no onChange anywhere in this file, and every interaction runs all forty lines again. Then point at the import at the top - core.spectrum knows nothing about Streamlit, and Streamlit knows nothing about FFTs. That split is why the tests could exist before the page did. Say the st.line_chart trap out loud: a student in this course got a chart with Time and Frequency drawn as data lines, no readable axis at all, while all their tests passed. The legend is the tell - an axis name should never be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this out rather than reading it. The one to actually push is dspguide.com - free, written for engineers who have not done the maths yet, and the book that makes the next signals course easier. Say plainly that the official docs are what the model has read, so quoting them in a prompt works better than describing what you want in your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Witchapong Daroontham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pic>
        <p:nvPicPr>
          <p:cNvPr id="9" name="Image 2" descr="figures/fig-harness-model.png">    </p:cNvPr>
          <p:cNvPicPr>
            <a:picLocks noChangeAspect="1"/>
          </p:cNvPicPr>
          <p:nvPr/>
        </p:nvPicPr>
        <p:blipFill>
          <a:blip r:embed="rId3"/>
          <a:srcRect l="0" r="0" t="0" b="0"/>
          <a:stretch/>
        </p:blipFill>
        <p:spPr>
          <a:xfrm>
            <a:off x="558800" y="1511300"/>
            <a:ext cx="6134100" cy="4572000"/>
          </a:xfrm>
          <a:prstGeom prst="rect">
            <a:avLst/>
          </a:prstGeom>
        </p:spPr>
      </p:pic>
      <p:sp>
        <p:nvSpPr>
          <p:cNvPr id="10"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11"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2"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pic>
        <p:nvPicPr>
          <p:cNvPr id="3" name="Image 0" descr="icons/cline.png">    </p:cNvPr>
          <p:cNvPicPr>
            <a:picLocks noChangeAspect="1"/>
          </p:cNvPicPr>
          <p:nvPr/>
        </p:nvPicPr>
        <p:blipFill>
          <a:blip r:embed="rId1"/>
          <a:stretch>
            <a:fillRect/>
          </a:stretch>
        </p:blipFill>
        <p:spPr>
          <a:xfrm>
            <a:off x="9715500" y="361950"/>
            <a:ext cx="203200" cy="203200"/>
          </a:xfrm>
          <a:prstGeom prst="rect">
            <a:avLst/>
          </a:prstGeom>
        </p:spPr>
      </p:pic>
      <p:pic>
        <p:nvPicPr>
          <p:cNvPr id="4" name="Image 1" descr="icons/cursor.png">    </p:cNvPr>
          <p:cNvPicPr>
            <a:picLocks noChangeAspect="1"/>
          </p:cNvPicPr>
          <p:nvPr/>
        </p:nvPicPr>
        <p:blipFill>
          <a:blip r:embed="rId2"/>
          <a:stretch>
            <a:fillRect/>
          </a:stretch>
        </p:blipFill>
        <p:spPr>
          <a:xfrm>
            <a:off x="10058400" y="361950"/>
            <a:ext cx="203200" cy="203200"/>
          </a:xfrm>
          <a:prstGeom prst="rect">
            <a:avLst/>
          </a:prstGeom>
        </p:spPr>
      </p:pic>
      <p:pic>
        <p:nvPicPr>
          <p:cNvPr id="5" name="Image 2" descr="icons/githubcopilot.png">    </p:cNvPr>
          <p:cNvPicPr>
            <a:picLocks noChangeAspect="1"/>
          </p:cNvPicPr>
          <p:nvPr/>
        </p:nvPicPr>
        <p:blipFill>
          <a:blip r:embed="rId3"/>
          <a:stretch>
            <a:fillRect/>
          </a:stretch>
        </p:blipFill>
        <p:spPr>
          <a:xfrm>
            <a:off x="10401300" y="361950"/>
            <a:ext cx="203200" cy="203200"/>
          </a:xfrm>
          <a:prstGeom prst="rect">
            <a:avLst/>
          </a:prstGeom>
        </p:spPr>
      </p:pic>
      <p:pic>
        <p:nvPicPr>
          <p:cNvPr id="6" name="Image 3" descr="icons/claude.png">    </p:cNvPr>
          <p:cNvPicPr>
            <a:picLocks noChangeAspect="1"/>
          </p:cNvPicPr>
          <p:nvPr/>
        </p:nvPicPr>
        <p:blipFill>
          <a:blip r:embed="rId4"/>
          <a:stretch>
            <a:fillRect/>
          </a:stretch>
        </p:blipFill>
        <p:spPr>
          <a:xfrm>
            <a:off x="10744200" y="361950"/>
            <a:ext cx="203200" cy="203200"/>
          </a:xfrm>
          <a:prstGeom prst="rect">
            <a:avLst/>
          </a:prstGeom>
        </p:spPr>
      </p:pic>
      <p:pic>
        <p:nvPicPr>
          <p:cNvPr id="7" name="Image 4" descr="icons/googlegemini.png">    </p:cNvPr>
          <p:cNvPicPr>
            <a:picLocks noChangeAspect="1"/>
          </p:cNvPicPr>
          <p:nvPr/>
        </p:nvPicPr>
        <p:blipFill>
          <a:blip r:embed="rId5"/>
          <a:stretch>
            <a:fillRect/>
          </a:stretch>
        </p:blipFill>
        <p:spPr>
          <a:xfrm>
            <a:off x="11087100" y="361950"/>
            <a:ext cx="203200" cy="203200"/>
          </a:xfrm>
          <a:prstGeom prst="rect">
            <a:avLst/>
          </a:prstGeom>
        </p:spPr>
      </p:pic>
      <p:pic>
        <p:nvPicPr>
          <p:cNvPr id="8" name="Image 5" descr="icons/mistralai.png">    </p:cNvPr>
          <p:cNvPicPr>
            <a:picLocks noChangeAspect="1"/>
          </p:cNvPicPr>
          <p:nvPr/>
        </p:nvPicPr>
        <p:blipFill>
          <a:blip r:embed="rId6"/>
          <a:stretch>
            <a:fillRect/>
          </a:stretch>
        </p:blipFill>
        <p:spPr>
          <a:xfrm>
            <a:off x="11430000" y="361950"/>
            <a:ext cx="203200" cy="203200"/>
          </a:xfrm>
          <a:prstGeom prst="rect">
            <a:avLst/>
          </a:prstGeom>
        </p:spPr>
      </p:pic>
      <p:sp>
        <p:nvSpPr>
          <p:cNvPr id="9"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10" name="Shape 2"/>
          <p:cNvSpPr/>
          <p:nvPr/>
        </p:nvSpPr>
        <p:spPr>
          <a:xfrm>
            <a:off x="558800" y="1181100"/>
            <a:ext cx="11074400" cy="6350"/>
          </a:xfrm>
          <a:prstGeom prst="rect">
            <a:avLst/>
          </a:prstGeom>
          <a:solidFill>
            <a:srgbClr val="E1DED7"/>
          </a:solidFill>
          <a:ln/>
        </p:spPr>
      </p:sp>
      <p:sp>
        <p:nvSpPr>
          <p:cNvPr id="11"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2"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13"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14"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15"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6"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7"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8"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Set the machine up, then ask for the whole thing with no plan and see what arrives. 15 minutes of setup, 25 of building.</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pic>
        <p:nvPicPr>
          <p:cNvPr id="3" name="Image 0" descr="icons/github.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mistralai.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hon.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11"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template is at github.com/witchapong/ai-workshop-template — Use this template, then Code, then Codespaces. One click builds a Linux machine in your browser; nothing installs here.</a:t>
            </a:r>
            <a:endParaRPr lang="en-US" sz="1700" dirty="0"/>
          </a:p>
        </p:txBody>
      </p:sp>
      <p:sp>
        <p:nvSpPr>
          <p:cNvPr id="13"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5"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6"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7"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8"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ooglegemini.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2"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pic>
        <p:nvPicPr>
          <p:cNvPr id="3" name="Image 0" descr="icons/cline.png">    </p:cNvPr>
          <p:cNvPicPr>
            <a:picLocks noChangeAspect="1"/>
          </p:cNvPicPr>
          <p:nvPr/>
        </p:nvPicPr>
        <p:blipFill>
          <a:blip r:embed="rId1"/>
          <a:stretch>
            <a:fillRect/>
          </a:stretch>
        </p:blipFill>
        <p:spPr>
          <a:xfrm>
            <a:off x="10744200" y="361950"/>
            <a:ext cx="203200" cy="203200"/>
          </a:xfrm>
          <a:prstGeom prst="rect">
            <a:avLst/>
          </a:prstGeom>
        </p:spPr>
      </p:pic>
      <p:pic>
        <p:nvPicPr>
          <p:cNvPr id="4" name="Image 1" descr="icons/mistralai.png">    </p:cNvPr>
          <p:cNvPicPr>
            <a:picLocks noChangeAspect="1"/>
          </p:cNvPicPr>
          <p:nvPr/>
        </p:nvPicPr>
        <p:blipFill>
          <a:blip r:embed="rId2"/>
          <a:stretch>
            <a:fillRect/>
          </a:stretch>
        </p:blipFill>
        <p:spPr>
          <a:xfrm>
            <a:off x="11087100" y="361950"/>
            <a:ext cx="203200" cy="203200"/>
          </a:xfrm>
          <a:prstGeom prst="rect">
            <a:avLst/>
          </a:prstGeom>
        </p:spPr>
      </p:pic>
      <p:pic>
        <p:nvPicPr>
          <p:cNvPr id="5" name="Image 2" descr="icons/googlegemini.png">    </p:cNvPr>
          <p:cNvPicPr>
            <a:picLocks noChangeAspect="1"/>
          </p:cNvPicPr>
          <p:nvPr/>
        </p:nvPicPr>
        <p:blipFill>
          <a:blip r:embed="rId3"/>
          <a:stretch>
            <a:fillRect/>
          </a:stretch>
        </p:blipFill>
        <p:spPr>
          <a:xfrm>
            <a:off x="11430000" y="361950"/>
            <a:ext cx="203200" cy="203200"/>
          </a:xfrm>
          <a:prstGeom prst="rect">
            <a:avLst/>
          </a:prstGeom>
        </p:spPr>
      </p:pic>
      <p:sp>
        <p:nvSpPr>
          <p:cNvPr id="6"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7" name="Shape 2"/>
          <p:cNvSpPr/>
          <p:nvPr/>
        </p:nvSpPr>
        <p:spPr>
          <a:xfrm>
            <a:off x="558800" y="1181100"/>
            <a:ext cx="11074400" cy="6350"/>
          </a:xfrm>
          <a:prstGeom prst="rect">
            <a:avLst/>
          </a:prstGeom>
          <a:solidFill>
            <a:srgbClr val="E1DED7"/>
          </a:solidFill>
          <a:ln/>
        </p:spPr>
      </p:sp>
      <p:sp>
        <p:nvSpPr>
          <p:cNvPr id="8"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9"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15</a:t>
            </a:r>
            <a:endParaRPr lang="en-US" sz="1200" dirty="0"/>
          </a:p>
        </p:txBody>
      </p:sp>
      <p:sp>
        <p:nvSpPr>
          <p:cNvPr id="10"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1"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12"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3"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4"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5"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6"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7"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intent.md, then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done bullet gets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row. pytest &lt;name&gt;, 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EYES: &lt;what to look at&gt;.”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kinds of check, and you need both. A test for the maths; a person's eyes for the screen, because no test in this repository ever opens a page.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done bullet from your intent has a row that could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WRITE 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tasks.md. Two tasks,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each, and a</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Done when for both.”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and the one criterion that says it is finished. A task with no Done when can never be wrong, so it will be.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 one check that could fail.</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est.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2"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8" name="Image 1" descr="figures/fig-spectrum.png">    </p:cNvPr>
          <p:cNvPicPr>
            <a:picLocks noChangeAspect="1"/>
          </p:cNvPicPr>
          <p:nvPr/>
        </p:nvPicPr>
        <p:blipFill>
          <a:blip r:embed="rId2"/>
          <a:srcRect l="0" r="0" t="0" b="0"/>
          <a:stretch/>
        </p:blipFill>
        <p:spPr>
          <a:xfrm>
            <a:off x="558800" y="1511300"/>
            <a:ext cx="6134100" cy="4572000"/>
          </a:xfrm>
          <a:prstGeom prst="rect">
            <a:avLst/>
          </a:prstGeom>
        </p:spPr>
      </p:pic>
      <p:sp>
        <p:nvSpPr>
          <p:cNvPr id="9"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10"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1"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pytest.png">    </p:cNvPr>
          <p:cNvPicPr>
            <a:picLocks noChangeAspect="1"/>
          </p:cNvPicPr>
          <p:nvPr/>
        </p:nvPicPr>
        <p:blipFill>
          <a:blip r:embed="rId1"/>
          <a:stretch>
            <a:fillRect/>
          </a:stretch>
        </p:blipFill>
        <p:spPr>
          <a:xfrm>
            <a:off x="11430000" y="361950"/>
            <a:ext cx="203200" cy="203200"/>
          </a:xfrm>
          <a:prstGeom prst="rect">
            <a:avLst/>
          </a:prstGeom>
        </p:spPr>
      </p:pic>
      <p:sp>
        <p:nvSpPr>
          <p:cNvPr id="4"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5" name="Shape 2"/>
          <p:cNvSpPr/>
          <p:nvPr/>
        </p:nvSpPr>
        <p:spPr>
          <a:xfrm>
            <a:off x="558800" y="1181100"/>
            <a:ext cx="11074400" cy="6350"/>
          </a:xfrm>
          <a:prstGeom prst="rect">
            <a:avLst/>
          </a:prstGeom>
          <a:solidFill>
            <a:srgbClr val="E1DED7"/>
          </a:solidFill>
          <a:ln/>
        </p:spPr>
      </p:sp>
      <p:sp>
        <p:nvSpPr>
          <p:cNvPr id="6"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7"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8"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9"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10"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1"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2" name="Shape 9"/>
          <p:cNvSpPr/>
          <p:nvPr/>
        </p:nvSpPr>
        <p:spPr>
          <a:xfrm>
            <a:off x="7431430" y="5384800"/>
            <a:ext cx="12700" cy="698500"/>
          </a:xfrm>
          <a:prstGeom prst="rect">
            <a:avLst/>
          </a:prstGeom>
          <a:solidFill>
            <a:srgbClr val="A87A2E"/>
          </a:solidFill>
          <a:ln/>
        </p:spPr>
      </p:sp>
      <p:sp>
        <p:nvSpPr>
          <p:cNvPr id="13"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Round 2 — where each gate leaves you</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GATES 1-3 write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seven failures do not move.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1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2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3   aidlc/design.md, 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writes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Now pytest goes 7 failed -&gt; 29 pass.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4a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gate 4b  the Streamlit page</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line of this happens on main. You do not change branch again — what changes is which files exist, and what pytest says.</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Nothing turns green until Gate 4. Three gates of documents with the number refusing to move is the design, not a fault.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Lost? git branch --show-current, git status --short, pytest. Those three put you back on this list.</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1 — INTENT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write this one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open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answer the four questions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replace every PLACEHOLDER</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grep -c PLACEHOLDER  -&gt;  0</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filled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Four questions, four sentences, in your own words — this is the one the agent cannot do for you.</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will refuse to write code while PLACEHOLDER is still in the file. That refusal is the gate working, not an error.</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last one: what is deliberately NOT included.</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2 — SPEC</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agent drafts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2"</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from labs/PROMPTS.md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 it, reply approved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every bullet has a row,</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all 7 tests cited,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could each one FAIL?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Before you paste anything, write down on paper how you would check the spectrum is right. Then compare it with what comes back.</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Count the rows against your intent. A pytest criterion may only back a claim about core/ — cite one for what the page does and it passes while the page is blank.</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per gate. A long conversation makes an agent worse, not better.</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3 — PLAN</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per task</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task, paste "Gate 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reply approved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commit -m "gates 1-3"</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matches the tests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tasks, one file each</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still 7 failed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You are approving a plan, not code. No code exists yet, which is exactly what makes this gate cheap to get right.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task, one file. Working alone that looks like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task table is easy to check because the prompt dictated it. design.md is the part nobody dictated.</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do this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38</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GATE 4 — BUILD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task at a time</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DO</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NEW task for each: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pytest,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2: run app, commit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CHECK</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spike 1.0, then 0.3 -&gt; 0.3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no legend at all</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END</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 + page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pytest 29 pass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tasks, two fresh Cline conversations, a commit after each. Never both in one task, however tempting it looks.</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If a test fails, paste that one failure back and let it fix that one thing. Fifteen minutes stuck is the limit, then restore the reference.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Commit every time the tests go green. That is what makes git checkout a safe undo.</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github.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39</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2"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the analyser actually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You approved this code. Now read it — the maths first, then the page that puts it on screen.</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wave becomes a list of numbers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41</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make_signal — building the 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 np.arange(0, duration, 1/fs)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signal = np.zeros_like(times)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freq, amp in components: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signal += amp * np.sin(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np.pi * freq * times)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1000 samples per second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duration = 1 s  -&gt;  n = 1000 numbers</a:t>
            </a:r>
            <a:endParaRPr lang="en-US" sz="1400" dirty="0"/>
          </a:p>
        </p:txBody>
      </p:sp>
      <p:sp>
        <p:nvSpPr>
          <p:cNvPr id="11"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computer never stores a curve. It stores the height of the wave at evenly spaced instants — here a thousand of them, one every millisecond.</a:t>
            </a:r>
            <a:endParaRPr lang="en-US" sz="1600" dirty="0"/>
          </a:p>
        </p:txBody>
      </p:sp>
      <p:sp>
        <p:nvSpPr>
          <p:cNvPr id="12"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sin(2·pi·f·t) is one tone; the loop adds a term per tone. Everything after this works on that list of a thousand numbers.</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fs is the only reason the numbers mean anything. Without it, a list of samples has no timescale at all.</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only ever see half the sampling rate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Sample at 1000 Hz and the highest frequency you can measure is 500.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That ceiling is the Nyquist frequency, exactly half the sampling rate. The lab's 50 Hz and 120 Hz sit comfortably underneath it.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Above the ceiling, a tone comes back wearing a disguise.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600 Hz tone sampled at 1000 Hz is indistinguishable from a 400 Hz one. That is aliasing, and it is why wagon wheels appear to spin backwards on film.</a:t>
            </a:r>
            <a:endParaRPr lang="en-US" sz="1700" dirty="0"/>
          </a:p>
        </p:txBody>
      </p:sp>
      <p:sp>
        <p:nvSpPr>
          <p:cNvPr id="11" name="Text 9"/>
          <p:cNvSpPr/>
          <p:nvPr/>
        </p:nvSpPr>
        <p:spPr>
          <a:xfrm>
            <a:off x="558800" y="3897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897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in the code will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rfftfreq simply stops at 500 Hz. A tone above it does not raise an error — it quietly reports the wrong frequency, and the chart looks entirely reasonable.</a:t>
            </a:r>
            <a:endParaRPr lang="en-US" sz="1700" dirty="0"/>
          </a:p>
        </p:txBody>
      </p:sp>
      <p:sp>
        <p:nvSpPr>
          <p:cNvPr id="13" name="Text 11"/>
          <p:cNvSpPr/>
          <p:nvPr/>
        </p:nvSpPr>
        <p:spPr>
          <a:xfrm>
            <a:off x="558800" y="509079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509079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fix is always the sampling rate, never the maths.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To see a 1 kHz tone you must sample faster than 2 kHz. This is the Nyquist–Shannon sampling theorem, and it is the one piece of theory worth carrying out of today.</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N samples to N/2 + 1 frequencies</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43</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spectrum — time into frequency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coefficients = np.fft.rfft(signal)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 np.fft.rfftfreq(n, 1/fs)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n = 1000 samples, fs = 1000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501 frequencies, 0 to 500 Hz</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spaced fs/n = 1 Hz apart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second of signal buys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Hz of frequency detail</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discrete Fourier transform asks, of every frequency it can see, how much of that frequency is in the signal. rfft does it for real input and returns only the positive half.</a:t>
            </a:r>
            <a:endParaRPr lang="en-US" sz="1600" dirty="0"/>
          </a:p>
        </p:txBody>
      </p:sp>
      <p:sp>
        <p:nvSpPr>
          <p:cNvPr id="12" name="Text 8"/>
          <p:cNvSpPr/>
          <p:nvPr/>
        </p:nvSpPr>
        <p:spPr>
          <a:xfrm>
            <a:off x="7431430" y="353314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Resolution comes from duration alone: bins sit fs/n apart, and n is fs times duration, so the spacing is 1/duration. Two seconds would give 0.5 Hz.</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Longer recording, finer frequency detail. Faster sampling, higher ceiling. Two different knobs.</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two lines that scale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44</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two lines that matter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 = 2.0 * np.abs(coefficients) / 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mag[0] = np.abs(coefficients[0]) / 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2/n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tone splits its energy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between +f and -f</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rfft shows you only +f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why is bin 0 different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0 Hz has no negative twin</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Without the 2/n a one-volt tone reads about five hundred. Every spike lands in the right place and every height is wrong.</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Bin 0 is a constant offset. It was never split across a pair, so doubling it makes it twice what it should be — the bug the agent writes most often.</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Requirement 5 in your spec, and the single line most worth checking by hand.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per page, and Streamlit finds it</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45</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app.py</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run this. the entry point.</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pages/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file = one tab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1_Example.py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2_Spectrum_Analyzer.py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9_Intake_Desk.py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leading number orders the tabs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underscores become spaces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there is no routing code to write</a:t>
            </a:r>
            <a:endParaRPr lang="en-US" sz="1400" dirty="0"/>
          </a:p>
        </p:txBody>
      </p:sp>
      <p:sp>
        <p:nvSpPr>
          <p:cNvPr id="11"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Streamlit turns every file in pages/ into a tab by itself. You never register a route or edit a config — you add a file, and it appears.</a:t>
            </a:r>
            <a:endParaRPr lang="en-US" sz="1600" dirty="0"/>
          </a:p>
        </p:txBody>
      </p:sp>
      <p:sp>
        <p:nvSpPr>
          <p:cNvPr id="12"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That is why the plan at Gate 3 gives one file to one task. Next week it is one file to one person, and four people never touch the same one.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convention doing the real work here is a naming rule, not a framework feature.</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streamlit.png">    </p:cNvPr>
          <p:cNvPicPr>
            <a:picLocks noChangeAspect="1"/>
          </p:cNvPicPr>
          <p:nvPr/>
        </p:nvPicPr>
        <p:blipFill>
          <a:blip r:embed="rId1"/>
          <a:stretch>
            <a:fillRect/>
          </a:stretch>
        </p:blipFill>
        <p:spPr>
          <a:xfrm>
            <a:off x="11087100" y="361950"/>
            <a:ext cx="203200" cy="203200"/>
          </a:xfrm>
          <a:prstGeom prst="rect">
            <a:avLst/>
          </a:prstGeom>
        </p:spPr>
      </p:pic>
      <p:pic>
        <p:nvPicPr>
          <p:cNvPr id="4" name="Image 1" descr="icons/python.png">    </p:cNvPr>
          <p:cNvPicPr>
            <a:picLocks noChangeAspect="1"/>
          </p:cNvPicPr>
          <p:nvPr/>
        </p:nvPicPr>
        <p:blipFill>
          <a:blip r:embed="rId2"/>
          <a:stretch>
            <a:fillRect/>
          </a:stretch>
        </p:blipFill>
        <p:spPr>
          <a:xfrm>
            <a:off x="11430000" y="361950"/>
            <a:ext cx="203200" cy="203200"/>
          </a:xfrm>
          <a:prstGeom prst="rect">
            <a:avLst/>
          </a:prstGeom>
        </p:spPr>
      </p:pic>
      <p:sp>
        <p:nvSpPr>
          <p:cNvPr id="5"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Widgets in, chart out, and it reruns every time</a:t>
            </a:r>
            <a:endParaRPr lang="en-US" sz="2800" dirty="0"/>
          </a:p>
        </p:txBody>
      </p:sp>
      <p:sp>
        <p:nvSpPr>
          <p:cNvPr id="6" name="Shape 2"/>
          <p:cNvSpPr/>
          <p:nvPr/>
        </p:nvSpPr>
        <p:spPr>
          <a:xfrm>
            <a:off x="558800" y="1181100"/>
            <a:ext cx="11074400" cy="6350"/>
          </a:xfrm>
          <a:prstGeom prst="rect">
            <a:avLst/>
          </a:prstGeom>
          <a:solidFill>
            <a:srgbClr val="E1DED7"/>
          </a:solidFill>
          <a:ln/>
        </p:spPr>
      </p:sp>
      <p:sp>
        <p:nvSpPr>
          <p:cNvPr id="7"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8"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46</a:t>
            </a:r>
            <a:endParaRPr lang="en-US" sz="1200" dirty="0"/>
          </a:p>
        </p:txBody>
      </p:sp>
      <p:sp>
        <p:nvSpPr>
          <p:cNvPr id="9"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10"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 the page, top to bottom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fs = st.select_slider(...)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freq_a = st.number_input(...)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amp_a = st.number_input(...)</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times,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freqs, mag = spectrum(sig, fs)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st.metric("Strongest frequency",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st.pyplot(figure)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st.info("check it yourself ...")</a:t>
            </a:r>
            <a:endParaRPr lang="en-US" sz="1400" dirty="0"/>
          </a:p>
        </p:txBody>
      </p:sp>
      <p:sp>
        <p:nvSpPr>
          <p:cNvPr id="11"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widget is not an event handler. st.number_input hands back whatever is in the box right now, the script carries on using it, and moving any control reruns the whole file from the top.</a:t>
            </a:r>
            <a:endParaRPr lang="en-US" sz="1600" dirty="0"/>
          </a:p>
        </p:txBody>
      </p:sp>
      <p:sp>
        <p:nvSpPr>
          <p:cNvPr id="12" name="Text 8"/>
          <p:cNvSpPr/>
          <p:nvPr/>
        </p:nvSpPr>
        <p:spPr>
          <a:xfrm>
            <a:off x="7431430" y="353314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st.metric, st.pyplot and st.info are how this page shows a result. If your agent reaches for st.line_chart instead, name the axes with x= and y=, or it draws your x-axis as a second line.</a:t>
            </a:r>
            <a:endParaRPr lang="en-US" sz="1600" dirty="0"/>
          </a:p>
        </p:txBody>
      </p:sp>
      <p:sp>
        <p:nvSpPr>
          <p:cNvPr id="13" name="Shape 9"/>
          <p:cNvSpPr/>
          <p:nvPr/>
        </p:nvSpPr>
        <p:spPr>
          <a:xfrm>
            <a:off x="7431430" y="5384800"/>
            <a:ext cx="12700" cy="698500"/>
          </a:xfrm>
          <a:prstGeom prst="rect">
            <a:avLst/>
          </a:prstGeom>
          <a:solidFill>
            <a:srgbClr val="A87A2E"/>
          </a:solidFill>
          <a:ln/>
        </p:spPr>
      </p:sp>
      <p:sp>
        <p:nvSpPr>
          <p:cNvPr id="14"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maths lives in core/ with no Streamlit in it. That is why seven tests can check it without ever opening a browser.</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pic>
        <p:nvPicPr>
          <p:cNvPr id="3" name="Image 0" descr="icons/python.png">    </p:cNvPr>
          <p:cNvPicPr>
            <a:picLocks noChangeAspect="1"/>
          </p:cNvPicPr>
          <p:nvPr/>
        </p:nvPicPr>
        <p:blipFill>
          <a:blip r:embed="rId1"/>
          <a:stretch>
            <a:fillRect/>
          </a:stretch>
        </p:blipFill>
        <p:spPr>
          <a:xfrm>
            <a:off x="10401300" y="361950"/>
            <a:ext cx="203200" cy="203200"/>
          </a:xfrm>
          <a:prstGeom prst="rect">
            <a:avLst/>
          </a:prstGeom>
        </p:spPr>
      </p:pic>
      <p:pic>
        <p:nvPicPr>
          <p:cNvPr id="4" name="Image 1" descr="icons/numpy.png">    </p:cNvPr>
          <p:cNvPicPr>
            <a:picLocks noChangeAspect="1"/>
          </p:cNvPicPr>
          <p:nvPr/>
        </p:nvPicPr>
        <p:blipFill>
          <a:blip r:embed="rId2"/>
          <a:stretch>
            <a:fillRect/>
          </a:stretch>
        </p:blipFill>
        <p:spPr>
          <a:xfrm>
            <a:off x="10744200" y="361950"/>
            <a:ext cx="203200" cy="203200"/>
          </a:xfrm>
          <a:prstGeom prst="rect">
            <a:avLst/>
          </a:prstGeom>
        </p:spPr>
      </p:pic>
      <p:pic>
        <p:nvPicPr>
          <p:cNvPr id="5" name="Image 2" descr="icons/streamlit.png">    </p:cNvPr>
          <p:cNvPicPr>
            <a:picLocks noChangeAspect="1"/>
          </p:cNvPicPr>
          <p:nvPr/>
        </p:nvPicPr>
        <p:blipFill>
          <a:blip r:embed="rId3"/>
          <a:stretch>
            <a:fillRect/>
          </a:stretch>
        </p:blipFill>
        <p:spPr>
          <a:xfrm>
            <a:off x="11087100" y="361950"/>
            <a:ext cx="203200" cy="203200"/>
          </a:xfrm>
          <a:prstGeom prst="rect">
            <a:avLst/>
          </a:prstGeom>
        </p:spPr>
      </p:pic>
      <p:pic>
        <p:nvPicPr>
          <p:cNvPr id="6" name="Image 3" descr="icons/pytest.png">    </p:cNvPr>
          <p:cNvPicPr>
            <a:picLocks noChangeAspect="1"/>
          </p:cNvPicPr>
          <p:nvPr/>
        </p:nvPicPr>
        <p:blipFill>
          <a:blip r:embed="rId4"/>
          <a:stretch>
            <a:fillRect/>
          </a:stretch>
        </p:blipFill>
        <p:spPr>
          <a:xfrm>
            <a:off x="11430000" y="361950"/>
            <a:ext cx="203200" cy="203200"/>
          </a:xfrm>
          <a:prstGeom prst="rect">
            <a:avLst/>
          </a:prstGeom>
        </p:spPr>
      </p:pic>
      <p:sp>
        <p:nvSpPr>
          <p:cNvPr id="7"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Where to read more</a:t>
            </a:r>
            <a:endParaRPr lang="en-US" sz="2800" dirty="0"/>
          </a:p>
        </p:txBody>
      </p:sp>
      <p:sp>
        <p:nvSpPr>
          <p:cNvPr id="8" name="Shape 2"/>
          <p:cNvSpPr/>
          <p:nvPr/>
        </p:nvSpPr>
        <p:spPr>
          <a:xfrm>
            <a:off x="558800" y="1181100"/>
            <a:ext cx="11074400" cy="6350"/>
          </a:xfrm>
          <a:prstGeom prst="rect">
            <a:avLst/>
          </a:prstGeom>
          <a:solidFill>
            <a:srgbClr val="E1DED7"/>
          </a:solidFill>
          <a:ln/>
        </p:spPr>
      </p:sp>
      <p:sp>
        <p:nvSpPr>
          <p:cNvPr id="9"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10"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47</a:t>
            </a:r>
            <a:endParaRPr lang="en-US" sz="1200" dirty="0"/>
          </a:p>
        </p:txBody>
      </p:sp>
      <p:sp>
        <p:nvSpPr>
          <p:cNvPr id="11"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THEORY</a:t>
            </a:r>
            <a:endParaRPr lang="en-US" sz="1300" dirty="0"/>
          </a:p>
        </p:txBody>
      </p:sp>
      <p:sp>
        <p:nvSpPr>
          <p:cNvPr id="12"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Steven Smith, “The Scientist and Engineer's Guide to Digital Signal Processing” — free in full at dspguide.com. Chapters 8 to 12 cover everything on the last three slides.</a:t>
            </a:r>
            <a:endParaRPr lang="en-US" sz="1600" dirty="0"/>
          </a:p>
        </p:txBody>
      </p:sp>
      <p:sp>
        <p:nvSpPr>
          <p:cNvPr id="13" name="Text 7"/>
          <p:cNvSpPr/>
          <p:nvPr/>
        </p:nvSpPr>
        <p:spPr>
          <a:xfrm>
            <a:off x="5588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For intuition rather than algebra, 3Blue1Brown's “But what is the Fourier Transform?” is twenty minutes and worth all of them. Search Nyquist–Shannon sampling theorem for the ceiling.</a:t>
            </a:r>
            <a:endParaRPr lang="en-US" sz="1600" dirty="0"/>
          </a:p>
        </p:txBody>
      </p:sp>
      <p:sp>
        <p:nvSpPr>
          <p:cNvPr id="14"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TOOLS</a:t>
            </a:r>
            <a:endParaRPr lang="en-US" sz="1300" dirty="0"/>
          </a:p>
        </p:txBody>
      </p:sp>
      <p:sp>
        <p:nvSpPr>
          <p:cNvPr id="15"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numpy.org documents fft.rfft and fft.rfftfreq, including the normalisation conventions behind every scaling bug you saw today.</a:t>
            </a:r>
            <a:endParaRPr lang="en-US" sz="1600" dirty="0"/>
          </a:p>
        </p:txBody>
      </p:sp>
      <p:sp>
        <p:nvSpPr>
          <p:cNvPr id="16" name="Text 10"/>
          <p:cNvSpPr/>
          <p:nvPr/>
        </p:nvSpPr>
        <p:spPr>
          <a:xfrm>
            <a:off x="6350000" y="327406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docs.streamlit.io for the interface and docs.pytest.org for the tests. Both are the official pages, both are shorter than you would expect, and both are what your agent was trained on.</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07</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49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50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Witchapong Daroontham · Department of Electrical Engineering</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51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2026-09-04T13:43:16Z</dcterms:created>
  <dcterms:modified xsi:type="dcterms:W3CDTF">2026-09-04T13:43:16Z</dcterms:modified>
</cp:coreProperties>
</file>