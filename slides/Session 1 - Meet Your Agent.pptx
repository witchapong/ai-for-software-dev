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of Round 2 if you can spare the projector. The panic you are heading off is at Gate 3: three gates in, an hour gone, and the test count has not moved a single digit. Say out loud that documents are the deliverable of gates 1 to 3, and that the seven failures are supposed to sit there untouched until the maths gets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they will want to spend twenty. Push them to write badly and move on - a rough intent that exists beats a polished one that does not. The NOT-included question is the one to read aloud: no file loading, no saving, no third tone. That single line is what stops the agent gold-plating for the rest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teaches the course's actual skill, so do not let them rush it. Ask two or three to read out one acceptance criterion, and put it to the room: could that ever fail? Most first drafts say the peak is in the right place, which is exactly the check that misses the scaling bug they are about to hit at Gate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forward to Session 2 explicitly here. The one-file-per-task rule looks like pedantry to someone working alone, and it is the only reason four people can build in parallel next week without anyone having to learn how to resolve a merge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and the room will fragment here - some green in ten, some still fighting the scaling at the end. Say the timebox before they start. The failure to watch for is not a failing test, it is a student clicking approve on a diff they have not read: that feels productive and is exactly how the DC bug gets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after the lab, not before it. They have already watched an agent get the scaling wrong and a test catch it, so the maths now answers a question they actually have. Fifteen minutes; skip the last slide and hand it out if you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real file on the projector rather than the slide. The line to dwell on is np.arange: the gap between samples is 1/fs, and that single number decides everything the rest of the code can and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wagon wheel is the example that lands - most of them have seen it without knowing it had a name. If anyone asks why the tests use 1000 Hz for a 120 Hz tone, this is the answer: comfortably more than twice the highest frequency in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two-knobs line is the one to make them repeat back. Students reliably conflate the two and try to fix poor resolution by sampling faster, which does nothing at all - it raises a ceiling they were not hitting. Recording for longer is the only thing that separates two close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whole lab, so land it slowly. Ask which of their seven tests would still pass with the 2/n missing - the answer is the ones checking peak position, which is most of them. That is what an acceptance criterion that cannot fail buys you, stated in code they wrote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rather than reading it. The one to actually push is dspguide.com - free, written for engineers who have not done the maths yet, and the book that makes the next signals course easier. Say plainly that the official docs are what the model has read, so quoting them in a prompt works better than describing what you want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github.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mistralai.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hon.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11"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13"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5"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6"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7"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8"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2"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cline.png">    </p:cNvPr>
          <p:cNvPicPr>
            <a:picLocks noChangeAspect="1"/>
          </p:cNvPicPr>
          <p:nvPr/>
        </p:nvPicPr>
        <p:blipFill>
          <a:blip r:embed="rId1"/>
          <a:stretch>
            <a:fillRect/>
          </a:stretch>
        </p:blipFill>
        <p:spPr>
          <a:xfrm>
            <a:off x="10744200" y="361950"/>
            <a:ext cx="203200" cy="203200"/>
          </a:xfrm>
          <a:prstGeom prst="rect">
            <a:avLst/>
          </a:prstGeom>
        </p:spPr>
      </p:pic>
      <p:pic>
        <p:nvPicPr>
          <p:cNvPr id="4" name="Image 1" descr="icons/mistralai.png">    </p:cNvPr>
          <p:cNvPicPr>
            <a:picLocks noChangeAspect="1"/>
          </p:cNvPicPr>
          <p:nvPr/>
        </p:nvPicPr>
        <p:blipFill>
          <a:blip r:embed="rId2"/>
          <a:stretch>
            <a:fillRect/>
          </a:stretch>
        </p:blipFill>
        <p:spPr>
          <a:xfrm>
            <a:off x="11087100" y="361950"/>
            <a:ext cx="203200" cy="203200"/>
          </a:xfrm>
          <a:prstGeom prst="rect">
            <a:avLst/>
          </a:prstGeom>
        </p:spPr>
      </p:pic>
      <p:pic>
        <p:nvPicPr>
          <p:cNvPr id="5" name="Image 2" descr="icons/googlegemini.png">    </p:cNvPr>
          <p:cNvPicPr>
            <a:picLocks noChangeAspect="1"/>
          </p:cNvPicPr>
          <p:nvPr/>
        </p:nvPicPr>
        <p:blipFill>
          <a:blip r:embed="rId3"/>
          <a:stretch>
            <a:fillRect/>
          </a:stretch>
        </p:blipFill>
        <p:spPr>
          <a:xfrm>
            <a:off x="11430000" y="361950"/>
            <a:ext cx="203200" cy="203200"/>
          </a:xfrm>
          <a:prstGeom prst="rect">
            <a:avLst/>
          </a:prstGeom>
        </p:spPr>
      </p:pic>
      <p:sp>
        <p:nvSpPr>
          <p:cNvPr id="6"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7" name="Shape 2"/>
          <p:cNvSpPr/>
          <p:nvPr/>
        </p:nvSpPr>
        <p:spPr>
          <a:xfrm>
            <a:off x="558800" y="1181100"/>
            <a:ext cx="11074400" cy="6350"/>
          </a:xfrm>
          <a:prstGeom prst="rect">
            <a:avLst/>
          </a:prstGeom>
          <a:solidFill>
            <a:srgbClr val="E1DED7"/>
          </a:solidFill>
          <a:ln/>
        </p:spPr>
      </p:sp>
      <p:sp>
        <p:nvSpPr>
          <p:cNvPr id="8"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9"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10"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1"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12"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3"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4"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5"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6"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7"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9" name="Image 2" descr="figures/fig-harness-model.png">    </p:cNvPr>
          <p:cNvPicPr>
            <a:picLocks noChangeAspect="1"/>
          </p:cNvPicPr>
          <p:nvPr/>
        </p:nvPicPr>
        <p:blipFill>
          <a:blip r:embed="rId3"/>
          <a:srcRect l="0" r="0" t="0" b="0"/>
          <a:stretch/>
        </p:blipFill>
        <p:spPr>
          <a:xfrm>
            <a:off x="558800" y="1511300"/>
            <a:ext cx="6134100" cy="4572000"/>
          </a:xfrm>
          <a:prstGeom prst="rect">
            <a:avLst/>
          </a:prstGeom>
        </p:spPr>
      </p:pic>
      <p:sp>
        <p:nvSpPr>
          <p:cNvPr id="10"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11"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2"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9715500" y="361950"/>
            <a:ext cx="203200" cy="203200"/>
          </a:xfrm>
          <a:prstGeom prst="rect">
            <a:avLst/>
          </a:prstGeom>
        </p:spPr>
      </p:pic>
      <p:pic>
        <p:nvPicPr>
          <p:cNvPr id="4" name="Image 1" descr="icons/cursor.png">    </p:cNvPr>
          <p:cNvPicPr>
            <a:picLocks noChangeAspect="1"/>
          </p:cNvPicPr>
          <p:nvPr/>
        </p:nvPicPr>
        <p:blipFill>
          <a:blip r:embed="rId2"/>
          <a:stretch>
            <a:fillRect/>
          </a:stretch>
        </p:blipFill>
        <p:spPr>
          <a:xfrm>
            <a:off x="10058400" y="361950"/>
            <a:ext cx="203200" cy="203200"/>
          </a:xfrm>
          <a:prstGeom prst="rect">
            <a:avLst/>
          </a:prstGeom>
        </p:spPr>
      </p:pic>
      <p:pic>
        <p:nvPicPr>
          <p:cNvPr id="5" name="Image 2" descr="icons/githubcopilot.png">    </p:cNvPr>
          <p:cNvPicPr>
            <a:picLocks noChangeAspect="1"/>
          </p:cNvPicPr>
          <p:nvPr/>
        </p:nvPicPr>
        <p:blipFill>
          <a:blip r:embed="rId3"/>
          <a:stretch>
            <a:fillRect/>
          </a:stretch>
        </p:blipFill>
        <p:spPr>
          <a:xfrm>
            <a:off x="10401300" y="361950"/>
            <a:ext cx="203200" cy="203200"/>
          </a:xfrm>
          <a:prstGeom prst="rect">
            <a:avLst/>
          </a:prstGeom>
        </p:spPr>
      </p:pic>
      <p:pic>
        <p:nvPicPr>
          <p:cNvPr id="6" name="Image 3" descr="icons/claude.png">    </p:cNvPr>
          <p:cNvPicPr>
            <a:picLocks noChangeAspect="1"/>
          </p:cNvPicPr>
          <p:nvPr/>
        </p:nvPicPr>
        <p:blipFill>
          <a:blip r:embed="rId4"/>
          <a:stretch>
            <a:fillRect/>
          </a:stretch>
        </p:blipFill>
        <p:spPr>
          <a:xfrm>
            <a:off x="10744200" y="361950"/>
            <a:ext cx="203200" cy="203200"/>
          </a:xfrm>
          <a:prstGeom prst="rect">
            <a:avLst/>
          </a:prstGeom>
        </p:spPr>
      </p:pic>
      <p:pic>
        <p:nvPicPr>
          <p:cNvPr id="7" name="Image 4" descr="icons/googlegemini.png">    </p:cNvPr>
          <p:cNvPicPr>
            <a:picLocks noChangeAspect="1"/>
          </p:cNvPicPr>
          <p:nvPr/>
        </p:nvPicPr>
        <p:blipFill>
          <a:blip r:embed="rId5"/>
          <a:stretch>
            <a:fillRect/>
          </a:stretch>
        </p:blipFill>
        <p:spPr>
          <a:xfrm>
            <a:off x="11087100" y="361950"/>
            <a:ext cx="203200" cy="203200"/>
          </a:xfrm>
          <a:prstGeom prst="rect">
            <a:avLst/>
          </a:prstGeom>
        </p:spPr>
      </p:pic>
      <p:pic>
        <p:nvPicPr>
          <p:cNvPr id="8" name="Image 5" descr="icons/mistralai.png">    </p:cNvPr>
          <p:cNvPicPr>
            <a:picLocks noChangeAspect="1"/>
          </p:cNvPicPr>
          <p:nvPr/>
        </p:nvPicPr>
        <p:blipFill>
          <a:blip r:embed="rId6"/>
          <a:stretch>
            <a:fillRect/>
          </a:stretch>
        </p:blipFill>
        <p:spPr>
          <a:xfrm>
            <a:off x="11430000" y="361950"/>
            <a:ext cx="203200" cy="203200"/>
          </a:xfrm>
          <a:prstGeom prst="rect">
            <a:avLst/>
          </a:prstGeom>
        </p:spPr>
      </p:pic>
      <p:sp>
        <p:nvSpPr>
          <p:cNvPr id="9"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10" name="Shape 2"/>
          <p:cNvSpPr/>
          <p:nvPr/>
        </p:nvSpPr>
        <p:spPr>
          <a:xfrm>
            <a:off x="558800" y="1181100"/>
            <a:ext cx="11074400" cy="6350"/>
          </a:xfrm>
          <a:prstGeom prst="rect">
            <a:avLst/>
          </a:prstGeom>
          <a:solidFill>
            <a:srgbClr val="E1DED7"/>
          </a:solidFill>
          <a:ln/>
        </p:spPr>
      </p:sp>
      <p:sp>
        <p:nvSpPr>
          <p:cNvPr id="11"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2"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13"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14"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15"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6"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7"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8"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says what we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building. Read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each row with a check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that can be run.”</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Read it. 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owner, one file per row.”</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Alone that is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est.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2"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8" name="Image 1" descr="figures/fig-spectrum.png">    </p:cNvPr>
          <p:cNvPicPr>
            <a:picLocks noChangeAspect="1"/>
          </p:cNvPicPr>
          <p:nvPr/>
        </p:nvPicPr>
        <p:blipFill>
          <a:blip r:embed="rId2"/>
          <a:srcRect l="0" r="0" t="0" b="0"/>
          <a:stretch/>
        </p:blipFill>
        <p:spPr>
          <a:xfrm>
            <a:off x="558800" y="1511300"/>
            <a:ext cx="6134100" cy="4572000"/>
          </a:xfrm>
          <a:prstGeom prst="rect">
            <a:avLst/>
          </a:prstGeom>
        </p:spPr>
      </p:pic>
      <p:sp>
        <p:nvSpPr>
          <p:cNvPr id="9"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10"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1"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es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8"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9"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10"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1"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2" name="Shape 9"/>
          <p:cNvSpPr/>
          <p:nvPr/>
        </p:nvSpPr>
        <p:spPr>
          <a:xfrm>
            <a:off x="7431430" y="5384800"/>
            <a:ext cx="12700" cy="698500"/>
          </a:xfrm>
          <a:prstGeom prst="rect">
            <a:avLst/>
          </a:prstGeom>
          <a:solidFill>
            <a:srgbClr val="A87A2E"/>
          </a:solidFill>
          <a:ln/>
        </p:spPr>
      </p:sp>
      <p:sp>
        <p:nvSpPr>
          <p:cNvPr id="13"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Round 2 — where each gate leaves you</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GATES 1-3 write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seven failures do not move.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1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2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3   aidlc/design.md, 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writes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Now pytest goes 7 failed -&gt; 56 pass.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4a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4b  the Streamlit page</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line of this happens on main. You do not change branch again — what changes is which files exist, and what pytest says.</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Nothing turns green until Gate 4. Three gates of documents with the number refusing to move is the design,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Lost? git branch --show-current, git status --short, pytest. Those three put you back on this list.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1 — INTENT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write this one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open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answer the four questions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replace every PLACEHOLDER</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grep -c PLACEHOLDER  -&gt;  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filled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Four questions, four sentences, in your own words — this is the one the agent cannot do for you.</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will refuse to write code while PLACEHOLDER is still in the file. That refusal is the gate working, not an error.</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last one: what is deliberately NOT included.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2 — SPEC</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agent drafts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paste "Gate 2" from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labs/PROMPTS.md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it, reply approved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could each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actually FAIL?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Before you paste anything, write down on paper how you would check the spectrum is right. Then compare it with what comes back.</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 criterion that cannot fail is not a criterion. “A spike appears near 50 Hz” passes code that is wrong by a factor of five hundred.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per gate. A long conversation makes an agent worse, not better.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3 — PLAN</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task</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reply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commit -m "gates 1-3"</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 task touches two files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 are approving a plan, not code. No code exists yet, which is exactly what makes this gate cheap to get right.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task, one file. Working alone that looks like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task touches two files, send it back. That is the whole check.</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 BUILD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task at a time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"Gate 4 task 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then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"Gate 4 task 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the app, then commit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 Hz spike reaches 1.0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 + page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pytest 56 pass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tasks, two fresh Cline conversations, a commit after each. Never both in one task, however tempting it looks.</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If a test fails, paste that one failure back and let it fix that one thing. Fifteen minutes stuck is the limit, then restore the reference.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Commit every time the tests go green. That is what makes git checkout a safe undo.</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ithub.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39</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2"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the analyser actually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You approved this code. Now read it — forty lines, and two of them are the ones that matter.</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wave becomes a list of numbers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41</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make_signal — building the 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 np.arange(0, duration, 1/fs)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signal = np.zeros_like(times)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freq, amp in components: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signal += amp * np.sin(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np.pi * freq * 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1000 samples per second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duration = 1 s  -&gt;  n = 1000 numbers</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computer never stores a curve. It stores the height of the wave at evenly spaced instants — here a thousand of them, one every millisecond.</a:t>
            </a:r>
            <a:endParaRPr lang="en-US" sz="1600" dirty="0"/>
          </a:p>
        </p:txBody>
      </p:sp>
      <p:sp>
        <p:nvSpPr>
          <p:cNvPr id="12"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sin(2·pi·f·t) is one tone; the loop adds a term per tone. Everything after this works on that list of a thousand numbers.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fs is the only reason the numbers mean anything. Without it, a list of samples has no timescale at all.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only ever see half the sampling rate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Sample at 1000 Hz and the highest frequency you can measure is 500.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ceiling is the Nyquist frequency, exactly half the sampling rate. The lab's 50 Hz and 120 Hz sit comfortably underneath it.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Above the ceiling, a tone comes back wearing a disguise.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600 Hz tone sampled at 1000 Hz is indistinguishable from a 400 Hz one. That is aliasing, and it is why wagon wheels appear to spin backwards on film.</a:t>
            </a:r>
            <a:endParaRPr lang="en-US" sz="1700" dirty="0"/>
          </a:p>
        </p:txBody>
      </p:sp>
      <p:sp>
        <p:nvSpPr>
          <p:cNvPr id="11" name="Text 9"/>
          <p:cNvSpPr/>
          <p:nvPr/>
        </p:nvSpPr>
        <p:spPr>
          <a:xfrm>
            <a:off x="558800" y="3897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897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in the code will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rfftfreq simply stops at 500 Hz. A tone above it does not raise an error — it quietly reports the wrong frequency, and the chart looks entirely reasonable.</a:t>
            </a:r>
            <a:endParaRPr lang="en-US" sz="1700" dirty="0"/>
          </a:p>
        </p:txBody>
      </p:sp>
      <p:sp>
        <p:nvSpPr>
          <p:cNvPr id="13" name="Text 11"/>
          <p:cNvSpPr/>
          <p:nvPr/>
        </p:nvSpPr>
        <p:spPr>
          <a:xfrm>
            <a:off x="558800" y="509079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509079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fix is always the sampling rate, never the maths.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To see a 1 kHz tone you must sample faster than 2 kHz. This is the Nyquist–Shannon sampling theorem, and it is the one piece of theory worth carrying out of today.</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N samples to N/2 + 1 frequencies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spectrum — time into frequency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coefficients = np.fft.rfft(signal)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 np.fft.rfftfreq(n, 1/fs)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 = 1000 samples, fs = 1000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501 frequencies, 0 to 500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spaced fs/n = 1 Hz apart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second of signal buys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Hz of frequency detail</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discrete Fourier transform asks, of every frequency it can see, how much of that frequency is in the signal. rfft does it for real input and returns only the positive half.</a:t>
            </a:r>
            <a:endParaRPr lang="en-US" sz="1600" dirty="0"/>
          </a:p>
        </p:txBody>
      </p:sp>
      <p:sp>
        <p:nvSpPr>
          <p:cNvPr id="12" name="Text 8"/>
          <p:cNvSpPr/>
          <p:nvPr/>
        </p:nvSpPr>
        <p:spPr>
          <a:xfrm>
            <a:off x="7431430" y="353314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Resolution comes from duration alone: bins sit fs/n apart, and n is fs times duration, so the spacing is 1/duration. Two seconds would give 0.5 Hz.</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Longer recording, finer frequency detail. Faster sampling, higher ceiling. Two different knobs.</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two lines that scale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two lines that matter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 = 2.0 * np.abs(coefficients) / 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mag[0] = np.abs(coefficients[0]) / 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2/n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tone splits its energy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between +f and -f</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rfft shows you only +f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is bin 0 different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0 Hz has no negative twin</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Without the 2/n a one-volt tone reads about five hundred. Every spike lands in the right place and every height is wrong.</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Bin 0 is a constant offset. It was never split across a pair, so doubling it makes it twice what it should be — the bug the agent writes most often.</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Requirement 5 in your spec, and the single line most worth checking by hand.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streamlit.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est.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Where to read more</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45</a:t>
            </a:r>
            <a:endParaRPr lang="en-US" sz="1200" dirty="0"/>
          </a:p>
        </p:txBody>
      </p:sp>
      <p:sp>
        <p:nvSpPr>
          <p:cNvPr id="11"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THEORY</a:t>
            </a:r>
            <a:endParaRPr lang="en-US" sz="1300" dirty="0"/>
          </a:p>
        </p:txBody>
      </p:sp>
      <p:sp>
        <p:nvSpPr>
          <p:cNvPr id="12"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Steven Smith, “The Scientist and Engineer's Guide to Digital Signal Processing” — free in full at dspguide.com. Chapters 8 to 12 cover everything on the last three slides.</a:t>
            </a:r>
            <a:endParaRPr lang="en-US" sz="1600" dirty="0"/>
          </a:p>
        </p:txBody>
      </p:sp>
      <p:sp>
        <p:nvSpPr>
          <p:cNvPr id="13"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For intuition rather than algebra, 3Blue1Brown's “But what is the Fourier Transform?” is twenty minutes and worth all of them. Search Nyquist–Shannon sampling theorem for the ceiling.</a:t>
            </a:r>
            <a:endParaRPr lang="en-US" sz="1600" dirty="0"/>
          </a:p>
        </p:txBody>
      </p:sp>
      <p:sp>
        <p:nvSpPr>
          <p:cNvPr id="14"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TOOLS</a:t>
            </a:r>
            <a:endParaRPr lang="en-US" sz="1300" dirty="0"/>
          </a:p>
        </p:txBody>
      </p:sp>
      <p:sp>
        <p:nvSpPr>
          <p:cNvPr id="15"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numpy.org documents fft.rfft and fft.rfftfreq, including the normalisation conventions behind every scaling bug you saw today.</a:t>
            </a:r>
            <a:endParaRPr lang="en-US" sz="1600" dirty="0"/>
          </a:p>
        </p:txBody>
      </p:sp>
      <p:sp>
        <p:nvSpPr>
          <p:cNvPr id="16"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docs.streamlit.io for the interface and docs.pytest.org for the tests. Both are the official pages, both are shorter than you would expect, and both are what your agent was trained on.</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48</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49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2026-09-03T09:40:15Z</dcterms:created>
  <dcterms:modified xsi:type="dcterms:W3CDTF">2026-09-03T09:40:15Z</dcterms:modified>
</cp:coreProperties>
</file>