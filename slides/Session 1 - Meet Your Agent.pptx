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Lst>
  <p:notesMasterIdLst>
    <p:notesMasterId r:id="rId3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notesMaster" Target="notesMasters/notesMaster1.xml"/><Relationship Id="rId40" Type="http://schemas.openxmlformats.org/officeDocument/2006/relationships/presProps" Target="presProps.xml"/><Relationship Id="rId41" Type="http://schemas.openxmlformats.org/officeDocument/2006/relationships/viewProps" Target="viewProps.xml"/><Relationship Id="rId42" Type="http://schemas.openxmlformats.org/officeDocument/2006/relationships/theme" Target="theme/theme1.xml"/><Relationship Id="rId4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Cover. Hold it while people sit down. Say the one-line promise: by the end of today you will have built and published a working app, and you will know why the careful route beat the quick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on screen as they walk in, and stays up for the first fifteen minutes. Say the key rule out loud: the key goes in .env, never in a file you commit, and never pasted into the chat. Walk the room rather than talking — the failures are individual, and the check script names each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most common two failures: the key pasted with a trailing space, and the placeholder text left in place. Both are named explicitly by the script. If a whole row is stuck, it is usually the proxy rather than the student.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single most likely way for a student to arrive unable to work, and it is invisible: every check passes, then Cline opens on a configuration screen nobody mentioned. Walk the room on this one specifically. The model names in Cline are Cline's own list and will not match the names in .env, which confuses people who are paying attention.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Agenda. Point out that item 05 is where they build the real thing; everything before it exists to make 05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clicking on: ask who has used ChatGPT to write code. Most hands. Then ask who knows what happens between typing the request and the file changing. Few hands. That gap is this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to three minutes and resist the detail. The two things they must leave with: training happened once and is finished, and the model predicts rather than looks up. Say the cost out loud — training one of these runs to millions of dollars, which is why you rent it instead of building it. Someone always asks whether it is on the internet: no. It is a fixed set of numbers that has been frozen since the day training stopped.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single most useful distinction in the course. When something goes wrong they must ask which half broke: rate limited is a model problem, Diff Edit Failed is a harness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Name-drop deliberately: these are the tools in job adverts, and students should recognise them. The point to land is the last line — when a model runs out of quota this afternoon they will change a dropdown and carry on working, and that only makes sense if they hold the two halves apart.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loop out loud with a concrete example: add a plot of the frequency response. Read the file, propose the edit, apply, run, read the error, go round again. The second paragraph sets up the quota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section is the one that changes their behaviour. Everything here is a constraint they hit today, not theory.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counter-intuitive point is the last one. Students assume a long conversation means the agent understands more; it means the opposite. The practical instruction is: start a new task per feature.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this arithmetic on the board with them rather than reading it. The number that lands is roughly one lab session per day on one account. Then the bridge into the gates.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key sentence is the third. A model cannot report not-knowing, because from the inside it looks the same as knowing. Hence the rule for the whole course: verify by running.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plainly: this round is meant to go badly, and going badly is the useful part. Do not rescue anyone during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two questions aloud before they start; they are the point of the exercise, not the app. Circulate but do not help. Stop everyone at 25 minutes, especially anyone mid-flow.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bridge out of the warm-up and into the gates, and it is the strongest thing in the deck because it is not an argument, it is a measurement. Ask the room how many of them checked the spike height before this slide appeared. Then say the sentence the whole session rests on: the gates did not make the agent correct, they made it wrong out 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Resume after the warm-up. Take three answers out loud before advancing, especially from anyone whose app looked finished. Most will not have checked the amplitude.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fair to the left column. Asking directly is genuinely faster and correct often enough to feel fine, which is exactly why it is dangerous. The difference is not speed, it is whether you can tell.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Stress that Gate 1 is the only one they write themselves; the agent drafts 2 and 3 and they approve. Approving without reading is the failure mode to warn about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slide that stops the gates being magic. A gate is not a feature of Cline - it is a paragraph of English you paste, plus a rules file that makes refusing possible. Read the last three sentences aloud and say where each came from: an agent that asked permission and sat waiting, and an agent that printed a beautiful table in the chat and wrote no file at all. Both cost us a scored run during development.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 real file. The NOT-included question is worth dwelling on: their warm-up agent invented file loading, windowing and saving because nothing told it to stop. Scope is a decision, and it is theirs.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Requirement 5 is the trap that catches everyone, including the agent: the DC term must not be doubled. Ask the room how they would have written the check for requirement 3 — most say “the peak is in the right place”, which is exactly the check that misses a factor of five hundred.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Approve the plan, not the code — no code exists yet. Flag forward to Session 2 explicitly: this is the rule that makes group work survivable without anyone having to learn git branching in an afternoon.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Commit every time the tests go green — that is what makes “git checkout the file” a safe escape hatch when the agent later mangles something. The failure mode to name now: approving a diff without reading it, which feels productive and is how the DC bug gets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the copy live and re-ask the Round 1 question so they watch the same agent refuse it. Budget two minutes, not thirty seconds: it is a real free-tier call and it can rate-limit on the projector, so have a screenshot of the refusal ready as a fallback. Commit the file in front of them - without the commit the next checkout silently restores the ungated version, which is the confusing failure LAB1 warns about. Then open the file: the rules are plain English and they can edit them. Sixty of you and one of me, so the file holds the line rather than 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where the software engineering content enters, and it should feel like a reveal. They have not been given four arbitrary hoops; they have walked the standard lifecycle, which predates all of this by fifty years.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Credit AWS explicitly; the paper is in the homework. Do not oversell it: AI-DLC targets large systems with many teams, and what they run today is a shrunk version. Say that plainly.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timebox rule out loud before they start: fifteen minutes stuck on one task, then restore the reference and move on. Nobody loses marks for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this on the projector with the file tree open, not off the slide. Open .clinerules and read a rule or two aloud, so the file is familiar before Round 2 swaps it. Do NOT open tests/ here, however tempting - the seven test names give away what Round 1 exists to let them discover. They meet the tests at Gate 2, on slide 33.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sight of the thing they build all day. Point at the spike heights: 1.0 and 0.5 are the numbers they typed in - that equality is the entire lab. If it looks unimpressive, good: the point is that correctness, not spectacle, is what they are chasing.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this out as the acceptance criteria, because that is what it is. The height requirement is the one they will skip and the one the tests will catch: a chart with both spikes in exactly the right place and every height wrong looks entirely convincing. Get the direction right if they ask: drop the 1/N and a unit tone reads N/2 - five hundred times too TALL at these settings, not too short.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 real test file on screen. Ask them to predict which of the seven tests would still pass if the scaling were wrong. Answer: all but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Last fifteen minutes, everyone, whether or not their app worked. Insist on the mutation exercise: two tests fail, the peak-location test stays green, and the chart still looks perfectly reasonable.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closing idea of the session, and the bridge to Session 2. Say plainly that the documents, not the code, were the work today — the code was the cheap part, and it will only get cheaper. Anyone whose app did not run still has four documents they can show, and that is a real deliverable.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up for a moment; this is the slide they photograph. Then homework, then the closing slide for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up during questions. Stress the log: three things the agent got wrong. Anyone who writes 'it all worked fine' did not look hard enough, and it is thirty per cent of the individual mark.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609600"/>
            <a:ext cx="11074400" cy="254000"/>
          </a:xfrm>
          <a:prstGeom prst="rect">
            <a:avLst/>
          </a:prstGeom>
          <a:noFill/>
          <a:ln/>
        </p:spPr>
        <p:txBody>
          <a:bodyPr wrap="square" lIns="0" tIns="0" rIns="0" bIns="0" rtlCol="0" anchor="t"/>
          <a:lstStyle/>
          <a:p>
            <a:pPr algn="l" indent="0" marL="0">
              <a:lnSpc>
                <a:spcPct val="145000"/>
              </a:lnSpc>
              <a:buNone/>
            </a:pPr>
            <a:r>
              <a:rPr lang="en-US" sz="1300" spc="182" kern="0" dirty="0">
                <a:solidFill>
                  <a:srgbClr val="A87A2E"/>
                </a:solidFill>
                <a:latin typeface="IBM Plex Mono" pitchFamily="34" charset="0"/>
                <a:ea typeface="IBM Plex Mono" pitchFamily="34" charset="-122"/>
                <a:cs typeface="IBM Plex Mono" pitchFamily="34" charset="-120"/>
              </a:rPr>
              <a:t>AI FOR SOFTWARE DEVELOPMENT · 3RD YEAR EE</a:t>
            </a:r>
            <a:endParaRPr lang="en-US" sz="1300" dirty="0"/>
          </a:p>
        </p:txBody>
      </p:sp>
      <p:sp>
        <p:nvSpPr>
          <p:cNvPr id="3" name="Text 1"/>
          <p:cNvSpPr/>
          <p:nvPr/>
        </p:nvSpPr>
        <p:spPr>
          <a:xfrm>
            <a:off x="558800" y="2984500"/>
            <a:ext cx="8890000" cy="1397000"/>
          </a:xfrm>
          <a:prstGeom prst="rect">
            <a:avLst/>
          </a:prstGeom>
          <a:noFill/>
          <a:ln/>
        </p:spPr>
        <p:txBody>
          <a:bodyPr wrap="square" lIns="0" tIns="0" rIns="0" bIns="0" rtlCol="0" anchor="t"/>
          <a:lstStyle/>
          <a:p>
            <a:pPr algn="l" indent="0" marL="0">
              <a:lnSpc>
                <a:spcPct val="105000"/>
              </a:lnSpc>
              <a:buNone/>
            </a:pPr>
            <a:r>
              <a:rPr lang="en-US" sz="4800" b="1" dirty="0">
                <a:solidFill>
                  <a:srgbClr val="332F2A"/>
                </a:solidFill>
                <a:latin typeface="Libre Franklin" pitchFamily="34" charset="0"/>
                <a:ea typeface="Libre Franklin" pitchFamily="34" charset="-122"/>
                <a:cs typeface="Libre Franklin" pitchFamily="34" charset="-120"/>
              </a:rPr>
              <a:t>Meet your agent</a:t>
            </a:r>
            <a:endParaRPr lang="en-US" sz="4800" dirty="0"/>
          </a:p>
        </p:txBody>
      </p:sp>
      <p:sp>
        <p:nvSpPr>
          <p:cNvPr id="4" name="Text 2"/>
          <p:cNvSpPr/>
          <p:nvPr/>
        </p:nvSpPr>
        <p:spPr>
          <a:xfrm>
            <a:off x="558800" y="4445000"/>
            <a:ext cx="8890000" cy="762000"/>
          </a:xfrm>
          <a:prstGeom prst="rect">
            <a:avLst/>
          </a:prstGeom>
          <a:noFill/>
          <a:ln/>
        </p:spPr>
        <p:txBody>
          <a:bodyPr wrap="square" lIns="0" tIns="0" rIns="0" bIns="0" rtlCol="0" anchor="t"/>
          <a:lstStyle/>
          <a:p>
            <a:pPr algn="l" indent="0" marL="0">
              <a:lnSpc>
                <a:spcPct val="130000"/>
              </a:lnSpc>
              <a:buNone/>
            </a:pPr>
            <a:r>
              <a:rPr lang="en-US" sz="2000" dirty="0">
                <a:solidFill>
                  <a:srgbClr val="77726A"/>
                </a:solidFill>
                <a:latin typeface="Libre Franklin" pitchFamily="34" charset="0"/>
                <a:ea typeface="Libre Franklin" pitchFamily="34" charset="-122"/>
                <a:cs typeface="Libre Franklin" pitchFamily="34" charset="-120"/>
              </a:rPr>
              <a:t>Session 1 — how an AI coding agent works, and how to make it build what you meant</a:t>
            </a:r>
            <a:endParaRPr lang="en-US" sz="2000" dirty="0"/>
          </a:p>
        </p:txBody>
      </p:sp>
      <p:sp>
        <p:nvSpPr>
          <p:cNvPr id="5" name="Shape 3"/>
          <p:cNvSpPr/>
          <p:nvPr/>
        </p:nvSpPr>
        <p:spPr>
          <a:xfrm>
            <a:off x="558800" y="6172200"/>
            <a:ext cx="11074400" cy="6350"/>
          </a:xfrm>
          <a:prstGeom prst="rect">
            <a:avLst/>
          </a:prstGeom>
          <a:solidFill>
            <a:srgbClr val="E1DED7"/>
          </a:solidFill>
          <a:ln/>
        </p:spPr>
      </p:sp>
      <p:sp>
        <p:nvSpPr>
          <p:cNvPr id="6" name="Text 4"/>
          <p:cNvSpPr/>
          <p:nvPr/>
        </p:nvSpPr>
        <p:spPr>
          <a:xfrm>
            <a:off x="558800" y="6337300"/>
            <a:ext cx="7620000" cy="215900"/>
          </a:xfrm>
          <a:prstGeom prst="rect">
            <a:avLst/>
          </a:prstGeom>
          <a:noFill/>
          <a:ln/>
        </p:spPr>
        <p:txBody>
          <a:bodyPr wrap="square" lIns="0" tIns="0" rIns="0" bIns="0" rtlCol="0" anchor="t"/>
          <a:lstStyle/>
          <a:p>
            <a:pPr algn="l" indent="0" marL="0">
              <a:lnSpc>
                <a:spcPct val="145000"/>
              </a:lnSpc>
              <a:buNone/>
            </a:pPr>
            <a:r>
              <a:rPr lang="en-US" sz="1300" dirty="0">
                <a:solidFill>
                  <a:srgbClr val="77726A"/>
                </a:solidFill>
                <a:latin typeface="IBM Plex Mono" pitchFamily="34" charset="0"/>
                <a:ea typeface="IBM Plex Mono" pitchFamily="34" charset="-122"/>
                <a:cs typeface="IBM Plex Mono" pitchFamily="34" charset="-120"/>
              </a:rPr>
              <a:t>Your Name · Department of Electrical Engineering</a:t>
            </a:r>
            <a:endParaRPr lang="en-US" sz="1300" dirty="0"/>
          </a:p>
        </p:txBody>
      </p:sp>
      <p:sp>
        <p:nvSpPr>
          <p:cNvPr id="7" name="Text 5"/>
          <p:cNvSpPr/>
          <p:nvPr/>
        </p:nvSpPr>
        <p:spPr>
          <a:xfrm>
            <a:off x="9093200" y="6337300"/>
            <a:ext cx="2540000" cy="215900"/>
          </a:xfrm>
          <a:prstGeom prst="rect">
            <a:avLst/>
          </a:prstGeom>
          <a:noFill/>
          <a:ln/>
        </p:spPr>
        <p:txBody>
          <a:bodyPr wrap="square" lIns="0" tIns="0" rIns="0" bIns="0" rtlCol="0" anchor="t"/>
          <a:lstStyle/>
          <a:p>
            <a:pPr algn="r" indent="0" marL="0">
              <a:lnSpc>
                <a:spcPct val="145000"/>
              </a:lnSpc>
              <a:buNone/>
            </a:pPr>
            <a:r>
              <a:rPr lang="en-US" sz="1300" dirty="0">
                <a:solidFill>
                  <a:srgbClr val="77726A"/>
                </a:solidFill>
                <a:latin typeface="IBM Plex Mono" pitchFamily="34" charset="0"/>
                <a:ea typeface="IBM Plex Mono" pitchFamily="34" charset="-122"/>
                <a:cs typeface="IBM Plex Mono" pitchFamily="34" charset="-120"/>
              </a:rPr>
              <a:t>Session 1 of 3</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SETUP</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Before we start</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02</a:t>
            </a:r>
            <a:endParaRPr lang="en-US" sz="1200" dirty="0"/>
          </a:p>
        </p:txBody>
      </p:sp>
      <p:sp>
        <p:nvSpPr>
          <p:cNvPr id="7" name="Text 5"/>
          <p:cNvSpPr/>
          <p:nvPr/>
        </p:nvSpPr>
        <p:spPr>
          <a:xfrm>
            <a:off x="558800" y="151130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8" name="Text 6"/>
          <p:cNvSpPr/>
          <p:nvPr/>
        </p:nvSpPr>
        <p:spPr>
          <a:xfrm>
            <a:off x="927100" y="151130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A GitHub account, then a Codespace.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Free at github.com. One click from the template page builds a Linux machine in your browser; nothing installs here.</a:t>
            </a:r>
            <a:endParaRPr lang="en-US" sz="1700" dirty="0"/>
          </a:p>
        </p:txBody>
      </p:sp>
      <p:sp>
        <p:nvSpPr>
          <p:cNvPr id="9" name="Text 7"/>
          <p:cNvSpPr/>
          <p:nvPr/>
        </p:nvSpPr>
        <p:spPr>
          <a:xfrm>
            <a:off x="558800" y="239141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0" name="Text 8"/>
          <p:cNvSpPr/>
          <p:nvPr/>
        </p:nvSpPr>
        <p:spPr>
          <a:xfrm>
            <a:off x="927100" y="239141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TWO API keys, not one.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Gemini at aistudio.google.com/apikey, Mistral at console.mistral.ai. Free tiers refuse service without warning.</a:t>
            </a:r>
            <a:endParaRPr lang="en-US" sz="1700" dirty="0"/>
          </a:p>
        </p:txBody>
      </p:sp>
      <p:sp>
        <p:nvSpPr>
          <p:cNvPr id="11" name="Text 9"/>
          <p:cNvSpPr/>
          <p:nvPr/>
        </p:nvSpPr>
        <p:spPr>
          <a:xfrm>
            <a:off x="558800" y="327152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2" name="Text 10"/>
          <p:cNvSpPr/>
          <p:nvPr/>
        </p:nvSpPr>
        <p:spPr>
          <a:xfrm>
            <a:off x="927100" y="327152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Paste both into .env, save, close the tab.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A key is a password, and you will be sharing this screen before the day is out.</a:t>
            </a:r>
            <a:endParaRPr lang="en-US" sz="1700" dirty="0"/>
          </a:p>
        </p:txBody>
      </p:sp>
      <p:sp>
        <p:nvSpPr>
          <p:cNvPr id="13" name="Text 11"/>
          <p:cNvSpPr/>
          <p:nvPr/>
        </p:nvSpPr>
        <p:spPr>
          <a:xfrm>
            <a:off x="558800" y="415163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4" name="Text 12"/>
          <p:cNvSpPr/>
          <p:nvPr/>
        </p:nvSpPr>
        <p:spPr>
          <a:xfrm>
            <a:off x="927100" y="415163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Then run check_setup.py.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Five checks. It names whichever one is not right yet. Do not move on until they are all green.</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SETUP</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The five checks</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03</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python check_setup.py</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[PASS] Python version: 3.11</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[PASS] Packages: all 6 installed</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[PASS] API key present</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[PASS] API key works: Gemini</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replied</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[PASS] Backup provider: both</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providers configured</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ALL CHECKS PASSED</a:t>
            </a:r>
            <a:endParaRPr lang="en-US" sz="1400" dirty="0"/>
          </a:p>
        </p:txBody>
      </p:sp>
      <p:sp>
        <p:nvSpPr>
          <p:cNvPr id="9" name="Text 7"/>
          <p:cNvSpPr/>
          <p:nvPr/>
        </p:nvSpPr>
        <p:spPr>
          <a:xfrm>
            <a:off x="7431430" y="151130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Five checks, in the order they can fail. A failing line names the fix; it never just tells you something is wrong.</a:t>
            </a:r>
            <a:endParaRPr lang="en-US" sz="1600" dirty="0"/>
          </a:p>
        </p:txBody>
      </p:sp>
      <p:sp>
        <p:nvSpPr>
          <p:cNvPr id="10" name="Text 8"/>
          <p:cNvSpPr/>
          <p:nvPr/>
        </p:nvSpPr>
        <p:spPr>
          <a:xfrm>
            <a:off x="7431430" y="294386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Still stuck after ten minutes? Ask a neighbour before you ask me. TROUBLESHOOTING.md carries the same list with fixes.</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Nothing installs on the lab PC. The machine you are working on is in the browser.</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SETUP</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Cline needs its own key</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04</a:t>
            </a:r>
            <a:endParaRPr lang="en-US" sz="1200" dirty="0"/>
          </a:p>
        </p:txBody>
      </p:sp>
      <p:sp>
        <p:nvSpPr>
          <p:cNvPr id="7" name="Text 5"/>
          <p:cNvSpPr/>
          <p:nvPr/>
        </p:nvSpPr>
        <p:spPr>
          <a:xfrm>
            <a:off x="558800" y="151130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8" name="Text 6"/>
          <p:cNvSpPr/>
          <p:nvPr/>
        </p:nvSpPr>
        <p:spPr>
          <a:xfrm>
            <a:off x="927100" y="1511300"/>
            <a:ext cx="9156700" cy="1066165"/>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.env is for your app.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check_setup.py and core/llm.py read it. Cline never does — it is a separate extension, with its own settings and its own copy of the key.</a:t>
            </a:r>
            <a:endParaRPr lang="en-US" sz="1700" dirty="0"/>
          </a:p>
        </p:txBody>
      </p:sp>
      <p:sp>
        <p:nvSpPr>
          <p:cNvPr id="9" name="Text 7"/>
          <p:cNvSpPr/>
          <p:nvPr/>
        </p:nvSpPr>
        <p:spPr>
          <a:xfrm>
            <a:off x="558800" y="2704465"/>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0" name="Text 8"/>
          <p:cNvSpPr/>
          <p:nvPr/>
        </p:nvSpPr>
        <p:spPr>
          <a:xfrm>
            <a:off x="927100" y="2704465"/>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Point it at a provider yourself.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Cline icon in the sidebar, choose Google Gemini, paste the key, pick any current Flash model.</a:t>
            </a:r>
            <a:endParaRPr lang="en-US" sz="1700" dirty="0"/>
          </a:p>
        </p:txBody>
      </p:sp>
      <p:sp>
        <p:nvSpPr>
          <p:cNvPr id="11" name="Text 9"/>
          <p:cNvSpPr/>
          <p:nvPr/>
        </p:nvSpPr>
        <p:spPr>
          <a:xfrm>
            <a:off x="558800" y="3584575"/>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2" name="Text 10"/>
          <p:cNvSpPr/>
          <p:nvPr/>
        </p:nvSpPr>
        <p:spPr>
          <a:xfrm>
            <a:off x="927100" y="3584575"/>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Add Mistral as a second provider.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Model devstral-medium-latest. Two providers is a dropdown change instead of a dead stop.</a:t>
            </a:r>
            <a:endParaRPr lang="en-US" sz="1700" dirty="0"/>
          </a:p>
        </p:txBody>
      </p:sp>
      <p:sp>
        <p:nvSpPr>
          <p:cNvPr id="13" name="Text 11"/>
          <p:cNvSpPr/>
          <p:nvPr/>
        </p:nvSpPr>
        <p:spPr>
          <a:xfrm>
            <a:off x="558800" y="4464685"/>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4" name="Text 12"/>
          <p:cNvSpPr/>
          <p:nvPr/>
        </p:nvSpPr>
        <p:spPr>
          <a:xfrm>
            <a:off x="927100" y="4464685"/>
            <a:ext cx="9156700" cy="753110"/>
          </a:xfrm>
          <a:prstGeom prst="rect">
            <a:avLst/>
          </a:prstGeom>
          <a:noFill/>
          <a:ln/>
        </p:spPr>
        <p:txBody>
          <a:bodyPr wrap="square" lIns="0" tIns="0" rIns="0" bIns="0" rtlCol="0" anchor="t"/>
          <a:lstStyle/>
          <a:p>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Type “hello” into Cline before we begin. Passing setup tells you nothing about whether your agent can talk to anything.</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SESSION 01</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Agenda</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05</a:t>
            </a:r>
            <a:endParaRPr lang="en-US" sz="1200" dirty="0"/>
          </a:p>
        </p:txBody>
      </p:sp>
      <p:sp>
        <p:nvSpPr>
          <p:cNvPr id="7" name="Text 5"/>
          <p:cNvSpPr/>
          <p:nvPr/>
        </p:nvSpPr>
        <p:spPr>
          <a:xfrm>
            <a:off x="558800" y="1511300"/>
            <a:ext cx="381000" cy="254000"/>
          </a:xfrm>
          <a:prstGeom prst="rect">
            <a:avLst/>
          </a:prstGeom>
          <a:noFill/>
          <a:ln/>
        </p:spPr>
        <p:txBody>
          <a:bodyPr wrap="square" lIns="0" tIns="0" rIns="0" bIns="0" rtlCol="0" anchor="t"/>
          <a:lstStyle/>
          <a:p>
            <a:pPr algn="l" indent="0" marL="0">
              <a:lnSpc>
                <a:spcPct val="145000"/>
              </a:lnSpc>
              <a:buNone/>
            </a:pPr>
            <a:r>
              <a:rPr lang="en-US" sz="1300" dirty="0">
                <a:solidFill>
                  <a:srgbClr val="A87A2E"/>
                </a:solidFill>
                <a:latin typeface="IBM Plex Mono" pitchFamily="34" charset="0"/>
                <a:ea typeface="IBM Plex Mono" pitchFamily="34" charset="-122"/>
                <a:cs typeface="IBM Plex Mono" pitchFamily="34" charset="-120"/>
              </a:rPr>
              <a:t>01</a:t>
            </a:r>
            <a:endParaRPr lang="en-US" sz="1300" dirty="0"/>
          </a:p>
        </p:txBody>
      </p:sp>
      <p:sp>
        <p:nvSpPr>
          <p:cNvPr id="8" name="Text 6"/>
          <p:cNvSpPr/>
          <p:nvPr/>
        </p:nvSpPr>
        <p:spPr>
          <a:xfrm>
            <a:off x="939800" y="1485900"/>
            <a:ext cx="4902200" cy="571500"/>
          </a:xfrm>
          <a:prstGeom prst="rect">
            <a:avLst/>
          </a:prstGeom>
          <a:noFill/>
          <a:ln/>
        </p:spPr>
        <p:txBody>
          <a:bodyPr wrap="square" lIns="0" tIns="0" rIns="0" bIns="0" rtlCol="0" anchor="t"/>
          <a:lstStyle/>
          <a:p>
            <a:pPr algn="l" indent="0" marL="0">
              <a:lnSpc>
                <a:spcPct val="135000"/>
              </a:lnSpc>
              <a:buNone/>
            </a:pPr>
            <a:r>
              <a:rPr lang="en-US" sz="1700" dirty="0">
                <a:solidFill>
                  <a:srgbClr val="332F2A"/>
                </a:solidFill>
                <a:latin typeface="Libre Franklin" pitchFamily="34" charset="0"/>
                <a:ea typeface="Libre Franklin" pitchFamily="34" charset="-122"/>
                <a:cs typeface="Libre Franklin" pitchFamily="34" charset="-120"/>
              </a:rPr>
              <a:t>How an agent works</a:t>
            </a:r>
            <a:endParaRPr lang="en-US" sz="1700" dirty="0"/>
          </a:p>
        </p:txBody>
      </p:sp>
      <p:sp>
        <p:nvSpPr>
          <p:cNvPr id="9" name="Text 7"/>
          <p:cNvSpPr/>
          <p:nvPr/>
        </p:nvSpPr>
        <p:spPr>
          <a:xfrm>
            <a:off x="6350000" y="1511300"/>
            <a:ext cx="381000" cy="254000"/>
          </a:xfrm>
          <a:prstGeom prst="rect">
            <a:avLst/>
          </a:prstGeom>
          <a:noFill/>
          <a:ln/>
        </p:spPr>
        <p:txBody>
          <a:bodyPr wrap="square" lIns="0" tIns="0" rIns="0" bIns="0" rtlCol="0" anchor="t"/>
          <a:lstStyle/>
          <a:p>
            <a:pPr algn="l" indent="0" marL="0">
              <a:lnSpc>
                <a:spcPct val="145000"/>
              </a:lnSpc>
              <a:buNone/>
            </a:pPr>
            <a:r>
              <a:rPr lang="en-US" sz="1300" dirty="0">
                <a:solidFill>
                  <a:srgbClr val="A87A2E"/>
                </a:solidFill>
                <a:latin typeface="IBM Plex Mono" pitchFamily="34" charset="0"/>
                <a:ea typeface="IBM Plex Mono" pitchFamily="34" charset="-122"/>
                <a:cs typeface="IBM Plex Mono" pitchFamily="34" charset="-120"/>
              </a:rPr>
              <a:t>02</a:t>
            </a:r>
            <a:endParaRPr lang="en-US" sz="1300" dirty="0"/>
          </a:p>
        </p:txBody>
      </p:sp>
      <p:sp>
        <p:nvSpPr>
          <p:cNvPr id="10" name="Text 8"/>
          <p:cNvSpPr/>
          <p:nvPr/>
        </p:nvSpPr>
        <p:spPr>
          <a:xfrm>
            <a:off x="6731000" y="1485900"/>
            <a:ext cx="4902200" cy="571500"/>
          </a:xfrm>
          <a:prstGeom prst="rect">
            <a:avLst/>
          </a:prstGeom>
          <a:noFill/>
          <a:ln/>
        </p:spPr>
        <p:txBody>
          <a:bodyPr wrap="square" lIns="0" tIns="0" rIns="0" bIns="0" rtlCol="0" anchor="t"/>
          <a:lstStyle/>
          <a:p>
            <a:pPr algn="l" indent="0" marL="0">
              <a:lnSpc>
                <a:spcPct val="135000"/>
              </a:lnSpc>
              <a:buNone/>
            </a:pPr>
            <a:r>
              <a:rPr lang="en-US" sz="1700" dirty="0">
                <a:solidFill>
                  <a:srgbClr val="332F2A"/>
                </a:solidFill>
                <a:latin typeface="Libre Franklin" pitchFamily="34" charset="0"/>
                <a:ea typeface="Libre Franklin" pitchFamily="34" charset="-122"/>
                <a:cs typeface="Libre Franklin" pitchFamily="34" charset="-120"/>
              </a:rPr>
              <a:t>What it costs, and why it fails</a:t>
            </a:r>
            <a:endParaRPr lang="en-US" sz="1700" dirty="0"/>
          </a:p>
        </p:txBody>
      </p:sp>
      <p:sp>
        <p:nvSpPr>
          <p:cNvPr id="11" name="Text 9"/>
          <p:cNvSpPr/>
          <p:nvPr/>
        </p:nvSpPr>
        <p:spPr>
          <a:xfrm>
            <a:off x="558800" y="2197100"/>
            <a:ext cx="381000" cy="254000"/>
          </a:xfrm>
          <a:prstGeom prst="rect">
            <a:avLst/>
          </a:prstGeom>
          <a:noFill/>
          <a:ln/>
        </p:spPr>
        <p:txBody>
          <a:bodyPr wrap="square" lIns="0" tIns="0" rIns="0" bIns="0" rtlCol="0" anchor="t"/>
          <a:lstStyle/>
          <a:p>
            <a:pPr algn="l" indent="0" marL="0">
              <a:lnSpc>
                <a:spcPct val="145000"/>
              </a:lnSpc>
              <a:buNone/>
            </a:pPr>
            <a:r>
              <a:rPr lang="en-US" sz="1300" dirty="0">
                <a:solidFill>
                  <a:srgbClr val="A87A2E"/>
                </a:solidFill>
                <a:latin typeface="IBM Plex Mono" pitchFamily="34" charset="0"/>
                <a:ea typeface="IBM Plex Mono" pitchFamily="34" charset="-122"/>
                <a:cs typeface="IBM Plex Mono" pitchFamily="34" charset="-120"/>
              </a:rPr>
              <a:t>03</a:t>
            </a:r>
            <a:endParaRPr lang="en-US" sz="1300" dirty="0"/>
          </a:p>
        </p:txBody>
      </p:sp>
      <p:sp>
        <p:nvSpPr>
          <p:cNvPr id="12" name="Text 10"/>
          <p:cNvSpPr/>
          <p:nvPr/>
        </p:nvSpPr>
        <p:spPr>
          <a:xfrm>
            <a:off x="939800" y="2171700"/>
            <a:ext cx="4902200" cy="571500"/>
          </a:xfrm>
          <a:prstGeom prst="rect">
            <a:avLst/>
          </a:prstGeom>
          <a:noFill/>
          <a:ln/>
        </p:spPr>
        <p:txBody>
          <a:bodyPr wrap="square" lIns="0" tIns="0" rIns="0" bIns="0" rtlCol="0" anchor="t"/>
          <a:lstStyle/>
          <a:p>
            <a:pPr algn="l" indent="0" marL="0">
              <a:lnSpc>
                <a:spcPct val="135000"/>
              </a:lnSpc>
              <a:buNone/>
            </a:pPr>
            <a:r>
              <a:rPr lang="en-US" sz="1700" dirty="0">
                <a:solidFill>
                  <a:srgbClr val="332F2A"/>
                </a:solidFill>
                <a:latin typeface="Libre Franklin" pitchFamily="34" charset="0"/>
                <a:ea typeface="Libre Franklin" pitchFamily="34" charset="-122"/>
                <a:cs typeface="Libre Franklin" pitchFamily="34" charset="-120"/>
              </a:rPr>
              <a:t>Warm-up — build it by asking</a:t>
            </a:r>
            <a:endParaRPr lang="en-US" sz="1700" dirty="0"/>
          </a:p>
        </p:txBody>
      </p:sp>
      <p:sp>
        <p:nvSpPr>
          <p:cNvPr id="13" name="Text 11"/>
          <p:cNvSpPr/>
          <p:nvPr/>
        </p:nvSpPr>
        <p:spPr>
          <a:xfrm>
            <a:off x="6350000" y="2197100"/>
            <a:ext cx="381000" cy="254000"/>
          </a:xfrm>
          <a:prstGeom prst="rect">
            <a:avLst/>
          </a:prstGeom>
          <a:noFill/>
          <a:ln/>
        </p:spPr>
        <p:txBody>
          <a:bodyPr wrap="square" lIns="0" tIns="0" rIns="0" bIns="0" rtlCol="0" anchor="t"/>
          <a:lstStyle/>
          <a:p>
            <a:pPr algn="l" indent="0" marL="0">
              <a:lnSpc>
                <a:spcPct val="145000"/>
              </a:lnSpc>
              <a:buNone/>
            </a:pPr>
            <a:r>
              <a:rPr lang="en-US" sz="1300" dirty="0">
                <a:solidFill>
                  <a:srgbClr val="A87A2E"/>
                </a:solidFill>
                <a:latin typeface="IBM Plex Mono" pitchFamily="34" charset="0"/>
                <a:ea typeface="IBM Plex Mono" pitchFamily="34" charset="-122"/>
                <a:cs typeface="IBM Plex Mono" pitchFamily="34" charset="-120"/>
              </a:rPr>
              <a:t>04</a:t>
            </a:r>
            <a:endParaRPr lang="en-US" sz="1300" dirty="0"/>
          </a:p>
        </p:txBody>
      </p:sp>
      <p:sp>
        <p:nvSpPr>
          <p:cNvPr id="14" name="Text 12"/>
          <p:cNvSpPr/>
          <p:nvPr/>
        </p:nvSpPr>
        <p:spPr>
          <a:xfrm>
            <a:off x="6731000" y="2171700"/>
            <a:ext cx="4902200" cy="571500"/>
          </a:xfrm>
          <a:prstGeom prst="rect">
            <a:avLst/>
          </a:prstGeom>
          <a:noFill/>
          <a:ln/>
        </p:spPr>
        <p:txBody>
          <a:bodyPr wrap="square" lIns="0" tIns="0" rIns="0" bIns="0" rtlCol="0" anchor="t"/>
          <a:lstStyle/>
          <a:p>
            <a:pPr algn="l" indent="0" marL="0">
              <a:lnSpc>
                <a:spcPct val="135000"/>
              </a:lnSpc>
              <a:buNone/>
            </a:pPr>
            <a:r>
              <a:rPr lang="en-US" sz="1700" dirty="0">
                <a:solidFill>
                  <a:srgbClr val="332F2A"/>
                </a:solidFill>
                <a:latin typeface="Libre Franklin" pitchFamily="34" charset="0"/>
                <a:ea typeface="Libre Franklin" pitchFamily="34" charset="-122"/>
                <a:cs typeface="Libre Franklin" pitchFamily="34" charset="-120"/>
              </a:rPr>
              <a:t>The Four Gates</a:t>
            </a:r>
            <a:endParaRPr lang="en-US" sz="1700" dirty="0"/>
          </a:p>
        </p:txBody>
      </p:sp>
      <p:sp>
        <p:nvSpPr>
          <p:cNvPr id="15" name="Text 13"/>
          <p:cNvSpPr/>
          <p:nvPr/>
        </p:nvSpPr>
        <p:spPr>
          <a:xfrm>
            <a:off x="558800" y="2882900"/>
            <a:ext cx="381000" cy="254000"/>
          </a:xfrm>
          <a:prstGeom prst="rect">
            <a:avLst/>
          </a:prstGeom>
          <a:noFill/>
          <a:ln/>
        </p:spPr>
        <p:txBody>
          <a:bodyPr wrap="square" lIns="0" tIns="0" rIns="0" bIns="0" rtlCol="0" anchor="t"/>
          <a:lstStyle/>
          <a:p>
            <a:pPr algn="l" indent="0" marL="0">
              <a:lnSpc>
                <a:spcPct val="145000"/>
              </a:lnSpc>
              <a:buNone/>
            </a:pPr>
            <a:r>
              <a:rPr lang="en-US" sz="1300" dirty="0">
                <a:solidFill>
                  <a:srgbClr val="A87A2E"/>
                </a:solidFill>
                <a:latin typeface="IBM Plex Mono" pitchFamily="34" charset="0"/>
                <a:ea typeface="IBM Plex Mono" pitchFamily="34" charset="-122"/>
                <a:cs typeface="IBM Plex Mono" pitchFamily="34" charset="-120"/>
              </a:rPr>
              <a:t>05</a:t>
            </a:r>
            <a:endParaRPr lang="en-US" sz="1300" dirty="0"/>
          </a:p>
        </p:txBody>
      </p:sp>
      <p:sp>
        <p:nvSpPr>
          <p:cNvPr id="16" name="Text 14"/>
          <p:cNvSpPr/>
          <p:nvPr/>
        </p:nvSpPr>
        <p:spPr>
          <a:xfrm>
            <a:off x="939800" y="2857500"/>
            <a:ext cx="4902200" cy="571500"/>
          </a:xfrm>
          <a:prstGeom prst="rect">
            <a:avLst/>
          </a:prstGeom>
          <a:noFill/>
          <a:ln/>
        </p:spPr>
        <p:txBody>
          <a:bodyPr wrap="square" lIns="0" tIns="0" rIns="0" bIns="0" rtlCol="0" anchor="t"/>
          <a:lstStyle/>
          <a:p>
            <a:pPr algn="l" indent="0" marL="0">
              <a:lnSpc>
                <a:spcPct val="135000"/>
              </a:lnSpc>
              <a:buNone/>
            </a:pPr>
            <a:r>
              <a:rPr lang="en-US" sz="1700" dirty="0">
                <a:solidFill>
                  <a:srgbClr val="332F2A"/>
                </a:solidFill>
                <a:latin typeface="Libre Franklin" pitchFamily="34" charset="0"/>
                <a:ea typeface="Libre Franklin" pitchFamily="34" charset="-122"/>
                <a:cs typeface="Libre Franklin" pitchFamily="34" charset="-120"/>
              </a:rPr>
              <a:t>Lab 1 — the same app, done properly</a:t>
            </a:r>
            <a:endParaRPr lang="en-US" sz="1700" dirty="0"/>
          </a:p>
        </p:txBody>
      </p:sp>
      <p:sp>
        <p:nvSpPr>
          <p:cNvPr id="17" name="Text 15"/>
          <p:cNvSpPr/>
          <p:nvPr/>
        </p:nvSpPr>
        <p:spPr>
          <a:xfrm>
            <a:off x="6350000" y="2882900"/>
            <a:ext cx="381000" cy="254000"/>
          </a:xfrm>
          <a:prstGeom prst="rect">
            <a:avLst/>
          </a:prstGeom>
          <a:noFill/>
          <a:ln/>
        </p:spPr>
        <p:txBody>
          <a:bodyPr wrap="square" lIns="0" tIns="0" rIns="0" bIns="0" rtlCol="0" anchor="t"/>
          <a:lstStyle/>
          <a:p>
            <a:pPr algn="l" indent="0" marL="0">
              <a:lnSpc>
                <a:spcPct val="145000"/>
              </a:lnSpc>
              <a:buNone/>
            </a:pPr>
            <a:r>
              <a:rPr lang="en-US" sz="1300" dirty="0">
                <a:solidFill>
                  <a:srgbClr val="A87A2E"/>
                </a:solidFill>
                <a:latin typeface="IBM Plex Mono" pitchFamily="34" charset="0"/>
                <a:ea typeface="IBM Plex Mono" pitchFamily="34" charset="-122"/>
                <a:cs typeface="IBM Plex Mono" pitchFamily="34" charset="-120"/>
              </a:rPr>
              <a:t>06</a:t>
            </a:r>
            <a:endParaRPr lang="en-US" sz="1300" dirty="0"/>
          </a:p>
        </p:txBody>
      </p:sp>
      <p:sp>
        <p:nvSpPr>
          <p:cNvPr id="18" name="Text 16"/>
          <p:cNvSpPr/>
          <p:nvPr/>
        </p:nvSpPr>
        <p:spPr>
          <a:xfrm>
            <a:off x="6731000" y="2857500"/>
            <a:ext cx="4902200" cy="571500"/>
          </a:xfrm>
          <a:prstGeom prst="rect">
            <a:avLst/>
          </a:prstGeom>
          <a:noFill/>
          <a:ln/>
        </p:spPr>
        <p:txBody>
          <a:bodyPr wrap="square" lIns="0" tIns="0" rIns="0" bIns="0" rtlCol="0" anchor="t"/>
          <a:lstStyle/>
          <a:p>
            <a:pPr algn="l" indent="0" marL="0">
              <a:lnSpc>
                <a:spcPct val="135000"/>
              </a:lnSpc>
              <a:buNone/>
            </a:pPr>
            <a:r>
              <a:rPr lang="en-US" sz="1700" dirty="0">
                <a:solidFill>
                  <a:srgbClr val="332F2A"/>
                </a:solidFill>
                <a:latin typeface="Libre Franklin" pitchFamily="34" charset="0"/>
                <a:ea typeface="Libre Franklin" pitchFamily="34" charset="-122"/>
                <a:cs typeface="Libre Franklin" pitchFamily="34" charset="-120"/>
              </a:rPr>
              <a:t>Read the reference, then ship</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2EC"/>
        </a:solidFill>
      </p:bgPr>
    </p:bg>
    <p:spTree>
      <p:nvGrpSpPr>
        <p:cNvPr id="1" name=""/>
        <p:cNvGrpSpPr/>
        <p:nvPr/>
      </p:nvGrpSpPr>
      <p:grpSpPr>
        <a:xfrm>
          <a:off x="0" y="0"/>
          <a:ext cx="0" cy="0"/>
          <a:chOff x="0" y="0"/>
          <a:chExt cx="0" cy="0"/>
        </a:xfrm>
      </p:grpSpPr>
      <p:sp>
        <p:nvSpPr>
          <p:cNvPr id="2" name="Text 0"/>
          <p:cNvSpPr/>
          <p:nvPr/>
        </p:nvSpPr>
        <p:spPr>
          <a:xfrm>
            <a:off x="558800" y="2286000"/>
            <a:ext cx="11074400" cy="254000"/>
          </a:xfrm>
          <a:prstGeom prst="rect">
            <a:avLst/>
          </a:prstGeom>
          <a:noFill/>
          <a:ln/>
        </p:spPr>
        <p:txBody>
          <a:bodyPr wrap="square" lIns="0" tIns="0" rIns="0" bIns="0" rtlCol="0" anchor="t"/>
          <a:lstStyle/>
          <a:p>
            <a:pPr algn="l" indent="0" marL="0">
              <a:lnSpc>
                <a:spcPct val="145000"/>
              </a:lnSpc>
              <a:buNone/>
            </a:pPr>
            <a:r>
              <a:rPr lang="en-US" sz="1300" spc="182" kern="0" dirty="0">
                <a:solidFill>
                  <a:srgbClr val="A87A2E"/>
                </a:solidFill>
                <a:latin typeface="IBM Plex Mono" pitchFamily="34" charset="0"/>
                <a:ea typeface="IBM Plex Mono" pitchFamily="34" charset="-122"/>
                <a:cs typeface="IBM Plex Mono" pitchFamily="34" charset="-120"/>
              </a:rPr>
              <a:t>SECTION 01</a:t>
            </a:r>
            <a:endParaRPr lang="en-US" sz="1300" dirty="0"/>
          </a:p>
        </p:txBody>
      </p:sp>
      <p:sp>
        <p:nvSpPr>
          <p:cNvPr id="3" name="Text 1"/>
          <p:cNvSpPr/>
          <p:nvPr/>
        </p:nvSpPr>
        <p:spPr>
          <a:xfrm>
            <a:off x="558800" y="2667000"/>
            <a:ext cx="8255000" cy="1206500"/>
          </a:xfrm>
          <a:prstGeom prst="rect">
            <a:avLst/>
          </a:prstGeom>
          <a:noFill/>
          <a:ln/>
        </p:spPr>
        <p:txBody>
          <a:bodyPr wrap="square" lIns="0" tIns="0" rIns="0" bIns="0" rtlCol="0" anchor="t"/>
          <a:lstStyle/>
          <a:p>
            <a:pPr algn="l" indent="0" marL="0">
              <a:lnSpc>
                <a:spcPct val="108000"/>
              </a:lnSpc>
              <a:buNone/>
            </a:pPr>
            <a:r>
              <a:rPr lang="en-US" sz="4000" b="1" dirty="0">
                <a:solidFill>
                  <a:srgbClr val="332F2A"/>
                </a:solidFill>
                <a:latin typeface="Libre Franklin" pitchFamily="34" charset="0"/>
                <a:ea typeface="Libre Franklin" pitchFamily="34" charset="-122"/>
                <a:cs typeface="Libre Franklin" pitchFamily="34" charset="-120"/>
              </a:rPr>
              <a:t>How an agent works</a:t>
            </a:r>
            <a:endParaRPr lang="en-US" sz="4000" dirty="0"/>
          </a:p>
        </p:txBody>
      </p:sp>
      <p:sp>
        <p:nvSpPr>
          <p:cNvPr id="4" name="Text 2"/>
          <p:cNvSpPr/>
          <p:nvPr/>
        </p:nvSpPr>
        <p:spPr>
          <a:xfrm>
            <a:off x="558800" y="4064000"/>
            <a:ext cx="6985000" cy="635000"/>
          </a:xfrm>
          <a:prstGeom prst="rect">
            <a:avLst/>
          </a:prstGeom>
          <a:noFill/>
          <a:ln/>
        </p:spPr>
        <p:txBody>
          <a:bodyPr wrap="square" lIns="0" tIns="0" rIns="0" bIns="0" rtlCol="0" anchor="t"/>
          <a:lstStyle/>
          <a:p>
            <a:pPr algn="l" indent="0" marL="0">
              <a:lnSpc>
                <a:spcPct val="140000"/>
              </a:lnSpc>
              <a:buNone/>
            </a:pPr>
            <a:r>
              <a:rPr lang="en-US" sz="1700" dirty="0">
                <a:solidFill>
                  <a:srgbClr val="77726A"/>
                </a:solidFill>
                <a:latin typeface="Libre Franklin" pitchFamily="34" charset="0"/>
                <a:ea typeface="Libre Franklin" pitchFamily="34" charset="-122"/>
                <a:cs typeface="Libre Franklin" pitchFamily="34" charset="-120"/>
              </a:rPr>
              <a:t>What actually happens between typing a request and a file changing on disk.</a:t>
            </a:r>
            <a:endParaRPr lang="en-US" sz="1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01</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What a language model is</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07</a:t>
            </a:r>
            <a:endParaRPr lang="en-US" sz="1200" dirty="0"/>
          </a:p>
        </p:txBody>
      </p:sp>
      <p:pic>
        <p:nvPicPr>
          <p:cNvPr id="7" name="Image 0" descr="figures/fig-language-model.png">    </p:cNvPr>
          <p:cNvPicPr>
            <a:picLocks noChangeAspect="1"/>
          </p:cNvPicPr>
          <p:nvPr/>
        </p:nvPicPr>
        <p:blipFill>
          <a:blip r:embed="rId1"/>
          <a:srcRect l="0" r="0" t="0" b="0"/>
          <a:stretch/>
        </p:blipFill>
        <p:spPr>
          <a:xfrm>
            <a:off x="558800" y="1511300"/>
            <a:ext cx="6134100" cy="4572000"/>
          </a:xfrm>
          <a:prstGeom prst="rect">
            <a:avLst/>
          </a:prstGeom>
        </p:spPr>
      </p:pic>
      <p:sp>
        <p:nvSpPr>
          <p:cNvPr id="8" name="Text 5"/>
          <p:cNvSpPr/>
          <p:nvPr/>
        </p:nvSpPr>
        <p:spPr>
          <a:xfrm>
            <a:off x="7099300" y="1511300"/>
            <a:ext cx="4533900" cy="16002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Trained once, on a very large amount of writing, to do a single thing: given some text, guess what comes next. Everything it appears to do is built on top of that one trick.</a:t>
            </a:r>
            <a:endParaRPr lang="en-US" sz="1600" dirty="0"/>
          </a:p>
        </p:txBody>
      </p:sp>
      <p:sp>
        <p:nvSpPr>
          <p:cNvPr id="9" name="Text 6"/>
          <p:cNvSpPr/>
          <p:nvPr/>
        </p:nvSpPr>
        <p:spPr>
          <a:xfrm>
            <a:off x="7099300" y="3238500"/>
            <a:ext cx="453390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It consults no database. An answer is reconstructed from patterns, never retrieved — which is the mechanism behind everything on the next three slides.</a:t>
            </a:r>
            <a:endParaRPr lang="en-US" sz="1600" dirty="0"/>
          </a:p>
        </p:txBody>
      </p:sp>
      <p:sp>
        <p:nvSpPr>
          <p:cNvPr id="10" name="Text 7"/>
          <p:cNvSpPr/>
          <p:nvPr/>
        </p:nvSpPr>
        <p:spPr>
          <a:xfrm>
            <a:off x="7099300" y="5956300"/>
            <a:ext cx="45339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Fig. 1 — trained once, then rented by the word</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01</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Harness and model</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08</a:t>
            </a:r>
            <a:endParaRPr lang="en-US" sz="1200" dirty="0"/>
          </a:p>
        </p:txBody>
      </p:sp>
      <p:pic>
        <p:nvPicPr>
          <p:cNvPr id="7" name="Image 0" descr="figures/fig-harness-model.png">    </p:cNvPr>
          <p:cNvPicPr>
            <a:picLocks noChangeAspect="1"/>
          </p:cNvPicPr>
          <p:nvPr/>
        </p:nvPicPr>
        <p:blipFill>
          <a:blip r:embed="rId1"/>
          <a:srcRect l="0" r="0" t="0" b="0"/>
          <a:stretch/>
        </p:blipFill>
        <p:spPr>
          <a:xfrm>
            <a:off x="558800" y="1511300"/>
            <a:ext cx="6134100" cy="4572000"/>
          </a:xfrm>
          <a:prstGeom prst="rect">
            <a:avLst/>
          </a:prstGeom>
        </p:spPr>
      </p:pic>
      <p:sp>
        <p:nvSpPr>
          <p:cNvPr id="8" name="Text 5"/>
          <p:cNvSpPr/>
          <p:nvPr/>
        </p:nvSpPr>
        <p:spPr>
          <a:xfrm>
            <a:off x="7099300" y="1511300"/>
            <a:ext cx="4533900" cy="16002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A harness is the program that does things. Cline reads your files, writes the edits, runs the commands, and decides when to ask the model what to do next. It has no intelligence of its own.</a:t>
            </a:r>
            <a:endParaRPr lang="en-US" sz="1600" dirty="0"/>
          </a:p>
        </p:txBody>
      </p:sp>
      <p:sp>
        <p:nvSpPr>
          <p:cNvPr id="9" name="Text 6"/>
          <p:cNvSpPr/>
          <p:nvPr/>
        </p:nvSpPr>
        <p:spPr>
          <a:xfrm>
            <a:off x="7099300" y="3238500"/>
            <a:ext cx="453390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The model is the thing that decides what to say. It runs on someone else’s computer, never sees your disk, and can be swapped for another in three clicks.</a:t>
            </a:r>
            <a:endParaRPr lang="en-US" sz="1600" dirty="0"/>
          </a:p>
        </p:txBody>
      </p:sp>
      <p:sp>
        <p:nvSpPr>
          <p:cNvPr id="10" name="Text 7"/>
          <p:cNvSpPr/>
          <p:nvPr/>
        </p:nvSpPr>
        <p:spPr>
          <a:xfrm>
            <a:off x="7099300" y="5956300"/>
            <a:ext cx="45339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Fig. 2 — the two pieces you are driving</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01</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The tools people actually use</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09</a:t>
            </a:r>
            <a:endParaRPr lang="en-US" sz="1200" dirty="0"/>
          </a:p>
        </p:txBody>
      </p:sp>
      <p:sp>
        <p:nvSpPr>
          <p:cNvPr id="7" name="Text 5"/>
          <p:cNvSpPr/>
          <p:nvPr/>
        </p:nvSpPr>
        <p:spPr>
          <a:xfrm>
            <a:off x="558800" y="1511300"/>
            <a:ext cx="5283200" cy="254000"/>
          </a:xfrm>
          <a:prstGeom prst="rect">
            <a:avLst/>
          </a:prstGeom>
          <a:noFill/>
          <a:ln/>
        </p:spPr>
        <p:txBody>
          <a:bodyPr wrap="square" lIns="0" tIns="0" rIns="0" bIns="0" rtlCol="0" anchor="t"/>
          <a:lstStyle/>
          <a:p>
            <a:pPr algn="l" indent="0" marL="0">
              <a:lnSpc>
                <a:spcPct val="145000"/>
              </a:lnSpc>
              <a:buNone/>
            </a:pPr>
            <a:r>
              <a:rPr lang="en-US" sz="1300" spc="130" kern="0" dirty="0">
                <a:solidFill>
                  <a:srgbClr val="A87A2E"/>
                </a:solidFill>
                <a:latin typeface="IBM Plex Mono" pitchFamily="34" charset="0"/>
                <a:ea typeface="IBM Plex Mono" pitchFamily="34" charset="-122"/>
                <a:cs typeface="IBM Plex Mono" pitchFamily="34" charset="-120"/>
              </a:rPr>
              <a:t>HARNESSES</a:t>
            </a:r>
            <a:endParaRPr lang="en-US" sz="1300" dirty="0"/>
          </a:p>
        </p:txBody>
      </p:sp>
      <p:sp>
        <p:nvSpPr>
          <p:cNvPr id="8" name="Text 6"/>
          <p:cNvSpPr/>
          <p:nvPr/>
        </p:nvSpPr>
        <p:spPr>
          <a:xfrm>
            <a:off x="558800" y="19177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Cline and Roo Code, free inside VS Code. Cursor and Windsurf, whole editors. GitHub Copilot. Claude Code and Gemini CLI, in the terminal. Aider.</a:t>
            </a:r>
            <a:endParaRPr lang="en-US" sz="1600" dirty="0"/>
          </a:p>
        </p:txBody>
      </p:sp>
      <p:sp>
        <p:nvSpPr>
          <p:cNvPr id="9" name="Text 7"/>
          <p:cNvSpPr/>
          <p:nvPr/>
        </p:nvSpPr>
        <p:spPr>
          <a:xfrm>
            <a:off x="558800" y="31623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All do the same job: read your files, write the edits, run the commands. We use Cline because it is free and shows you every step it takes.</a:t>
            </a:r>
            <a:endParaRPr lang="en-US" sz="1600" dirty="0"/>
          </a:p>
        </p:txBody>
      </p:sp>
      <p:sp>
        <p:nvSpPr>
          <p:cNvPr id="10" name="Text 8"/>
          <p:cNvSpPr/>
          <p:nvPr/>
        </p:nvSpPr>
        <p:spPr>
          <a:xfrm>
            <a:off x="6350000" y="1511300"/>
            <a:ext cx="5283200" cy="254000"/>
          </a:xfrm>
          <a:prstGeom prst="rect">
            <a:avLst/>
          </a:prstGeom>
          <a:noFill/>
          <a:ln/>
        </p:spPr>
        <p:txBody>
          <a:bodyPr wrap="square" lIns="0" tIns="0" rIns="0" bIns="0" rtlCol="0" anchor="t"/>
          <a:lstStyle/>
          <a:p>
            <a:pPr algn="l" indent="0" marL="0">
              <a:lnSpc>
                <a:spcPct val="145000"/>
              </a:lnSpc>
              <a:buNone/>
            </a:pPr>
            <a:r>
              <a:rPr lang="en-US" sz="1300" spc="130" kern="0" dirty="0">
                <a:solidFill>
                  <a:srgbClr val="A87A2E"/>
                </a:solidFill>
                <a:latin typeface="IBM Plex Mono" pitchFamily="34" charset="0"/>
                <a:ea typeface="IBM Plex Mono" pitchFamily="34" charset="-122"/>
                <a:cs typeface="IBM Plex Mono" pitchFamily="34" charset="-120"/>
              </a:rPr>
              <a:t>MODELS</a:t>
            </a:r>
            <a:endParaRPr lang="en-US" sz="1300" dirty="0"/>
          </a:p>
        </p:txBody>
      </p:sp>
      <p:sp>
        <p:nvSpPr>
          <p:cNvPr id="11" name="Text 9"/>
          <p:cNvSpPr/>
          <p:nvPr/>
        </p:nvSpPr>
        <p:spPr>
          <a:xfrm>
            <a:off x="6350000" y="19177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Claude, GPT, Gemini, Mistral, Llama, Qwen, DeepSeek. Some you rent by the word; some you can download and run yourself.</a:t>
            </a:r>
            <a:endParaRPr lang="en-US" sz="1600" dirty="0"/>
          </a:p>
        </p:txBody>
      </p:sp>
      <p:sp>
        <p:nvSpPr>
          <p:cNvPr id="12" name="Text 10"/>
          <p:cNvSpPr/>
          <p:nvPr/>
        </p:nvSpPr>
        <p:spPr>
          <a:xfrm>
            <a:off x="6350000" y="31623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Nearly every harness lets you point at any of them. Swapping is a settings change, not a new tool — which is exactly why the split is worth knowing.</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01</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The loop the agent runs</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10</a:t>
            </a:r>
            <a:endParaRPr lang="en-US" sz="1200" dirty="0"/>
          </a:p>
        </p:txBody>
      </p:sp>
      <p:pic>
        <p:nvPicPr>
          <p:cNvPr id="7" name="Image 0" descr="figures/fig-agent-loop.png">    </p:cNvPr>
          <p:cNvPicPr>
            <a:picLocks noChangeAspect="1"/>
          </p:cNvPicPr>
          <p:nvPr/>
        </p:nvPicPr>
        <p:blipFill>
          <a:blip r:embed="rId1"/>
          <a:srcRect l="0" r="0" t="0" b="0"/>
          <a:stretch/>
        </p:blipFill>
        <p:spPr>
          <a:xfrm>
            <a:off x="558800" y="1511300"/>
            <a:ext cx="6134100" cy="4572000"/>
          </a:xfrm>
          <a:prstGeom prst="rect">
            <a:avLst/>
          </a:prstGeom>
        </p:spPr>
      </p:pic>
      <p:sp>
        <p:nvSpPr>
          <p:cNvPr id="8" name="Text 5"/>
          <p:cNvSpPr/>
          <p:nvPr/>
        </p:nvSpPr>
        <p:spPr>
          <a:xfrm>
            <a:off x="7099300" y="1511300"/>
            <a:ext cx="4533900" cy="101092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Read, plan, edit, run, observe — then round again. The harness drives this loop until the task is done or you stop it.</a:t>
            </a:r>
            <a:endParaRPr lang="en-US" sz="1600" dirty="0"/>
          </a:p>
        </p:txBody>
      </p:sp>
      <p:sp>
        <p:nvSpPr>
          <p:cNvPr id="9" name="Text 6"/>
          <p:cNvSpPr/>
          <p:nvPr/>
        </p:nvSpPr>
        <p:spPr>
          <a:xfrm>
            <a:off x="7099300" y="2649220"/>
            <a:ext cx="453390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One sentence from you becomes four to ten laps, and every lap re-sends everything so far. That is where your allowance goes.</a:t>
            </a:r>
            <a:endParaRPr lang="en-US" sz="1600" dirty="0"/>
          </a:p>
        </p:txBody>
      </p:sp>
      <p:sp>
        <p:nvSpPr>
          <p:cNvPr id="10" name="Text 7"/>
          <p:cNvSpPr/>
          <p:nvPr/>
        </p:nvSpPr>
        <p:spPr>
          <a:xfrm>
            <a:off x="7099300" y="5956300"/>
            <a:ext cx="45339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Fig. 3 — one instruction, many laps</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2EC"/>
        </a:solidFill>
      </p:bgPr>
    </p:bg>
    <p:spTree>
      <p:nvGrpSpPr>
        <p:cNvPr id="1" name=""/>
        <p:cNvGrpSpPr/>
        <p:nvPr/>
      </p:nvGrpSpPr>
      <p:grpSpPr>
        <a:xfrm>
          <a:off x="0" y="0"/>
          <a:ext cx="0" cy="0"/>
          <a:chOff x="0" y="0"/>
          <a:chExt cx="0" cy="0"/>
        </a:xfrm>
      </p:grpSpPr>
      <p:sp>
        <p:nvSpPr>
          <p:cNvPr id="2" name="Text 0"/>
          <p:cNvSpPr/>
          <p:nvPr/>
        </p:nvSpPr>
        <p:spPr>
          <a:xfrm>
            <a:off x="558800" y="2286000"/>
            <a:ext cx="11074400" cy="254000"/>
          </a:xfrm>
          <a:prstGeom prst="rect">
            <a:avLst/>
          </a:prstGeom>
          <a:noFill/>
          <a:ln/>
        </p:spPr>
        <p:txBody>
          <a:bodyPr wrap="square" lIns="0" tIns="0" rIns="0" bIns="0" rtlCol="0" anchor="t"/>
          <a:lstStyle/>
          <a:p>
            <a:pPr algn="l" indent="0" marL="0">
              <a:lnSpc>
                <a:spcPct val="145000"/>
              </a:lnSpc>
              <a:buNone/>
            </a:pPr>
            <a:r>
              <a:rPr lang="en-US" sz="1300" spc="182" kern="0" dirty="0">
                <a:solidFill>
                  <a:srgbClr val="A87A2E"/>
                </a:solidFill>
                <a:latin typeface="IBM Plex Mono" pitchFamily="34" charset="0"/>
                <a:ea typeface="IBM Plex Mono" pitchFamily="34" charset="-122"/>
                <a:cs typeface="IBM Plex Mono" pitchFamily="34" charset="-120"/>
              </a:rPr>
              <a:t>SECTION 02</a:t>
            </a:r>
            <a:endParaRPr lang="en-US" sz="1300" dirty="0"/>
          </a:p>
        </p:txBody>
      </p:sp>
      <p:sp>
        <p:nvSpPr>
          <p:cNvPr id="3" name="Text 1"/>
          <p:cNvSpPr/>
          <p:nvPr/>
        </p:nvSpPr>
        <p:spPr>
          <a:xfrm>
            <a:off x="558800" y="2667000"/>
            <a:ext cx="8255000" cy="1206500"/>
          </a:xfrm>
          <a:prstGeom prst="rect">
            <a:avLst/>
          </a:prstGeom>
          <a:noFill/>
          <a:ln/>
        </p:spPr>
        <p:txBody>
          <a:bodyPr wrap="square" lIns="0" tIns="0" rIns="0" bIns="0" rtlCol="0" anchor="t"/>
          <a:lstStyle/>
          <a:p>
            <a:pPr algn="l" indent="0" marL="0">
              <a:lnSpc>
                <a:spcPct val="108000"/>
              </a:lnSpc>
              <a:buNone/>
            </a:pPr>
            <a:r>
              <a:rPr lang="en-US" sz="4000" b="1" dirty="0">
                <a:solidFill>
                  <a:srgbClr val="332F2A"/>
                </a:solidFill>
                <a:latin typeface="Libre Franklin" pitchFamily="34" charset="0"/>
                <a:ea typeface="Libre Franklin" pitchFamily="34" charset="-122"/>
                <a:cs typeface="Libre Franklin" pitchFamily="34" charset="-120"/>
              </a:rPr>
              <a:t>What it costs, and why it fails</a:t>
            </a:r>
            <a:endParaRPr lang="en-US" sz="4000" dirty="0"/>
          </a:p>
        </p:txBody>
      </p:sp>
      <p:sp>
        <p:nvSpPr>
          <p:cNvPr id="4" name="Text 2"/>
          <p:cNvSpPr/>
          <p:nvPr/>
        </p:nvSpPr>
        <p:spPr>
          <a:xfrm>
            <a:off x="558800" y="4064000"/>
            <a:ext cx="6985000" cy="635000"/>
          </a:xfrm>
          <a:prstGeom prst="rect">
            <a:avLst/>
          </a:prstGeom>
          <a:noFill/>
          <a:ln/>
        </p:spPr>
        <p:txBody>
          <a:bodyPr wrap="square" lIns="0" tIns="0" rIns="0" bIns="0" rtlCol="0" anchor="t"/>
          <a:lstStyle/>
          <a:p>
            <a:pPr algn="l" indent="0" marL="0">
              <a:lnSpc>
                <a:spcPct val="140000"/>
              </a:lnSpc>
              <a:buNone/>
            </a:pPr>
            <a:r>
              <a:rPr lang="en-US" sz="1700" dirty="0">
                <a:solidFill>
                  <a:srgbClr val="77726A"/>
                </a:solidFill>
                <a:latin typeface="Libre Franklin" pitchFamily="34" charset="0"/>
                <a:ea typeface="Libre Franklin" pitchFamily="34" charset="-122"/>
                <a:cs typeface="Libre Franklin" pitchFamily="34" charset="-120"/>
              </a:rPr>
              <a:t>Three limits you will meet before lunch, and the reason none of them are bugs.</a:t>
            </a:r>
            <a:endParaRPr lang="en-US" sz="1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02</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Context and its limits</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12</a:t>
            </a:r>
            <a:endParaRPr lang="en-US" sz="1200" dirty="0"/>
          </a:p>
        </p:txBody>
      </p:sp>
      <p:sp>
        <p:nvSpPr>
          <p:cNvPr id="7" name="Text 5"/>
          <p:cNvSpPr/>
          <p:nvPr/>
        </p:nvSpPr>
        <p:spPr>
          <a:xfrm>
            <a:off x="558800" y="151130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8" name="Text 6"/>
          <p:cNvSpPr/>
          <p:nvPr/>
        </p:nvSpPr>
        <p:spPr>
          <a:xfrm>
            <a:off x="927100" y="151130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The model has no memory.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Between one request and the next it retains nothing at all.</a:t>
            </a:r>
            <a:endParaRPr lang="en-US" sz="1700" dirty="0"/>
          </a:p>
        </p:txBody>
      </p:sp>
      <p:sp>
        <p:nvSpPr>
          <p:cNvPr id="9" name="Text 7"/>
          <p:cNvSpPr/>
          <p:nvPr/>
        </p:nvSpPr>
        <p:spPr>
          <a:xfrm>
            <a:off x="558800" y="239141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0" name="Text 8"/>
          <p:cNvSpPr/>
          <p:nvPr/>
        </p:nvSpPr>
        <p:spPr>
          <a:xfrm>
            <a:off x="927100" y="239141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So everything is re-sent.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Every request carries the whole conversation and every file read so far.</a:t>
            </a:r>
            <a:endParaRPr lang="en-US" sz="1700" dirty="0"/>
          </a:p>
        </p:txBody>
      </p:sp>
      <p:sp>
        <p:nvSpPr>
          <p:cNvPr id="11" name="Text 9"/>
          <p:cNvSpPr/>
          <p:nvPr/>
        </p:nvSpPr>
        <p:spPr>
          <a:xfrm>
            <a:off x="558800" y="327152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2" name="Text 10"/>
          <p:cNvSpPr/>
          <p:nvPr/>
        </p:nvSpPr>
        <p:spPr>
          <a:xfrm>
            <a:off x="927100" y="327152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The context window is the ceiling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on how much can be re-sent at once. Past it, the earliest parts fall away.</a:t>
            </a:r>
            <a:endParaRPr lang="en-US" sz="1700" dirty="0"/>
          </a:p>
        </p:txBody>
      </p:sp>
      <p:sp>
        <p:nvSpPr>
          <p:cNvPr id="13" name="Text 11"/>
          <p:cNvSpPr/>
          <p:nvPr/>
        </p:nvSpPr>
        <p:spPr>
          <a:xfrm>
            <a:off x="558800" y="415163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4" name="Text 12"/>
          <p:cNvSpPr/>
          <p:nvPr/>
        </p:nvSpPr>
        <p:spPr>
          <a:xfrm>
            <a:off x="927100" y="4151630"/>
            <a:ext cx="9156700" cy="753110"/>
          </a:xfrm>
          <a:prstGeom prst="rect">
            <a:avLst/>
          </a:prstGeom>
          <a:noFill/>
          <a:ln/>
        </p:spPr>
        <p:txBody>
          <a:bodyPr wrap="square" lIns="0" tIns="0" rIns="0" bIns="0" rtlCol="0" anchor="t"/>
          <a:lstStyle/>
          <a:p>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A long conversation therefore makes an agent worse, not better. Start a new task for each feature.</a:t>
            </a:r>
            <a:endParaRPr lang="en-US" sz="17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02</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Your free allowance, and its two failures</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13</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one instruction from you</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-&gt; 4 to 10 requests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a 2-hour lab</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 100 to 200 requests</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Gemini   250 req/day, 10/min</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~6s between steps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Mistral  25,000 tokens/min</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~3 req/min</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~20s between steps</a:t>
            </a:r>
            <a:endParaRPr lang="en-US" sz="1400" dirty="0"/>
          </a:p>
        </p:txBody>
      </p:sp>
      <p:sp>
        <p:nvSpPr>
          <p:cNvPr id="9" name="Text 7"/>
          <p:cNvSpPr/>
          <p:nvPr/>
        </p:nvSpPr>
        <p:spPr>
          <a:xfrm>
            <a:off x="7431430" y="151130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One lab session is roughly one day of your Gemini allowance, and the pauses between steps are the limit working rather than a fault.</a:t>
            </a:r>
            <a:endParaRPr lang="en-US" sz="1600" dirty="0"/>
          </a:p>
        </p:txBody>
      </p:sp>
      <p:sp>
        <p:nvSpPr>
          <p:cNvPr id="10" name="Text 8"/>
          <p:cNvSpPr/>
          <p:nvPr/>
        </p:nvSpPr>
        <p:spPr>
          <a:xfrm>
            <a:off x="7431430" y="2943860"/>
            <a:ext cx="4201770" cy="189484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Two different failures, opposite fixes. 429 “rate limited” means wait about a minute. 503 “high demand” means that model is refusing everyone — switch providers, because waiting will not help.</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Everything that cuts your request count is also just good engineering.</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02</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Why an agent invents things</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14</a:t>
            </a:r>
            <a:endParaRPr lang="en-US" sz="1200" dirty="0"/>
          </a:p>
        </p:txBody>
      </p:sp>
      <p:sp>
        <p:nvSpPr>
          <p:cNvPr id="7" name="Text 5"/>
          <p:cNvSpPr/>
          <p:nvPr/>
        </p:nvSpPr>
        <p:spPr>
          <a:xfrm>
            <a:off x="558800" y="151130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8" name="Text 6"/>
          <p:cNvSpPr/>
          <p:nvPr/>
        </p:nvSpPr>
        <p:spPr>
          <a:xfrm>
            <a:off x="927100" y="151130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It predicts, it does not look up.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The reply is the text most likely to follow your request, not a fact retrieved from anywhere.</a:t>
            </a:r>
            <a:endParaRPr lang="en-US" sz="1700" dirty="0"/>
          </a:p>
        </p:txBody>
      </p:sp>
      <p:sp>
        <p:nvSpPr>
          <p:cNvPr id="9" name="Text 7"/>
          <p:cNvSpPr/>
          <p:nvPr/>
        </p:nvSpPr>
        <p:spPr>
          <a:xfrm>
            <a:off x="558800" y="239141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0" name="Text 8"/>
          <p:cNvSpPr/>
          <p:nvPr/>
        </p:nvSpPr>
        <p:spPr>
          <a:xfrm>
            <a:off x="927100" y="239141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A plausible function looks real.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A library call that ought to exist looks exactly like one that does.</a:t>
            </a:r>
            <a:endParaRPr lang="en-US" sz="1700" dirty="0"/>
          </a:p>
        </p:txBody>
      </p:sp>
      <p:sp>
        <p:nvSpPr>
          <p:cNvPr id="11" name="Text 9"/>
          <p:cNvSpPr/>
          <p:nvPr/>
        </p:nvSpPr>
        <p:spPr>
          <a:xfrm>
            <a:off x="558800" y="327152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2" name="Text 10"/>
          <p:cNvSpPr/>
          <p:nvPr/>
        </p:nvSpPr>
        <p:spPr>
          <a:xfrm>
            <a:off x="927100" y="327152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It cannot warn you.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Not knowing and knowing feel identical from the inside, so both come out equally confident.</a:t>
            </a:r>
            <a:endParaRPr lang="en-US" sz="1700" dirty="0"/>
          </a:p>
        </p:txBody>
      </p:sp>
      <p:sp>
        <p:nvSpPr>
          <p:cNvPr id="13" name="Text 11"/>
          <p:cNvSpPr/>
          <p:nvPr/>
        </p:nvSpPr>
        <p:spPr>
          <a:xfrm>
            <a:off x="558800" y="415163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4" name="Text 12"/>
          <p:cNvSpPr/>
          <p:nvPr/>
        </p:nvSpPr>
        <p:spPr>
          <a:xfrm>
            <a:off x="927100" y="4151630"/>
            <a:ext cx="9156700" cy="753110"/>
          </a:xfrm>
          <a:prstGeom prst="rect">
            <a:avLst/>
          </a:prstGeom>
          <a:noFill/>
          <a:ln/>
        </p:spPr>
        <p:txBody>
          <a:bodyPr wrap="square" lIns="0" tIns="0" rIns="0" bIns="0" rtlCol="0" anchor="t"/>
          <a:lstStyle/>
          <a:p>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Which leaves one rule: you check by running something, never by reading something that sounds right.</a:t>
            </a:r>
            <a:endParaRPr lang="en-US" sz="17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5F2EC"/>
        </a:solidFill>
      </p:bgPr>
    </p:bg>
    <p:spTree>
      <p:nvGrpSpPr>
        <p:cNvPr id="1" name=""/>
        <p:cNvGrpSpPr/>
        <p:nvPr/>
      </p:nvGrpSpPr>
      <p:grpSpPr>
        <a:xfrm>
          <a:off x="0" y="0"/>
          <a:ext cx="0" cy="0"/>
          <a:chOff x="0" y="0"/>
          <a:chExt cx="0" cy="0"/>
        </a:xfrm>
      </p:grpSpPr>
      <p:sp>
        <p:nvSpPr>
          <p:cNvPr id="2" name="Text 0"/>
          <p:cNvSpPr/>
          <p:nvPr/>
        </p:nvSpPr>
        <p:spPr>
          <a:xfrm>
            <a:off x="558800" y="2286000"/>
            <a:ext cx="11074400" cy="254000"/>
          </a:xfrm>
          <a:prstGeom prst="rect">
            <a:avLst/>
          </a:prstGeom>
          <a:noFill/>
          <a:ln/>
        </p:spPr>
        <p:txBody>
          <a:bodyPr wrap="square" lIns="0" tIns="0" rIns="0" bIns="0" rtlCol="0" anchor="t"/>
          <a:lstStyle/>
          <a:p>
            <a:pPr algn="l" indent="0" marL="0">
              <a:lnSpc>
                <a:spcPct val="145000"/>
              </a:lnSpc>
              <a:buNone/>
            </a:pPr>
            <a:r>
              <a:rPr lang="en-US" sz="1300" spc="182" kern="0" dirty="0">
                <a:solidFill>
                  <a:srgbClr val="A87A2E"/>
                </a:solidFill>
                <a:latin typeface="IBM Plex Mono" pitchFamily="34" charset="0"/>
                <a:ea typeface="IBM Plex Mono" pitchFamily="34" charset="-122"/>
                <a:cs typeface="IBM Plex Mono" pitchFamily="34" charset="-120"/>
              </a:rPr>
              <a:t>SECTION 03</a:t>
            </a:r>
            <a:endParaRPr lang="en-US" sz="1300" dirty="0"/>
          </a:p>
        </p:txBody>
      </p:sp>
      <p:sp>
        <p:nvSpPr>
          <p:cNvPr id="3" name="Text 1"/>
          <p:cNvSpPr/>
          <p:nvPr/>
        </p:nvSpPr>
        <p:spPr>
          <a:xfrm>
            <a:off x="558800" y="2667000"/>
            <a:ext cx="8255000" cy="1206500"/>
          </a:xfrm>
          <a:prstGeom prst="rect">
            <a:avLst/>
          </a:prstGeom>
          <a:noFill/>
          <a:ln/>
        </p:spPr>
        <p:txBody>
          <a:bodyPr wrap="square" lIns="0" tIns="0" rIns="0" bIns="0" rtlCol="0" anchor="t"/>
          <a:lstStyle/>
          <a:p>
            <a:pPr algn="l" indent="0" marL="0">
              <a:lnSpc>
                <a:spcPct val="108000"/>
              </a:lnSpc>
              <a:buNone/>
            </a:pPr>
            <a:r>
              <a:rPr lang="en-US" sz="4000" b="1" dirty="0">
                <a:solidFill>
                  <a:srgbClr val="332F2A"/>
                </a:solidFill>
                <a:latin typeface="Libre Franklin" pitchFamily="34" charset="0"/>
                <a:ea typeface="Libre Franklin" pitchFamily="34" charset="-122"/>
                <a:cs typeface="Libre Franklin" pitchFamily="34" charset="-120"/>
              </a:rPr>
              <a:t>Warm-up — build it by asking</a:t>
            </a:r>
            <a:endParaRPr lang="en-US" sz="4000" dirty="0"/>
          </a:p>
        </p:txBody>
      </p:sp>
      <p:sp>
        <p:nvSpPr>
          <p:cNvPr id="4" name="Text 2"/>
          <p:cNvSpPr/>
          <p:nvPr/>
        </p:nvSpPr>
        <p:spPr>
          <a:xfrm>
            <a:off x="558800" y="4064000"/>
            <a:ext cx="6985000" cy="635000"/>
          </a:xfrm>
          <a:prstGeom prst="rect">
            <a:avLst/>
          </a:prstGeom>
          <a:noFill/>
          <a:ln/>
        </p:spPr>
        <p:txBody>
          <a:bodyPr wrap="square" lIns="0" tIns="0" rIns="0" bIns="0" rtlCol="0" anchor="t"/>
          <a:lstStyle/>
          <a:p>
            <a:pPr algn="l" indent="0" marL="0">
              <a:lnSpc>
                <a:spcPct val="140000"/>
              </a:lnSpc>
              <a:buNone/>
            </a:pPr>
            <a:r>
              <a:rPr lang="en-US" sz="1700" dirty="0">
                <a:solidFill>
                  <a:srgbClr val="77726A"/>
                </a:solidFill>
                <a:latin typeface="Libre Franklin" pitchFamily="34" charset="0"/>
                <a:ea typeface="Libre Franklin" pitchFamily="34" charset="-122"/>
                <a:cs typeface="Libre Franklin" pitchFamily="34" charset="-120"/>
              </a:rPr>
              <a:t>No plan, no specification. Ask for the whole thing and see what arrives. 25 minutes.</a:t>
            </a:r>
            <a:endParaRPr lang="en-US" sz="17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WORKSHOP 03</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Paste this, then watch</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16</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Build me a spectrum analyser in</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Streamlit. I set two sine waves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 frequency and an amplitude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for each - and it adds them</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together and plots the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time-domain waveform and the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frequency spectrum.</a:t>
            </a:r>
            <a:endParaRPr lang="en-US" sz="1400" dirty="0"/>
          </a:p>
        </p:txBody>
      </p:sp>
      <p:sp>
        <p:nvSpPr>
          <p:cNvPr id="9" name="Text 7"/>
          <p:cNvSpPr/>
          <p:nvPr/>
        </p:nvSpPr>
        <p:spPr>
          <a:xfrm>
            <a:off x="7431430" y="1511300"/>
            <a:ext cx="4201770" cy="189484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First run Step 1 in labs/LAB1.md — one command, and it is what lets you compare the two rounds at the end. Then paste this and accept whatever it gives you: do not plan, do not correct it.</a:t>
            </a:r>
            <a:endParaRPr lang="en-US" sz="1600" dirty="0"/>
          </a:p>
        </p:txBody>
      </p:sp>
      <p:sp>
        <p:nvSpPr>
          <p:cNvPr id="10" name="Text 8"/>
          <p:cNvSpPr/>
          <p:nvPr/>
        </p:nvSpPr>
        <p:spPr>
          <a:xfrm>
            <a:off x="7431430" y="3533140"/>
            <a:ext cx="4201770" cy="101092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Set tone A to amplitude 1.0. Does the spike on the chart actually reach 1.0?</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If a classmate asked whether your app is correct, could you show them why?</a:t>
            </a:r>
            <a:endParaRPr lang="en-US" sz="15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04</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The same app, asked for two ways</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17</a:t>
            </a:r>
            <a:endParaRPr lang="en-US" sz="1200" dirty="0"/>
          </a:p>
        </p:txBody>
      </p:sp>
      <p:pic>
        <p:nvPicPr>
          <p:cNvPr id="7" name="Image 0" descr="figures/fig-round1-vs-round2.png">    </p:cNvPr>
          <p:cNvPicPr>
            <a:picLocks noChangeAspect="1"/>
          </p:cNvPicPr>
          <p:nvPr/>
        </p:nvPicPr>
        <p:blipFill>
          <a:blip r:embed="rId1"/>
          <a:srcRect l="0" r="0" t="0" b="0"/>
          <a:stretch/>
        </p:blipFill>
        <p:spPr>
          <a:xfrm>
            <a:off x="558800" y="1511300"/>
            <a:ext cx="6134100" cy="4572000"/>
          </a:xfrm>
          <a:prstGeom prst="rect">
            <a:avLst/>
          </a:prstGeom>
        </p:spPr>
      </p:pic>
      <p:sp>
        <p:nvSpPr>
          <p:cNvPr id="8" name="Text 5"/>
          <p:cNvSpPr/>
          <p:nvPr/>
        </p:nvSpPr>
        <p:spPr>
          <a:xfrm>
            <a:off x="7099300" y="1511300"/>
            <a:ext cx="4533900" cy="16002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Both were built by the same agent, on the same model, within the same hour. The left was one sentence. The right went through four checkpoints where a person decided before it could carry on.</a:t>
            </a:r>
            <a:endParaRPr lang="en-US" sz="1600" dirty="0"/>
          </a:p>
        </p:txBody>
      </p:sp>
      <p:sp>
        <p:nvSpPr>
          <p:cNvPr id="9" name="Text 6"/>
          <p:cNvSpPr/>
          <p:nvPr/>
        </p:nvSpPr>
        <p:spPr>
          <a:xfrm>
            <a:off x="7099300" y="3238500"/>
            <a:ext cx="453390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The left even drew its own “Expected: 50 Hz” markers. It verified the axis it got right and never checked the one it got wrong.</a:t>
            </a:r>
            <a:endParaRPr lang="en-US" sz="1600" dirty="0"/>
          </a:p>
        </p:txBody>
      </p:sp>
      <p:sp>
        <p:nvSpPr>
          <p:cNvPr id="10" name="Text 7"/>
          <p:cNvSpPr/>
          <p:nvPr/>
        </p:nvSpPr>
        <p:spPr>
          <a:xfrm>
            <a:off x="7099300" y="5956300"/>
            <a:ext cx="45339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Fig. 4 — measured in the dry run, 1 September 2026</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5F2EC"/>
        </a:solidFill>
      </p:bgPr>
    </p:bg>
    <p:spTree>
      <p:nvGrpSpPr>
        <p:cNvPr id="1" name=""/>
        <p:cNvGrpSpPr/>
        <p:nvPr/>
      </p:nvGrpSpPr>
      <p:grpSpPr>
        <a:xfrm>
          <a:off x="0" y="0"/>
          <a:ext cx="0" cy="0"/>
          <a:chOff x="0" y="0"/>
          <a:chExt cx="0" cy="0"/>
        </a:xfrm>
      </p:grpSpPr>
      <p:sp>
        <p:nvSpPr>
          <p:cNvPr id="2" name="Text 0"/>
          <p:cNvSpPr/>
          <p:nvPr/>
        </p:nvSpPr>
        <p:spPr>
          <a:xfrm>
            <a:off x="558800" y="2286000"/>
            <a:ext cx="11074400" cy="254000"/>
          </a:xfrm>
          <a:prstGeom prst="rect">
            <a:avLst/>
          </a:prstGeom>
          <a:noFill/>
          <a:ln/>
        </p:spPr>
        <p:txBody>
          <a:bodyPr wrap="square" lIns="0" tIns="0" rIns="0" bIns="0" rtlCol="0" anchor="t"/>
          <a:lstStyle/>
          <a:p>
            <a:pPr algn="l" indent="0" marL="0">
              <a:lnSpc>
                <a:spcPct val="145000"/>
              </a:lnSpc>
              <a:buNone/>
            </a:pPr>
            <a:r>
              <a:rPr lang="en-US" sz="1300" spc="182" kern="0" dirty="0">
                <a:solidFill>
                  <a:srgbClr val="A87A2E"/>
                </a:solidFill>
                <a:latin typeface="IBM Plex Mono" pitchFamily="34" charset="0"/>
                <a:ea typeface="IBM Plex Mono" pitchFamily="34" charset="-122"/>
                <a:cs typeface="IBM Plex Mono" pitchFamily="34" charset="-120"/>
              </a:rPr>
              <a:t>SECTION 04</a:t>
            </a:r>
            <a:endParaRPr lang="en-US" sz="1300" dirty="0"/>
          </a:p>
        </p:txBody>
      </p:sp>
      <p:sp>
        <p:nvSpPr>
          <p:cNvPr id="3" name="Text 1"/>
          <p:cNvSpPr/>
          <p:nvPr/>
        </p:nvSpPr>
        <p:spPr>
          <a:xfrm>
            <a:off x="558800" y="2667000"/>
            <a:ext cx="8255000" cy="1206500"/>
          </a:xfrm>
          <a:prstGeom prst="rect">
            <a:avLst/>
          </a:prstGeom>
          <a:noFill/>
          <a:ln/>
        </p:spPr>
        <p:txBody>
          <a:bodyPr wrap="square" lIns="0" tIns="0" rIns="0" bIns="0" rtlCol="0" anchor="t"/>
          <a:lstStyle/>
          <a:p>
            <a:pPr algn="l" indent="0" marL="0">
              <a:lnSpc>
                <a:spcPct val="108000"/>
              </a:lnSpc>
              <a:buNone/>
            </a:pPr>
            <a:r>
              <a:rPr lang="en-US" sz="4000" b="1" dirty="0">
                <a:solidFill>
                  <a:srgbClr val="332F2A"/>
                </a:solidFill>
                <a:latin typeface="Libre Franklin" pitchFamily="34" charset="0"/>
                <a:ea typeface="Libre Franklin" pitchFamily="34" charset="-122"/>
                <a:cs typeface="Libre Franklin" pitchFamily="34" charset="-120"/>
              </a:rPr>
              <a:t>The Four Gates</a:t>
            </a:r>
            <a:endParaRPr lang="en-US" sz="4000" dirty="0"/>
          </a:p>
        </p:txBody>
      </p:sp>
      <p:sp>
        <p:nvSpPr>
          <p:cNvPr id="4" name="Text 2"/>
          <p:cNvSpPr/>
          <p:nvPr/>
        </p:nvSpPr>
        <p:spPr>
          <a:xfrm>
            <a:off x="558800" y="4064000"/>
            <a:ext cx="6985000" cy="635000"/>
          </a:xfrm>
          <a:prstGeom prst="rect">
            <a:avLst/>
          </a:prstGeom>
          <a:noFill/>
          <a:ln/>
        </p:spPr>
        <p:txBody>
          <a:bodyPr wrap="square" lIns="0" tIns="0" rIns="0" bIns="0" rtlCol="0" anchor="t"/>
          <a:lstStyle/>
          <a:p>
            <a:pPr algn="l" indent="0" marL="0">
              <a:lnSpc>
                <a:spcPct val="140000"/>
              </a:lnSpc>
              <a:buNone/>
            </a:pPr>
            <a:r>
              <a:rPr lang="en-US" sz="1700" dirty="0">
                <a:solidFill>
                  <a:srgbClr val="77726A"/>
                </a:solidFill>
                <a:latin typeface="Libre Franklin" pitchFamily="34" charset="0"/>
                <a:ea typeface="Libre Franklin" pitchFamily="34" charset="-122"/>
                <a:cs typeface="Libre Franklin" pitchFamily="34" charset="-120"/>
              </a:rPr>
              <a:t>The same request, routed through four points where a person decides.</a:t>
            </a:r>
            <a:endParaRPr lang="en-US" sz="17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04</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Two routes to the same app</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19</a:t>
            </a:r>
            <a:endParaRPr lang="en-US" sz="1200" dirty="0"/>
          </a:p>
        </p:txBody>
      </p:sp>
      <p:sp>
        <p:nvSpPr>
          <p:cNvPr id="7" name="Text 5"/>
          <p:cNvSpPr/>
          <p:nvPr/>
        </p:nvSpPr>
        <p:spPr>
          <a:xfrm>
            <a:off x="558800" y="1511300"/>
            <a:ext cx="5283200" cy="254000"/>
          </a:xfrm>
          <a:prstGeom prst="rect">
            <a:avLst/>
          </a:prstGeom>
          <a:noFill/>
          <a:ln/>
        </p:spPr>
        <p:txBody>
          <a:bodyPr wrap="square" lIns="0" tIns="0" rIns="0" bIns="0" rtlCol="0" anchor="t"/>
          <a:lstStyle/>
          <a:p>
            <a:pPr algn="l" indent="0" marL="0">
              <a:lnSpc>
                <a:spcPct val="145000"/>
              </a:lnSpc>
              <a:buNone/>
            </a:pPr>
            <a:r>
              <a:rPr lang="en-US" sz="1300" spc="130" kern="0" dirty="0">
                <a:solidFill>
                  <a:srgbClr val="A87A2E"/>
                </a:solidFill>
                <a:latin typeface="IBM Plex Mono" pitchFamily="34" charset="0"/>
                <a:ea typeface="IBM Plex Mono" pitchFamily="34" charset="-122"/>
                <a:cs typeface="IBM Plex Mono" pitchFamily="34" charset="-120"/>
              </a:rPr>
              <a:t>ASKING DIRECTLY</a:t>
            </a:r>
            <a:endParaRPr lang="en-US" sz="1300" dirty="0"/>
          </a:p>
        </p:txBody>
      </p:sp>
      <p:sp>
        <p:nvSpPr>
          <p:cNvPr id="8" name="Text 6"/>
          <p:cNvSpPr/>
          <p:nvPr/>
        </p:nvSpPr>
        <p:spPr>
          <a:xfrm>
            <a:off x="558800" y="19177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Faster to something on screen, and right often enough that it feels like it works.</a:t>
            </a:r>
            <a:endParaRPr lang="en-US" sz="1600" dirty="0"/>
          </a:p>
        </p:txBody>
      </p:sp>
      <p:sp>
        <p:nvSpPr>
          <p:cNvPr id="9" name="Text 7"/>
          <p:cNvSpPr/>
          <p:nvPr/>
        </p:nvSpPr>
        <p:spPr>
          <a:xfrm>
            <a:off x="558800" y="31623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You cannot say what it should do, so you cannot say whether it does it. Nothing is checkable.</a:t>
            </a:r>
            <a:endParaRPr lang="en-US" sz="1600" dirty="0"/>
          </a:p>
        </p:txBody>
      </p:sp>
      <p:sp>
        <p:nvSpPr>
          <p:cNvPr id="10" name="Text 8"/>
          <p:cNvSpPr/>
          <p:nvPr/>
        </p:nvSpPr>
        <p:spPr>
          <a:xfrm>
            <a:off x="6350000" y="1511300"/>
            <a:ext cx="5283200" cy="254000"/>
          </a:xfrm>
          <a:prstGeom prst="rect">
            <a:avLst/>
          </a:prstGeom>
          <a:noFill/>
          <a:ln/>
        </p:spPr>
        <p:txBody>
          <a:bodyPr wrap="square" lIns="0" tIns="0" rIns="0" bIns="0" rtlCol="0" anchor="t"/>
          <a:lstStyle/>
          <a:p>
            <a:pPr algn="l" indent="0" marL="0">
              <a:lnSpc>
                <a:spcPct val="145000"/>
              </a:lnSpc>
              <a:buNone/>
            </a:pPr>
            <a:r>
              <a:rPr lang="en-US" sz="1300" spc="130" kern="0" dirty="0">
                <a:solidFill>
                  <a:srgbClr val="A87A2E"/>
                </a:solidFill>
                <a:latin typeface="IBM Plex Mono" pitchFamily="34" charset="0"/>
                <a:ea typeface="IBM Plex Mono" pitchFamily="34" charset="-122"/>
                <a:cs typeface="IBM Plex Mono" pitchFamily="34" charset="-120"/>
              </a:rPr>
              <a:t>THROUGH THE GATES</a:t>
            </a:r>
            <a:endParaRPr lang="en-US" sz="1300" dirty="0"/>
          </a:p>
        </p:txBody>
      </p:sp>
      <p:sp>
        <p:nvSpPr>
          <p:cNvPr id="11" name="Text 9"/>
          <p:cNvSpPr/>
          <p:nvPr/>
        </p:nvSpPr>
        <p:spPr>
          <a:xfrm>
            <a:off x="6350000" y="19177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Slower to the first screen, and you decide four times along the way instead of once at the end.</a:t>
            </a:r>
            <a:endParaRPr lang="en-US" sz="1600" dirty="0"/>
          </a:p>
        </p:txBody>
      </p:sp>
      <p:sp>
        <p:nvSpPr>
          <p:cNvPr id="12" name="Text 10"/>
          <p:cNvSpPr/>
          <p:nvPr/>
        </p:nvSpPr>
        <p:spPr>
          <a:xfrm>
            <a:off x="6350000" y="31623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Fewer requests too, because the agent stops guessing what you meant and backtracking.</a:t>
            </a:r>
            <a:endParaRPr lang="en-US" sz="16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04</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Four gates, four decisions</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20</a:t>
            </a:r>
            <a:endParaRPr lang="en-US" sz="1200" dirty="0"/>
          </a:p>
        </p:txBody>
      </p:sp>
      <p:pic>
        <p:nvPicPr>
          <p:cNvPr id="7" name="Image 0" descr="figures/fig-four-gates.png">    </p:cNvPr>
          <p:cNvPicPr>
            <a:picLocks noChangeAspect="1"/>
          </p:cNvPicPr>
          <p:nvPr/>
        </p:nvPicPr>
        <p:blipFill>
          <a:blip r:embed="rId1"/>
          <a:srcRect l="0" r="0" t="0" b="0"/>
          <a:stretch/>
        </p:blipFill>
        <p:spPr>
          <a:xfrm>
            <a:off x="558800" y="1511300"/>
            <a:ext cx="6134100" cy="4572000"/>
          </a:xfrm>
          <a:prstGeom prst="rect">
            <a:avLst/>
          </a:prstGeom>
        </p:spPr>
      </p:pic>
      <p:sp>
        <p:nvSpPr>
          <p:cNvPr id="8" name="Text 5"/>
          <p:cNvSpPr/>
          <p:nvPr/>
        </p:nvSpPr>
        <p:spPr>
          <a:xfrm>
            <a:off x="7099300" y="1511300"/>
            <a:ext cx="4533900" cy="101092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A gate is where the agent stops and a person decides. You write the intent; the agent drafts the spec and the plan.</a:t>
            </a:r>
            <a:endParaRPr lang="en-US" sz="1600" dirty="0"/>
          </a:p>
        </p:txBody>
      </p:sp>
      <p:sp>
        <p:nvSpPr>
          <p:cNvPr id="9" name="Text 6"/>
          <p:cNvSpPr/>
          <p:nvPr/>
        </p:nvSpPr>
        <p:spPr>
          <a:xfrm>
            <a:off x="7099300" y="2649220"/>
            <a:ext cx="453390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You approve each before anything moves. Build then runs one task at a time — tests pass, you read the diff, and only then does the next task start.</a:t>
            </a:r>
            <a:endParaRPr lang="en-US" sz="1600" dirty="0"/>
          </a:p>
        </p:txBody>
      </p:sp>
      <p:sp>
        <p:nvSpPr>
          <p:cNvPr id="10" name="Text 7"/>
          <p:cNvSpPr/>
          <p:nvPr/>
        </p:nvSpPr>
        <p:spPr>
          <a:xfrm>
            <a:off x="7099300" y="5956300"/>
            <a:ext cx="45339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Fig. 5 — the agent proposes, you approve</a:t>
            </a: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04</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What you actually type</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21</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Read tests/test_spectrum.py.</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Those tests are the acceptance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criteria. aidlc/intent.md says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what we are building.</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Use your file-writing tool to</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WRITE aidlc/requirements.md ...</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Write the file now. Do not ask</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permission first. Do not print</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the table in your reply instead</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of writing it.</a:t>
            </a:r>
            <a:endParaRPr lang="en-US" sz="1400" dirty="0"/>
          </a:p>
        </p:txBody>
      </p:sp>
      <p:sp>
        <p:nvSpPr>
          <p:cNvPr id="9" name="Text 7"/>
          <p:cNvSpPr/>
          <p:nvPr/>
        </p:nvSpPr>
        <p:spPr>
          <a:xfrm>
            <a:off x="7431430" y="1511300"/>
            <a:ext cx="4201770" cy="16002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All four gate prompts are in labs/PROMPTS.md. Copy them exactly today; improvise next week, once you have seen what a good one looks like.</a:t>
            </a:r>
            <a:endParaRPr lang="en-US" sz="1600" dirty="0"/>
          </a:p>
        </p:txBody>
      </p:sp>
      <p:sp>
        <p:nvSpPr>
          <p:cNvPr id="10" name="Text 8"/>
          <p:cNvSpPr/>
          <p:nvPr/>
        </p:nvSpPr>
        <p:spPr>
          <a:xfrm>
            <a:off x="7431430" y="3238500"/>
            <a:ext cx="4201770" cy="16002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Every sentence in that last paragraph fixes a failure we watched happen: it asked permission and stopped, or it printed the table in the chat and called that done.</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Name the tool. Say where the output goes. Then forbid the near-miss.</a:t>
            </a:r>
            <a:endParaRPr lang="en-US" sz="15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04</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Gate 1 — Intent, and you write it</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22</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aidlc/intent.md</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Who is this for?</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 student who has just met</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the Fourier transform.</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What does “done” look like?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I set two sine waves going</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and see a chart with exactly</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those two frequencies, at the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amplitudes I chose.</a:t>
            </a:r>
            <a:endParaRPr lang="en-US" sz="1400" dirty="0"/>
          </a:p>
        </p:txBody>
      </p:sp>
      <p:sp>
        <p:nvSpPr>
          <p:cNvPr id="9" name="Text 7"/>
          <p:cNvSpPr/>
          <p:nvPr/>
        </p:nvSpPr>
        <p:spPr>
          <a:xfrm>
            <a:off x="7431430" y="1511300"/>
            <a:ext cx="4201770" cy="189484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The only gate with no prompt to paste — you write it yourself, in your own words: who it is for, what problem it solves, what done looks like, and what is deliberately left out.</a:t>
            </a:r>
            <a:endParaRPr lang="en-US" sz="1600" dirty="0"/>
          </a:p>
        </p:txBody>
      </p:sp>
      <p:sp>
        <p:nvSpPr>
          <p:cNvPr id="10" name="Text 8"/>
          <p:cNvSpPr/>
          <p:nvPr/>
        </p:nvSpPr>
        <p:spPr>
          <a:xfrm>
            <a:off x="7431430" y="353314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The agent will not start without it. A vague intent does not produce a vague app — it produces a confident, wrong one.</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The question that saves you is the one about scope: what is deliberately NOT included.</a:t>
            </a:r>
            <a:endParaRPr lang="en-US" sz="15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04</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Gate 2 — Spec, and you approve it</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23</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aidlc/requirements.md</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3. Report the correct amplitude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check: a tone entered at 1.0</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reads back as 1.0, +/- 0.001</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5. Handle a constant offset</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check: a DC offset of 2.0</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appears at 0 Hz as 2.0,</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not 4.0</a:t>
            </a:r>
            <a:endParaRPr lang="en-US" sz="1400" dirty="0"/>
          </a:p>
        </p:txBody>
      </p:sp>
      <p:sp>
        <p:nvSpPr>
          <p:cNvPr id="9" name="Text 7"/>
          <p:cNvSpPr/>
          <p:nvPr/>
        </p:nvSpPr>
        <p:spPr>
          <a:xfrm>
            <a:off x="7431430" y="1511300"/>
            <a:ext cx="4201770" cy="189484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Paste the Gate 2 prompt from labs/PROMPTS.md. The agent drafts these; you read every line and fix what is wrong — it is far better at the requirement than at the check beside it.</a:t>
            </a:r>
            <a:endParaRPr lang="en-US" sz="1600" dirty="0"/>
          </a:p>
        </p:txBody>
      </p:sp>
      <p:sp>
        <p:nvSpPr>
          <p:cNvPr id="10" name="Text 8"/>
          <p:cNvSpPr/>
          <p:nvPr/>
        </p:nvSpPr>
        <p:spPr>
          <a:xfrm>
            <a:off x="7431430" y="353314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Every requirement carries something you can run. A requirement you cannot check by running something is not a requirement yet.</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Reply “approved” only when every check on the slide could actually fail.</a:t>
            </a:r>
            <a:endParaRPr lang="en-US" sz="15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04</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Gate 3 — Plan, one file per task</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24</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aidlc/tasks.md</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1. The maths: build a signal,</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take its spectrum, find the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strongest frequency</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-&gt; core/spectrum.py</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2. The screen: two tones in,</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two charts out</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-&gt; pages/2_Spectrum_...py</a:t>
            </a:r>
            <a:endParaRPr lang="en-US" sz="1400" dirty="0"/>
          </a:p>
        </p:txBody>
      </p:sp>
      <p:sp>
        <p:nvSpPr>
          <p:cNvPr id="9" name="Text 7"/>
          <p:cNvSpPr/>
          <p:nvPr/>
        </p:nvSpPr>
        <p:spPr>
          <a:xfrm>
            <a:off x="7431430" y="1511300"/>
            <a:ext cx="4201770" cy="16002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Paste the Gate 3 prompt. Design and a task list, and every task names the ONE file it is allowed to touch. Working alone today that looks like bookkeeping.</a:t>
            </a:r>
            <a:endParaRPr lang="en-US" sz="1600" dirty="0"/>
          </a:p>
        </p:txBody>
      </p:sp>
      <p:sp>
        <p:nvSpPr>
          <p:cNvPr id="10" name="Text 8"/>
          <p:cNvSpPr/>
          <p:nvPr/>
        </p:nvSpPr>
        <p:spPr>
          <a:xfrm>
            <a:off x="7431430" y="3238500"/>
            <a:ext cx="4201770" cy="189484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In Session 2 it is the whole trick: four people build at once and never touch the same file, so nothing has to be merged and nobody needs to learn branching to collaborate.</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One task, one owner, one file.</a:t>
            </a:r>
            <a:endParaRPr lang="en-US" sz="15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04</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Gate 4 — Build, one task at a time</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25</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pytest tests/test_spectrum.py</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7 failed</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agent edits core/spectrum.py</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you read the diff</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pytest tests/test_spectrum.py</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7 passed</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git add -A &amp;&amp; git commit</a:t>
            </a:r>
            <a:endParaRPr lang="en-US" sz="1400" dirty="0"/>
          </a:p>
        </p:txBody>
      </p:sp>
      <p:sp>
        <p:nvSpPr>
          <p:cNvPr id="9" name="Text 7"/>
          <p:cNvSpPr/>
          <p:nvPr/>
        </p:nvSpPr>
        <p:spPr>
          <a:xfrm>
            <a:off x="7431430" y="1511300"/>
            <a:ext cx="4201770" cy="16002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Two prompts, one per task. The only gate with no document: the agent edits a single file, you run the tests, you read the diff, you commit.</a:t>
            </a:r>
            <a:endParaRPr lang="en-US" sz="1600" dirty="0"/>
          </a:p>
        </p:txBody>
      </p:sp>
      <p:sp>
        <p:nvSpPr>
          <p:cNvPr id="10" name="Text 8"/>
          <p:cNvSpPr/>
          <p:nvPr/>
        </p:nvSpPr>
        <p:spPr>
          <a:xfrm>
            <a:off x="7431430" y="323850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Never let it run three tasks at once. When something breaks you want one small change in front of you, not three.</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Green tests and a diff you have actually read. Then the next task.</a:t>
            </a:r>
            <a:endParaRPr lang="en-US" sz="15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04</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One command turns them on</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26</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cp .clinerules.gates .clinerules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git add .clinerules &amp;&amp; git commit</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-m "turn the gates on"</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then START A NEW CLINE TASK</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rules load when a task begins</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.clinerules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Gate 2 - Spec. Draft the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requirements, then STOP and</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ask for approval.</a:t>
            </a:r>
            <a:endParaRPr lang="en-US" sz="1400" dirty="0"/>
          </a:p>
        </p:txBody>
      </p:sp>
      <p:sp>
        <p:nvSpPr>
          <p:cNvPr id="9" name="Text 7"/>
          <p:cNvSpPr/>
          <p:nvPr/>
        </p:nvSpPr>
        <p:spPr>
          <a:xfrm>
            <a:off x="7431430" y="1511300"/>
            <a:ext cx="4201770" cy="16002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In Round 1 your agent had no process rules, which is why it went straight to code. This file is the difference, and it was in your repository the whole time.</a:t>
            </a:r>
            <a:endParaRPr lang="en-US" sz="1600" dirty="0"/>
          </a:p>
        </p:txBody>
      </p:sp>
      <p:sp>
        <p:nvSpPr>
          <p:cNvPr id="10" name="Text 8"/>
          <p:cNvSpPr/>
          <p:nvPr/>
        </p:nvSpPr>
        <p:spPr>
          <a:xfrm>
            <a:off x="7431430" y="3238500"/>
            <a:ext cx="4201770" cy="101092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Same agent, same model, same request. Copy it into place, start a new task, and watch it refuse you.</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Plain English, in a plain file. By Session 2 you will be editing it.</a:t>
            </a:r>
            <a:endParaRPr lang="en-US" sz="15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04</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You have seen these gates before</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27</a:t>
            </a:r>
            <a:endParaRPr lang="en-US" sz="1200" dirty="0"/>
          </a:p>
        </p:txBody>
      </p:sp>
      <p:sp>
        <p:nvSpPr>
          <p:cNvPr id="7" name="Text 5"/>
          <p:cNvSpPr/>
          <p:nvPr/>
        </p:nvSpPr>
        <p:spPr>
          <a:xfrm>
            <a:off x="558800" y="1511300"/>
            <a:ext cx="5283200" cy="254000"/>
          </a:xfrm>
          <a:prstGeom prst="rect">
            <a:avLst/>
          </a:prstGeom>
          <a:noFill/>
          <a:ln/>
        </p:spPr>
        <p:txBody>
          <a:bodyPr wrap="square" lIns="0" tIns="0" rIns="0" bIns="0" rtlCol="0" anchor="t"/>
          <a:lstStyle/>
          <a:p>
            <a:pPr algn="l" indent="0" marL="0">
              <a:lnSpc>
                <a:spcPct val="145000"/>
              </a:lnSpc>
              <a:buNone/>
            </a:pPr>
            <a:r>
              <a:rPr lang="en-US" sz="1300" spc="130" kern="0" dirty="0">
                <a:solidFill>
                  <a:srgbClr val="A87A2E"/>
                </a:solidFill>
                <a:latin typeface="IBM Plex Mono" pitchFamily="34" charset="0"/>
                <a:ea typeface="IBM Plex Mono" pitchFamily="34" charset="-122"/>
                <a:cs typeface="IBM Plex Mono" pitchFamily="34" charset="-120"/>
              </a:rPr>
              <a:t>THE GATES YOU RUN</a:t>
            </a:r>
            <a:endParaRPr lang="en-US" sz="1300" dirty="0"/>
          </a:p>
        </p:txBody>
      </p:sp>
      <p:sp>
        <p:nvSpPr>
          <p:cNvPr id="8" name="Text 6"/>
          <p:cNvSpPr/>
          <p:nvPr/>
        </p:nvSpPr>
        <p:spPr>
          <a:xfrm>
            <a:off x="558800" y="19177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Intent, then spec, then plan, then build one task at a time, then ship.</a:t>
            </a:r>
            <a:endParaRPr lang="en-US" sz="1600" dirty="0"/>
          </a:p>
        </p:txBody>
      </p:sp>
      <p:sp>
        <p:nvSpPr>
          <p:cNvPr id="9" name="Text 7"/>
          <p:cNvSpPr/>
          <p:nvPr/>
        </p:nvSpPr>
        <p:spPr>
          <a:xfrm>
            <a:off x="558800" y="31623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Five steps that fit in a two-hour lab and produce four short documents.</a:t>
            </a:r>
            <a:endParaRPr lang="en-US" sz="1600" dirty="0"/>
          </a:p>
        </p:txBody>
      </p:sp>
      <p:sp>
        <p:nvSpPr>
          <p:cNvPr id="10" name="Text 8"/>
          <p:cNvSpPr/>
          <p:nvPr/>
        </p:nvSpPr>
        <p:spPr>
          <a:xfrm>
            <a:off x="6350000" y="1511300"/>
            <a:ext cx="5283200" cy="254000"/>
          </a:xfrm>
          <a:prstGeom prst="rect">
            <a:avLst/>
          </a:prstGeom>
          <a:noFill/>
          <a:ln/>
        </p:spPr>
        <p:txBody>
          <a:bodyPr wrap="square" lIns="0" tIns="0" rIns="0" bIns="0" rtlCol="0" anchor="t"/>
          <a:lstStyle/>
          <a:p>
            <a:pPr algn="l" indent="0" marL="0">
              <a:lnSpc>
                <a:spcPct val="145000"/>
              </a:lnSpc>
              <a:buNone/>
            </a:pPr>
            <a:r>
              <a:rPr lang="en-US" sz="1300" spc="130" kern="0" dirty="0">
                <a:solidFill>
                  <a:srgbClr val="A87A2E"/>
                </a:solidFill>
                <a:latin typeface="IBM Plex Mono" pitchFamily="34" charset="0"/>
                <a:ea typeface="IBM Plex Mono" pitchFamily="34" charset="-122"/>
                <a:cs typeface="IBM Plex Mono" pitchFamily="34" charset="-120"/>
              </a:rPr>
              <a:t>WHAT IT IS CALLED ELSEWHERE</a:t>
            </a:r>
            <a:endParaRPr lang="en-US" sz="1300" dirty="0"/>
          </a:p>
        </p:txBody>
      </p:sp>
      <p:sp>
        <p:nvSpPr>
          <p:cNvPr id="11" name="Text 9"/>
          <p:cNvSpPr/>
          <p:nvPr/>
        </p:nvSpPr>
        <p:spPr>
          <a:xfrm>
            <a:off x="6350000" y="19177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Requirements, design, implementation, testing, deployment — the software lifecycle, taught since the 1970s.</a:t>
            </a:r>
            <a:endParaRPr lang="en-US" sz="1600" dirty="0"/>
          </a:p>
        </p:txBody>
      </p:sp>
      <p:sp>
        <p:nvSpPr>
          <p:cNvPr id="12" name="Text 10"/>
          <p:cNvSpPr/>
          <p:nvPr/>
        </p:nvSpPr>
        <p:spPr>
          <a:xfrm>
            <a:off x="6350000" y="31623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The agent needs these written down for the same reason a team of people does. Neither can read your mind.</a:t>
            </a:r>
            <a:endParaRPr lang="en-US" sz="16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04</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The words used in industry</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28</a:t>
            </a:r>
            <a:endParaRPr lang="en-US" sz="1200" dirty="0"/>
          </a:p>
        </p:txBody>
      </p:sp>
      <p:sp>
        <p:nvSpPr>
          <p:cNvPr id="7" name="Text 5"/>
          <p:cNvSpPr/>
          <p:nvPr/>
        </p:nvSpPr>
        <p:spPr>
          <a:xfrm>
            <a:off x="558800" y="151130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8" name="Text 6"/>
          <p:cNvSpPr/>
          <p:nvPr/>
        </p:nvSpPr>
        <p:spPr>
          <a:xfrm>
            <a:off x="927100" y="151130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Intent.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The business goal, before anyone has decided how to build it. Your Gate 1.</a:t>
            </a:r>
            <a:endParaRPr lang="en-US" sz="1700" dirty="0"/>
          </a:p>
        </p:txBody>
      </p:sp>
      <p:sp>
        <p:nvSpPr>
          <p:cNvPr id="9" name="Text 7"/>
          <p:cNvSpPr/>
          <p:nvPr/>
        </p:nvSpPr>
        <p:spPr>
          <a:xfrm>
            <a:off x="558800" y="239141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0" name="Text 8"/>
          <p:cNvSpPr/>
          <p:nvPr/>
        </p:nvSpPr>
        <p:spPr>
          <a:xfrm>
            <a:off x="927100" y="239141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Units.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The independent pieces an intent breaks into. Next week each of you owns one.</a:t>
            </a:r>
            <a:endParaRPr lang="en-US" sz="1700" dirty="0"/>
          </a:p>
        </p:txBody>
      </p:sp>
      <p:sp>
        <p:nvSpPr>
          <p:cNvPr id="11" name="Text 9"/>
          <p:cNvSpPr/>
          <p:nvPr/>
        </p:nvSpPr>
        <p:spPr>
          <a:xfrm>
            <a:off x="558800" y="327152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2" name="Text 10"/>
          <p:cNvSpPr/>
          <p:nvPr/>
        </p:nvSpPr>
        <p:spPr>
          <a:xfrm>
            <a:off x="927100" y="327152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Bolts.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Build cycles measured in hours rather than the two to six weeks of a sprint.</a:t>
            </a:r>
            <a:endParaRPr lang="en-US" sz="1700" dirty="0"/>
          </a:p>
        </p:txBody>
      </p:sp>
      <p:sp>
        <p:nvSpPr>
          <p:cNvPr id="13" name="Text 11"/>
          <p:cNvSpPr/>
          <p:nvPr/>
        </p:nvSpPr>
        <p:spPr>
          <a:xfrm>
            <a:off x="558800" y="415163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4" name="Text 12"/>
          <p:cNvSpPr/>
          <p:nvPr/>
        </p:nvSpPr>
        <p:spPr>
          <a:xfrm>
            <a:off x="927100" y="4151630"/>
            <a:ext cx="9156700" cy="753110"/>
          </a:xfrm>
          <a:prstGeom prst="rect">
            <a:avLst/>
          </a:prstGeom>
          <a:noFill/>
          <a:ln/>
        </p:spPr>
        <p:txBody>
          <a:bodyPr wrap="square" lIns="0" tIns="0" rIns="0" bIns="0" rtlCol="0" anchor="t"/>
          <a:lstStyle/>
          <a:p>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From AI-DLC, published by AWS in 2025. Its one rule: the AI proposes, and a human approves.</a:t>
            </a:r>
            <a:endParaRPr lang="en-US" sz="17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5F2EC"/>
        </a:solidFill>
      </p:bgPr>
    </p:bg>
    <p:spTree>
      <p:nvGrpSpPr>
        <p:cNvPr id="1" name=""/>
        <p:cNvGrpSpPr/>
        <p:nvPr/>
      </p:nvGrpSpPr>
      <p:grpSpPr>
        <a:xfrm>
          <a:off x="0" y="0"/>
          <a:ext cx="0" cy="0"/>
          <a:chOff x="0" y="0"/>
          <a:chExt cx="0" cy="0"/>
        </a:xfrm>
      </p:grpSpPr>
      <p:sp>
        <p:nvSpPr>
          <p:cNvPr id="2" name="Text 0"/>
          <p:cNvSpPr/>
          <p:nvPr/>
        </p:nvSpPr>
        <p:spPr>
          <a:xfrm>
            <a:off x="558800" y="2286000"/>
            <a:ext cx="11074400" cy="254000"/>
          </a:xfrm>
          <a:prstGeom prst="rect">
            <a:avLst/>
          </a:prstGeom>
          <a:noFill/>
          <a:ln/>
        </p:spPr>
        <p:txBody>
          <a:bodyPr wrap="square" lIns="0" tIns="0" rIns="0" bIns="0" rtlCol="0" anchor="t"/>
          <a:lstStyle/>
          <a:p>
            <a:pPr algn="l" indent="0" marL="0">
              <a:lnSpc>
                <a:spcPct val="145000"/>
              </a:lnSpc>
              <a:buNone/>
            </a:pPr>
            <a:r>
              <a:rPr lang="en-US" sz="1300" spc="182" kern="0" dirty="0">
                <a:solidFill>
                  <a:srgbClr val="A87A2E"/>
                </a:solidFill>
                <a:latin typeface="IBM Plex Mono" pitchFamily="34" charset="0"/>
                <a:ea typeface="IBM Plex Mono" pitchFamily="34" charset="-122"/>
                <a:cs typeface="IBM Plex Mono" pitchFamily="34" charset="-120"/>
              </a:rPr>
              <a:t>SECTION 05</a:t>
            </a:r>
            <a:endParaRPr lang="en-US" sz="1300" dirty="0"/>
          </a:p>
        </p:txBody>
      </p:sp>
      <p:sp>
        <p:nvSpPr>
          <p:cNvPr id="3" name="Text 1"/>
          <p:cNvSpPr/>
          <p:nvPr/>
        </p:nvSpPr>
        <p:spPr>
          <a:xfrm>
            <a:off x="558800" y="2667000"/>
            <a:ext cx="8255000" cy="1206500"/>
          </a:xfrm>
          <a:prstGeom prst="rect">
            <a:avLst/>
          </a:prstGeom>
          <a:noFill/>
          <a:ln/>
        </p:spPr>
        <p:txBody>
          <a:bodyPr wrap="square" lIns="0" tIns="0" rIns="0" bIns="0" rtlCol="0" anchor="t"/>
          <a:lstStyle/>
          <a:p>
            <a:pPr algn="l" indent="0" marL="0">
              <a:lnSpc>
                <a:spcPct val="108000"/>
              </a:lnSpc>
              <a:buNone/>
            </a:pPr>
            <a:r>
              <a:rPr lang="en-US" sz="4000" b="1" dirty="0">
                <a:solidFill>
                  <a:srgbClr val="332F2A"/>
                </a:solidFill>
                <a:latin typeface="Libre Franklin" pitchFamily="34" charset="0"/>
                <a:ea typeface="Libre Franklin" pitchFamily="34" charset="-122"/>
                <a:cs typeface="Libre Franklin" pitchFamily="34" charset="-120"/>
              </a:rPr>
              <a:t>Lab 1 — the same app, done properly</a:t>
            </a:r>
            <a:endParaRPr lang="en-US" sz="4000" dirty="0"/>
          </a:p>
        </p:txBody>
      </p:sp>
      <p:sp>
        <p:nvSpPr>
          <p:cNvPr id="4" name="Text 2"/>
          <p:cNvSpPr/>
          <p:nvPr/>
        </p:nvSpPr>
        <p:spPr>
          <a:xfrm>
            <a:off x="558800" y="4064000"/>
            <a:ext cx="6985000" cy="635000"/>
          </a:xfrm>
          <a:prstGeom prst="rect">
            <a:avLst/>
          </a:prstGeom>
          <a:noFill/>
          <a:ln/>
        </p:spPr>
        <p:txBody>
          <a:bodyPr wrap="square" lIns="0" tIns="0" rIns="0" bIns="0" rtlCol="0" anchor="t"/>
          <a:lstStyle/>
          <a:p>
            <a:pPr algn="l" indent="0" marL="0">
              <a:lnSpc>
                <a:spcPct val="140000"/>
              </a:lnSpc>
              <a:buNone/>
            </a:pPr>
            <a:r>
              <a:rPr lang="en-US" sz="1700" dirty="0">
                <a:solidFill>
                  <a:srgbClr val="77726A"/>
                </a:solidFill>
                <a:latin typeface="Libre Franklin" pitchFamily="34" charset="0"/>
                <a:ea typeface="Libre Franklin" pitchFamily="34" charset="-122"/>
                <a:cs typeface="Libre Franklin" pitchFamily="34" charset="-120"/>
              </a:rPr>
              <a:t>Delete the warm-up and build it again through the gates. Instructions in labs/LAB1.md. 70 minutes.</a:t>
            </a:r>
            <a:endParaRPr lang="en-US" sz="17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WORKSHOP 05</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What is already in your repository</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30</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app.py             run this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pages/             ONE FILE per feature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core/spectrum.py   &lt;- you build this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core/llm.py        AI slot, empty till S3</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tests/             &lt;- your specification</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aidlc/             the four gate documents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.clinerules        rules your agent obeys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.clinerules.gates  the strict version</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.env               your keys. never commit</a:t>
            </a:r>
            <a:endParaRPr lang="en-US" sz="1400" dirty="0"/>
          </a:p>
        </p:txBody>
      </p:sp>
      <p:sp>
        <p:nvSpPr>
          <p:cNvPr id="9" name="Text 7"/>
          <p:cNvSpPr/>
          <p:nvPr/>
        </p:nvSpPr>
        <p:spPr>
          <a:xfrm>
            <a:off x="7431430" y="1511300"/>
            <a:ext cx="4201770" cy="189484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Three minutes reading this saves you twenty later. The one to open now is .clinerules — plain English in a plain file, and your agent obeys it before every single request.</a:t>
            </a:r>
            <a:endParaRPr lang="en-US" sz="1600" dirty="0"/>
          </a:p>
        </p:txBody>
      </p:sp>
      <p:sp>
        <p:nvSpPr>
          <p:cNvPr id="10" name="Text 8"/>
          <p:cNvSpPr/>
          <p:nvPr/>
        </p:nvSpPr>
        <p:spPr>
          <a:xfrm>
            <a:off x="7431430" y="353314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Leave tests/ shut for the moment. You meet it at Gate 2, which is the point where it does the most good.</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One feature, one file. In Session 2 that is what lets four people build at once.</a:t>
            </a:r>
            <a:endParaRPr lang="en-US" sz="15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WORKSHOP 05</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What you are building</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31</a:t>
            </a:r>
            <a:endParaRPr lang="en-US" sz="1200" dirty="0"/>
          </a:p>
        </p:txBody>
      </p:sp>
      <p:pic>
        <p:nvPicPr>
          <p:cNvPr id="7" name="Image 0" descr="figures/fig-spectrum.png">    </p:cNvPr>
          <p:cNvPicPr>
            <a:picLocks noChangeAspect="1"/>
          </p:cNvPicPr>
          <p:nvPr/>
        </p:nvPicPr>
        <p:blipFill>
          <a:blip r:embed="rId1"/>
          <a:srcRect l="0" r="0" t="0" b="0"/>
          <a:stretch/>
        </p:blipFill>
        <p:spPr>
          <a:xfrm>
            <a:off x="558800" y="1511300"/>
            <a:ext cx="6134100" cy="4572000"/>
          </a:xfrm>
          <a:prstGeom prst="rect">
            <a:avLst/>
          </a:prstGeom>
        </p:spPr>
      </p:pic>
      <p:sp>
        <p:nvSpPr>
          <p:cNvPr id="8" name="Text 5"/>
          <p:cNvSpPr/>
          <p:nvPr/>
        </p:nvSpPr>
        <p:spPr>
          <a:xfrm>
            <a:off x="7099300" y="1511300"/>
            <a:ext cx="4533900" cy="130556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Two sine waves in, and a chart that finds them again: spikes at exactly the frequencies you chose, at exactly the heights you set.</a:t>
            </a:r>
            <a:endParaRPr lang="en-US" sz="1600" dirty="0"/>
          </a:p>
        </p:txBody>
      </p:sp>
      <p:sp>
        <p:nvSpPr>
          <p:cNvPr id="9" name="Text 6"/>
          <p:cNvSpPr/>
          <p:nvPr/>
        </p:nvSpPr>
        <p:spPr>
          <a:xfrm>
            <a:off x="7099300" y="2943860"/>
            <a:ext cx="453390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The heights are the check. A spectrum can put every spike in the right place and still be wrong by a factor of five hundred.</a:t>
            </a:r>
            <a:endParaRPr lang="en-US" sz="1600" dirty="0"/>
          </a:p>
        </p:txBody>
      </p:sp>
      <p:sp>
        <p:nvSpPr>
          <p:cNvPr id="10" name="Text 7"/>
          <p:cNvSpPr/>
          <p:nvPr/>
        </p:nvSpPr>
        <p:spPr>
          <a:xfrm>
            <a:off x="7099300" y="5956300"/>
            <a:ext cx="45339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Fig. 6 — output of pages/2_Spectrum_Analyzer.py</a:t>
            </a:r>
            <a:endParaRPr lang="en-US" sz="12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WORKSHOP 05</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What goes in, what must come out</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32</a:t>
            </a:r>
            <a:endParaRPr lang="en-US" sz="1200" dirty="0"/>
          </a:p>
        </p:txBody>
      </p:sp>
      <p:sp>
        <p:nvSpPr>
          <p:cNvPr id="7" name="Text 5"/>
          <p:cNvSpPr/>
          <p:nvPr/>
        </p:nvSpPr>
        <p:spPr>
          <a:xfrm>
            <a:off x="558800" y="1511300"/>
            <a:ext cx="5283200" cy="254000"/>
          </a:xfrm>
          <a:prstGeom prst="rect">
            <a:avLst/>
          </a:prstGeom>
          <a:noFill/>
          <a:ln/>
        </p:spPr>
        <p:txBody>
          <a:bodyPr wrap="square" lIns="0" tIns="0" rIns="0" bIns="0" rtlCol="0" anchor="t"/>
          <a:lstStyle/>
          <a:p>
            <a:pPr algn="l" indent="0" marL="0">
              <a:lnSpc>
                <a:spcPct val="145000"/>
              </a:lnSpc>
              <a:buNone/>
            </a:pPr>
            <a:r>
              <a:rPr lang="en-US" sz="1300" spc="130" kern="0" dirty="0">
                <a:solidFill>
                  <a:srgbClr val="A87A2E"/>
                </a:solidFill>
                <a:latin typeface="IBM Plex Mono" pitchFamily="34" charset="0"/>
                <a:ea typeface="IBM Plex Mono" pitchFamily="34" charset="-122"/>
                <a:cs typeface="IBM Plex Mono" pitchFamily="34" charset="-120"/>
              </a:rPr>
              <a:t>INPUT</a:t>
            </a:r>
            <a:endParaRPr lang="en-US" sz="1300" dirty="0"/>
          </a:p>
        </p:txBody>
      </p:sp>
      <p:sp>
        <p:nvSpPr>
          <p:cNvPr id="8" name="Text 6"/>
          <p:cNvSpPr/>
          <p:nvPr/>
        </p:nvSpPr>
        <p:spPr>
          <a:xfrm>
            <a:off x="558800" y="19177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Two tones, each with a frequency in hertz and an amplitude. A sampling rate in samples per second, and a duration.</a:t>
            </a:r>
            <a:endParaRPr lang="en-US" sz="1600" dirty="0"/>
          </a:p>
        </p:txBody>
      </p:sp>
      <p:sp>
        <p:nvSpPr>
          <p:cNvPr id="9" name="Text 7"/>
          <p:cNvSpPr/>
          <p:nvPr/>
        </p:nvSpPr>
        <p:spPr>
          <a:xfrm>
            <a:off x="558800" y="31623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These must work: 50 Hz at 1.0 and 120 Hz at 0.5, sampled at 1000 for one second. They are the numbers the tests use.</a:t>
            </a:r>
            <a:endParaRPr lang="en-US" sz="1600" dirty="0"/>
          </a:p>
        </p:txBody>
      </p:sp>
      <p:sp>
        <p:nvSpPr>
          <p:cNvPr id="10" name="Text 8"/>
          <p:cNvSpPr/>
          <p:nvPr/>
        </p:nvSpPr>
        <p:spPr>
          <a:xfrm>
            <a:off x="6350000" y="1511300"/>
            <a:ext cx="5283200" cy="254000"/>
          </a:xfrm>
          <a:prstGeom prst="rect">
            <a:avLst/>
          </a:prstGeom>
          <a:noFill/>
          <a:ln/>
        </p:spPr>
        <p:txBody>
          <a:bodyPr wrap="square" lIns="0" tIns="0" rIns="0" bIns="0" rtlCol="0" anchor="t"/>
          <a:lstStyle/>
          <a:p>
            <a:pPr algn="l" indent="0" marL="0">
              <a:lnSpc>
                <a:spcPct val="145000"/>
              </a:lnSpc>
              <a:buNone/>
            </a:pPr>
            <a:r>
              <a:rPr lang="en-US" sz="1300" spc="130" kern="0" dirty="0">
                <a:solidFill>
                  <a:srgbClr val="A87A2E"/>
                </a:solidFill>
                <a:latin typeface="IBM Plex Mono" pitchFamily="34" charset="0"/>
                <a:ea typeface="IBM Plex Mono" pitchFamily="34" charset="-122"/>
                <a:cs typeface="IBM Plex Mono" pitchFamily="34" charset="-120"/>
              </a:rPr>
              <a:t>OUTPUT</a:t>
            </a:r>
            <a:endParaRPr lang="en-US" sz="1300" dirty="0"/>
          </a:p>
        </p:txBody>
      </p:sp>
      <p:sp>
        <p:nvSpPr>
          <p:cNvPr id="11" name="Text 9"/>
          <p:cNvSpPr/>
          <p:nvPr/>
        </p:nvSpPr>
        <p:spPr>
          <a:xfrm>
            <a:off x="6350000" y="19177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The combined waveform against time, and beside it the spectrum: one spike per tone, at the right frequency and at the right height.</a:t>
            </a:r>
            <a:endParaRPr lang="en-US" sz="1600" dirty="0"/>
          </a:p>
        </p:txBody>
      </p:sp>
      <p:sp>
        <p:nvSpPr>
          <p:cNvPr id="12" name="Text 10"/>
          <p:cNvSpPr/>
          <p:nvPr/>
        </p:nvSpPr>
        <p:spPr>
          <a:xfrm>
            <a:off x="6350000" y="31623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Plus the strongest frequency printed as a number. Seven tests in tests/test_spectrum.py decide whether any of it is right.</a:t>
            </a:r>
            <a:endParaRPr lang="en-US" sz="16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WORKSHOP 05</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Your customer wrote the tests</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33</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tests/test_spectrum.py</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def test_a_one_volt_sine_shows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_an_amplitude_of_one():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_, sig = make_signal(</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[(50.0, 1.0)], FS, DURATION)</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f, mag = spectrum(sig, FS)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assert mag[argmax(mag)] == approx(</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1.0, abs=0.001)</a:t>
            </a:r>
            <a:endParaRPr lang="en-US" sz="1400" dirty="0"/>
          </a:p>
        </p:txBody>
      </p:sp>
      <p:sp>
        <p:nvSpPr>
          <p:cNvPr id="9" name="Text 7"/>
          <p:cNvSpPr/>
          <p:nvPr/>
        </p:nvSpPr>
        <p:spPr>
          <a:xfrm>
            <a:off x="7431430" y="1511300"/>
            <a:ext cx="4201770" cy="101092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Seven tests are already in your repository. Your app is finished when they pass.</a:t>
            </a:r>
            <a:endParaRPr lang="en-US" sz="1600" dirty="0"/>
          </a:p>
        </p:txBody>
      </p:sp>
      <p:sp>
        <p:nvSpPr>
          <p:cNvPr id="10" name="Text 8"/>
          <p:cNvSpPr/>
          <p:nvPr/>
        </p:nvSpPr>
        <p:spPr>
          <a:xfrm>
            <a:off x="7431430" y="264922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Before you read them, write down in your own words how you would check the chart is right. Then compare.</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A spectrum can have every peak in exactly the right place and still be wrong by a factor of five hundred.</a:t>
            </a:r>
            <a:endParaRPr lang="en-US" sz="15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06</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Read the reference before you leave</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34</a:t>
            </a:r>
            <a:endParaRPr lang="en-US" sz="1200" dirty="0"/>
          </a:p>
        </p:txBody>
      </p:sp>
      <p:sp>
        <p:nvSpPr>
          <p:cNvPr id="7" name="Text 5"/>
          <p:cNvSpPr/>
          <p:nvPr/>
        </p:nvSpPr>
        <p:spPr>
          <a:xfrm>
            <a:off x="558800" y="151130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8" name="Text 6"/>
          <p:cNvSpPr/>
          <p:nvPr/>
        </p:nvSpPr>
        <p:spPr>
          <a:xfrm>
            <a:off x="927100" y="151130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Everyone does this,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whether your own version works or not. The prompts are in labs/EXPLAIN.md.</a:t>
            </a:r>
            <a:endParaRPr lang="en-US" sz="1700" dirty="0"/>
          </a:p>
        </p:txBody>
      </p:sp>
      <p:sp>
        <p:nvSpPr>
          <p:cNvPr id="9" name="Text 7"/>
          <p:cNvSpPr/>
          <p:nvPr/>
        </p:nvSpPr>
        <p:spPr>
          <a:xfrm>
            <a:off x="558800" y="239141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0" name="Text 8"/>
          <p:cNvSpPr/>
          <p:nvPr/>
        </p:nvSpPr>
        <p:spPr>
          <a:xfrm>
            <a:off x="927100" y="239141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Ask it to break the code.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Change the 2/n to 1/n, run the tests, watch which two fail, then change it back.</a:t>
            </a:r>
            <a:endParaRPr lang="en-US" sz="1700" dirty="0"/>
          </a:p>
        </p:txBody>
      </p:sp>
      <p:sp>
        <p:nvSpPr>
          <p:cNvPr id="11" name="Text 9"/>
          <p:cNvSpPr/>
          <p:nvPr/>
        </p:nvSpPr>
        <p:spPr>
          <a:xfrm>
            <a:off x="558800" y="327152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2" name="Text 10"/>
          <p:cNvSpPr/>
          <p:nvPr/>
        </p:nvSpPr>
        <p:spPr>
          <a:xfrm>
            <a:off x="927100" y="327152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Nothing here edits your work,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so none of it can break your project. Explaining is the safest thing an agent does.</a:t>
            </a:r>
            <a:endParaRPr lang="en-US" sz="1700" dirty="0"/>
          </a:p>
        </p:txBody>
      </p:sp>
      <p:sp>
        <p:nvSpPr>
          <p:cNvPr id="13" name="Text 11"/>
          <p:cNvSpPr/>
          <p:nvPr/>
        </p:nvSpPr>
        <p:spPr>
          <a:xfrm>
            <a:off x="558800" y="415163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4" name="Text 12"/>
          <p:cNvSpPr/>
          <p:nvPr/>
        </p:nvSpPr>
        <p:spPr>
          <a:xfrm>
            <a:off x="927100" y="4151630"/>
            <a:ext cx="9156700" cy="753110"/>
          </a:xfrm>
          <a:prstGeom prst="rect">
            <a:avLst/>
          </a:prstGeom>
          <a:noFill/>
          <a:ln/>
        </p:spPr>
        <p:txBody>
          <a:bodyPr wrap="square" lIns="0" tIns="0" rIns="0" bIns="0" rtlCol="0" anchor="t"/>
          <a:lstStyle/>
          <a:p>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Reading code you did not write, with an AI explaining it, is the most common way these tools are used at work.</a:t>
            </a:r>
            <a:endParaRPr lang="en-US" sz="17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06</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The files a person writes at work</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35</a:t>
            </a:r>
            <a:endParaRPr lang="en-US" sz="1200" dirty="0"/>
          </a:p>
        </p:txBody>
      </p:sp>
      <p:sp>
        <p:nvSpPr>
          <p:cNvPr id="7" name="Text 5"/>
          <p:cNvSpPr/>
          <p:nvPr/>
        </p:nvSpPr>
        <p:spPr>
          <a:xfrm>
            <a:off x="558800" y="151130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8" name="Text 6"/>
          <p:cNvSpPr/>
          <p:nvPr/>
        </p:nvSpPr>
        <p:spPr>
          <a:xfrm>
            <a:off x="927100" y="151130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Open the four you approved.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aidlc/intent.md, requirements.md, design.md and tasks.md — read them as one set, in order.</a:t>
            </a:r>
            <a:endParaRPr lang="en-US" sz="1700" dirty="0"/>
          </a:p>
        </p:txBody>
      </p:sp>
      <p:sp>
        <p:nvSpPr>
          <p:cNvPr id="9" name="Text 7"/>
          <p:cNvSpPr/>
          <p:nvPr/>
        </p:nvSpPr>
        <p:spPr>
          <a:xfrm>
            <a:off x="558800" y="239141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0" name="Text 8"/>
          <p:cNvSpPr/>
          <p:nvPr/>
        </p:nvSpPr>
        <p:spPr>
          <a:xfrm>
            <a:off x="927100" y="239141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In a real team a person writes these.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A product owner or tech lead drafts the intent and spec. The agent drafting them is a start, not a replacement.</a:t>
            </a:r>
            <a:endParaRPr lang="en-US" sz="1700" dirty="0"/>
          </a:p>
        </p:txBody>
      </p:sp>
      <p:sp>
        <p:nvSpPr>
          <p:cNvPr id="11" name="Text 9"/>
          <p:cNvSpPr/>
          <p:nvPr/>
        </p:nvSpPr>
        <p:spPr>
          <a:xfrm>
            <a:off x="558800" y="327152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2" name="Text 10"/>
          <p:cNvSpPr/>
          <p:nvPr/>
        </p:nvSpPr>
        <p:spPr>
          <a:xfrm>
            <a:off x="927100" y="327152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Which is why you approved each one.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Everything built today came out of those four files. A wrong line there becomes a wrong app, quickly and cheaply.</a:t>
            </a:r>
            <a:endParaRPr lang="en-US" sz="1700" dirty="0"/>
          </a:p>
        </p:txBody>
      </p:sp>
      <p:sp>
        <p:nvSpPr>
          <p:cNvPr id="13" name="Text 11"/>
          <p:cNvSpPr/>
          <p:nvPr/>
        </p:nvSpPr>
        <p:spPr>
          <a:xfrm>
            <a:off x="558800" y="415163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4" name="Text 12"/>
          <p:cNvSpPr/>
          <p:nvPr/>
        </p:nvSpPr>
        <p:spPr>
          <a:xfrm>
            <a:off x="927100" y="4151630"/>
            <a:ext cx="9156700" cy="753110"/>
          </a:xfrm>
          <a:prstGeom prst="rect">
            <a:avLst/>
          </a:prstGeom>
          <a:noFill/>
          <a:ln/>
        </p:spPr>
        <p:txBody>
          <a:bodyPr wrap="square" lIns="0" tIns="0" rIns="0" bIns="0" rtlCol="0" anchor="t"/>
          <a:lstStyle/>
          <a:p>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labs/PROMPTS.md explains why each prompt is worded the way it is. Read it before Session 2 — you will be writing your own.</a:t>
            </a:r>
            <a:endParaRPr lang="en-US" sz="17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5F2EC"/>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SESSION 01</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What to take away</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36</a:t>
            </a:r>
            <a:endParaRPr lang="en-US" sz="1200" dirty="0"/>
          </a:p>
        </p:txBody>
      </p:sp>
      <p:sp>
        <p:nvSpPr>
          <p:cNvPr id="7" name="Text 5"/>
          <p:cNvSpPr/>
          <p:nvPr/>
        </p:nvSpPr>
        <p:spPr>
          <a:xfrm>
            <a:off x="558800" y="1511300"/>
            <a:ext cx="444500" cy="317500"/>
          </a:xfrm>
          <a:prstGeom prst="rect">
            <a:avLst/>
          </a:prstGeom>
          <a:noFill/>
          <a:ln/>
        </p:spPr>
        <p:txBody>
          <a:bodyPr wrap="square" lIns="0" tIns="0" rIns="0" bIns="0" rtlCol="0" anchor="t"/>
          <a:lstStyle/>
          <a:p>
            <a:pPr algn="l" indent="0" marL="0">
              <a:lnSpc>
                <a:spcPct val="145000"/>
              </a:lnSpc>
              <a:buNone/>
            </a:pPr>
            <a:r>
              <a:rPr lang="en-US" sz="1700" dirty="0">
                <a:solidFill>
                  <a:srgbClr val="A87A2E"/>
                </a:solidFill>
                <a:latin typeface="IBM Plex Mono" pitchFamily="34" charset="0"/>
                <a:ea typeface="IBM Plex Mono" pitchFamily="34" charset="-122"/>
                <a:cs typeface="IBM Plex Mono" pitchFamily="34" charset="-120"/>
              </a:rPr>
              <a:t>01</a:t>
            </a:r>
            <a:endParaRPr lang="en-US" sz="1700" dirty="0"/>
          </a:p>
        </p:txBody>
      </p:sp>
      <p:sp>
        <p:nvSpPr>
          <p:cNvPr id="8" name="Text 6"/>
          <p:cNvSpPr/>
          <p:nvPr/>
        </p:nvSpPr>
        <p:spPr>
          <a:xfrm>
            <a:off x="1003300" y="1498600"/>
            <a:ext cx="9461500" cy="447040"/>
          </a:xfrm>
          <a:prstGeom prst="rect">
            <a:avLst/>
          </a:prstGeom>
          <a:noFill/>
          <a:ln/>
        </p:spPr>
        <p:txBody>
          <a:bodyPr wrap="square" lIns="0" tIns="0" rIns="0" bIns="0" rtlCol="0" anchor="t"/>
          <a:lstStyle/>
          <a:p>
            <a:pPr algn="l" indent="0" marL="0">
              <a:lnSpc>
                <a:spcPct val="140000"/>
              </a:lnSpc>
              <a:buNone/>
            </a:pPr>
            <a:r>
              <a:rPr lang="en-US" sz="1800" dirty="0">
                <a:solidFill>
                  <a:srgbClr val="332F2A"/>
                </a:solidFill>
                <a:latin typeface="Libre Franklin" pitchFamily="34" charset="0"/>
                <a:ea typeface="Libre Franklin" pitchFamily="34" charset="-122"/>
                <a:cs typeface="Libre Franklin" pitchFamily="34" charset="-120"/>
              </a:rPr>
              <a:t>An agent is a harness driving a model. Knowing which half broke is half the fix.</a:t>
            </a:r>
            <a:endParaRPr lang="en-US" sz="1800" dirty="0"/>
          </a:p>
        </p:txBody>
      </p:sp>
      <p:sp>
        <p:nvSpPr>
          <p:cNvPr id="9" name="Text 7"/>
          <p:cNvSpPr/>
          <p:nvPr/>
        </p:nvSpPr>
        <p:spPr>
          <a:xfrm>
            <a:off x="558800" y="2110740"/>
            <a:ext cx="444500" cy="317500"/>
          </a:xfrm>
          <a:prstGeom prst="rect">
            <a:avLst/>
          </a:prstGeom>
          <a:noFill/>
          <a:ln/>
        </p:spPr>
        <p:txBody>
          <a:bodyPr wrap="square" lIns="0" tIns="0" rIns="0" bIns="0" rtlCol="0" anchor="t"/>
          <a:lstStyle/>
          <a:p>
            <a:pPr algn="l" indent="0" marL="0">
              <a:lnSpc>
                <a:spcPct val="145000"/>
              </a:lnSpc>
              <a:buNone/>
            </a:pPr>
            <a:r>
              <a:rPr lang="en-US" sz="1700" dirty="0">
                <a:solidFill>
                  <a:srgbClr val="A87A2E"/>
                </a:solidFill>
                <a:latin typeface="IBM Plex Mono" pitchFamily="34" charset="0"/>
                <a:ea typeface="IBM Plex Mono" pitchFamily="34" charset="-122"/>
                <a:cs typeface="IBM Plex Mono" pitchFamily="34" charset="-120"/>
              </a:rPr>
              <a:t>02</a:t>
            </a:r>
            <a:endParaRPr lang="en-US" sz="1700" dirty="0"/>
          </a:p>
        </p:txBody>
      </p:sp>
      <p:sp>
        <p:nvSpPr>
          <p:cNvPr id="10" name="Text 8"/>
          <p:cNvSpPr/>
          <p:nvPr/>
        </p:nvSpPr>
        <p:spPr>
          <a:xfrm>
            <a:off x="1003300" y="2098040"/>
            <a:ext cx="9461500" cy="447040"/>
          </a:xfrm>
          <a:prstGeom prst="rect">
            <a:avLst/>
          </a:prstGeom>
          <a:noFill/>
          <a:ln/>
        </p:spPr>
        <p:txBody>
          <a:bodyPr wrap="square" lIns="0" tIns="0" rIns="0" bIns="0" rtlCol="0" anchor="t"/>
          <a:lstStyle/>
          <a:p>
            <a:pPr algn="l" indent="0" marL="0">
              <a:lnSpc>
                <a:spcPct val="140000"/>
              </a:lnSpc>
              <a:buNone/>
            </a:pPr>
            <a:r>
              <a:rPr lang="en-US" sz="1800" dirty="0">
                <a:solidFill>
                  <a:srgbClr val="332F2A"/>
                </a:solidFill>
                <a:latin typeface="Libre Franklin" pitchFamily="34" charset="0"/>
                <a:ea typeface="Libre Franklin" pitchFamily="34" charset="-122"/>
                <a:cs typeface="Libre Franklin" pitchFamily="34" charset="-120"/>
              </a:rPr>
              <a:t>A requirement you cannot check by running something is not a requirement yet.</a:t>
            </a:r>
            <a:endParaRPr lang="en-US" sz="1800" dirty="0"/>
          </a:p>
        </p:txBody>
      </p:sp>
      <p:sp>
        <p:nvSpPr>
          <p:cNvPr id="11" name="Text 9"/>
          <p:cNvSpPr/>
          <p:nvPr/>
        </p:nvSpPr>
        <p:spPr>
          <a:xfrm>
            <a:off x="558800" y="2710180"/>
            <a:ext cx="444500" cy="317500"/>
          </a:xfrm>
          <a:prstGeom prst="rect">
            <a:avLst/>
          </a:prstGeom>
          <a:noFill/>
          <a:ln/>
        </p:spPr>
        <p:txBody>
          <a:bodyPr wrap="square" lIns="0" tIns="0" rIns="0" bIns="0" rtlCol="0" anchor="t"/>
          <a:lstStyle/>
          <a:p>
            <a:pPr algn="l" indent="0" marL="0">
              <a:lnSpc>
                <a:spcPct val="145000"/>
              </a:lnSpc>
              <a:buNone/>
            </a:pPr>
            <a:r>
              <a:rPr lang="en-US" sz="1700" dirty="0">
                <a:solidFill>
                  <a:srgbClr val="A87A2E"/>
                </a:solidFill>
                <a:latin typeface="IBM Plex Mono" pitchFamily="34" charset="0"/>
                <a:ea typeface="IBM Plex Mono" pitchFamily="34" charset="-122"/>
                <a:cs typeface="IBM Plex Mono" pitchFamily="34" charset="-120"/>
              </a:rPr>
              <a:t>03</a:t>
            </a:r>
            <a:endParaRPr lang="en-US" sz="1700" dirty="0"/>
          </a:p>
        </p:txBody>
      </p:sp>
      <p:sp>
        <p:nvSpPr>
          <p:cNvPr id="12" name="Text 10"/>
          <p:cNvSpPr/>
          <p:nvPr/>
        </p:nvSpPr>
        <p:spPr>
          <a:xfrm>
            <a:off x="1003300" y="2697480"/>
            <a:ext cx="9461500" cy="447040"/>
          </a:xfrm>
          <a:prstGeom prst="rect">
            <a:avLst/>
          </a:prstGeom>
          <a:noFill/>
          <a:ln/>
        </p:spPr>
        <p:txBody>
          <a:bodyPr wrap="square" lIns="0" tIns="0" rIns="0" bIns="0" rtlCol="0" anchor="t"/>
          <a:lstStyle/>
          <a:p>
            <a:pPr algn="l" indent="0" marL="0">
              <a:lnSpc>
                <a:spcPct val="140000"/>
              </a:lnSpc>
              <a:buNone/>
            </a:pPr>
            <a:r>
              <a:rPr lang="en-US" sz="1800" dirty="0">
                <a:solidFill>
                  <a:srgbClr val="332F2A"/>
                </a:solidFill>
                <a:latin typeface="Libre Franklin" pitchFamily="34" charset="0"/>
                <a:ea typeface="Libre Franklin" pitchFamily="34" charset="-122"/>
                <a:cs typeface="Libre Franklin" pitchFamily="34" charset="-120"/>
              </a:rPr>
              <a:t>Looking right and being right differ, and only one of them survives a test.</a:t>
            </a:r>
            <a:endParaRPr lang="en-US" sz="18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609600"/>
            <a:ext cx="11074400" cy="254000"/>
          </a:xfrm>
          <a:prstGeom prst="rect">
            <a:avLst/>
          </a:prstGeom>
          <a:noFill/>
          <a:ln/>
        </p:spPr>
        <p:txBody>
          <a:bodyPr wrap="square" lIns="0" tIns="0" rIns="0" bIns="0" rtlCol="0" anchor="t"/>
          <a:lstStyle/>
          <a:p>
            <a:pPr algn="l" indent="0" marL="0">
              <a:lnSpc>
                <a:spcPct val="145000"/>
              </a:lnSpc>
              <a:buNone/>
            </a:pPr>
            <a:r>
              <a:rPr lang="en-US" sz="1300" spc="182" kern="0" dirty="0">
                <a:solidFill>
                  <a:srgbClr val="A87A2E"/>
                </a:solidFill>
                <a:latin typeface="IBM Plex Mono" pitchFamily="34" charset="0"/>
                <a:ea typeface="IBM Plex Mono" pitchFamily="34" charset="-122"/>
                <a:cs typeface="IBM Plex Mono" pitchFamily="34" charset="-120"/>
              </a:rPr>
              <a:t>QUESTIONS</a:t>
            </a:r>
            <a:endParaRPr lang="en-US" sz="1300" dirty="0"/>
          </a:p>
        </p:txBody>
      </p:sp>
      <p:sp>
        <p:nvSpPr>
          <p:cNvPr id="3" name="Text 1"/>
          <p:cNvSpPr/>
          <p:nvPr/>
        </p:nvSpPr>
        <p:spPr>
          <a:xfrm>
            <a:off x="558800" y="3048000"/>
            <a:ext cx="5283200" cy="1524000"/>
          </a:xfrm>
          <a:prstGeom prst="rect">
            <a:avLst/>
          </a:prstGeom>
          <a:noFill/>
          <a:ln/>
        </p:spPr>
        <p:txBody>
          <a:bodyPr wrap="square" lIns="0" tIns="0" rIns="0" bIns="0" rtlCol="0" anchor="t"/>
          <a:lstStyle/>
          <a:p>
            <a:pPr algn="l" indent="0" marL="0">
              <a:lnSpc>
                <a:spcPct val="108000"/>
              </a:lnSpc>
              <a:buNone/>
            </a:pPr>
            <a:r>
              <a:rPr lang="en-US" sz="4000" b="1" dirty="0">
                <a:solidFill>
                  <a:srgbClr val="332F2A"/>
                </a:solidFill>
                <a:latin typeface="Libre Franklin" pitchFamily="34" charset="0"/>
                <a:ea typeface="Libre Franklin" pitchFamily="34" charset="-122"/>
                <a:cs typeface="Libre Franklin" pitchFamily="34" charset="-120"/>
              </a:rPr>
              <a:t>What did your agent get wrong?</a:t>
            </a:r>
            <a:endParaRPr lang="en-US" sz="4000" dirty="0"/>
          </a:p>
        </p:txBody>
      </p:sp>
      <p:sp>
        <p:nvSpPr>
          <p:cNvPr id="4" name="Text 2"/>
          <p:cNvSpPr/>
          <p:nvPr/>
        </p:nvSpPr>
        <p:spPr>
          <a:xfrm>
            <a:off x="6350000" y="3556000"/>
            <a:ext cx="5283200" cy="39624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Finish and deploy Lab 1 if it is not live yet</a:t>
            </a:r>
            <a:endParaRPr lang="en-US" sz="1600" dirty="0"/>
          </a:p>
        </p:txBody>
      </p:sp>
      <p:sp>
        <p:nvSpPr>
          <p:cNvPr id="5" name="Text 3"/>
          <p:cNvSpPr/>
          <p:nvPr/>
        </p:nvSpPr>
        <p:spPr>
          <a:xfrm>
            <a:off x="6350000" y="3975100"/>
            <a:ext cx="5283200" cy="39624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Read the AI-DLC notes before Session 2</a:t>
            </a:r>
            <a:endParaRPr lang="en-US" sz="1600" dirty="0"/>
          </a:p>
        </p:txBody>
      </p:sp>
      <p:sp>
        <p:nvSpPr>
          <p:cNvPr id="6" name="Text 4"/>
          <p:cNvSpPr/>
          <p:nvPr/>
        </p:nvSpPr>
        <p:spPr>
          <a:xfrm>
            <a:off x="6350000" y="4508500"/>
            <a:ext cx="5283200" cy="254000"/>
          </a:xfrm>
          <a:prstGeom prst="rect">
            <a:avLst/>
          </a:prstGeom>
          <a:noFill/>
          <a:ln/>
        </p:spPr>
        <p:txBody>
          <a:bodyPr wrap="square" lIns="0" tIns="0" rIns="0" bIns="0" rtlCol="0" anchor="t"/>
          <a:lstStyle/>
          <a:p>
            <a:pPr algn="l" indent="0" marL="0">
              <a:lnSpc>
                <a:spcPct val="145000"/>
              </a:lnSpc>
              <a:buNone/>
            </a:pPr>
            <a:r>
              <a:rPr lang="en-US" sz="1300" dirty="0">
                <a:solidFill>
                  <a:srgbClr val="77726A"/>
                </a:solidFill>
                <a:latin typeface="IBM Plex Mono" pitchFamily="34" charset="0"/>
                <a:ea typeface="IBM Plex Mono" pitchFamily="34" charset="-122"/>
                <a:cs typeface="IBM Plex Mono" pitchFamily="34" charset="-120"/>
              </a:rPr>
              <a:t>next session · teams of four · bring a project idea</a:t>
            </a:r>
            <a:endParaRPr lang="en-US" sz="1300" dirty="0"/>
          </a:p>
        </p:txBody>
      </p:sp>
      <p:sp>
        <p:nvSpPr>
          <p:cNvPr id="7" name="Shape 5"/>
          <p:cNvSpPr/>
          <p:nvPr/>
        </p:nvSpPr>
        <p:spPr>
          <a:xfrm>
            <a:off x="558800" y="6172200"/>
            <a:ext cx="11074400" cy="6350"/>
          </a:xfrm>
          <a:prstGeom prst="rect">
            <a:avLst/>
          </a:prstGeom>
          <a:solidFill>
            <a:srgbClr val="E1DED7"/>
          </a:solidFill>
          <a:ln/>
        </p:spPr>
      </p:sp>
      <p:sp>
        <p:nvSpPr>
          <p:cNvPr id="8" name="Text 6"/>
          <p:cNvSpPr/>
          <p:nvPr/>
        </p:nvSpPr>
        <p:spPr>
          <a:xfrm>
            <a:off x="558800" y="6337300"/>
            <a:ext cx="7620000" cy="215900"/>
          </a:xfrm>
          <a:prstGeom prst="rect">
            <a:avLst/>
          </a:prstGeom>
          <a:noFill/>
          <a:ln/>
        </p:spPr>
        <p:txBody>
          <a:bodyPr wrap="square" lIns="0" tIns="0" rIns="0" bIns="0" rtlCol="0" anchor="t"/>
          <a:lstStyle/>
          <a:p>
            <a:pPr algn="l" indent="0" marL="0">
              <a:lnSpc>
                <a:spcPct val="145000"/>
              </a:lnSpc>
              <a:buNone/>
            </a:pPr>
            <a:r>
              <a:rPr lang="en-US" sz="1200" dirty="0">
                <a:solidFill>
                  <a:srgbClr val="77726A"/>
                </a:solidFill>
                <a:latin typeface="IBM Plex Mono" pitchFamily="34" charset="0"/>
                <a:ea typeface="IBM Plex Mono" pitchFamily="34" charset="-122"/>
                <a:cs typeface="IBM Plex Mono" pitchFamily="34" charset="-120"/>
              </a:rPr>
              <a:t>Your Name · you@university.ac.th</a:t>
            </a:r>
            <a:endParaRPr lang="en-US" sz="1200" dirty="0"/>
          </a:p>
        </p:txBody>
      </p:sp>
      <p:sp>
        <p:nvSpPr>
          <p:cNvPr id="9" name="Text 7"/>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77726A"/>
                </a:solidFill>
                <a:latin typeface="IBM Plex Mono" pitchFamily="34" charset="0"/>
                <a:ea typeface="IBM Plex Mono" pitchFamily="34" charset="-122"/>
                <a:cs typeface="IBM Plex Mono" pitchFamily="34" charset="-120"/>
              </a:rPr>
              <a:t>37</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37</Slides>
  <Notes>37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37</vt:i4>
      </vt:variant>
    </vt:vector>
  </HeadingPairs>
  <TitlesOfParts>
    <vt:vector size="4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2026-09-03T04:20:07Z</dcterms:created>
  <dcterms:modified xsi:type="dcterms:W3CDTF">2026-09-03T04:20:07Z</dcterms:modified>
</cp:coreProperties>
</file>