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likely way for a student to arrive unable to work, and it is invisible: every check passes, then Cline opens on a configuration screen nobody mentioned. Walk the room on this one specifically. The model names in Cline are Cline's own list and will not match the names in .env, which confuses people who are paying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bridge out of the warm-up and into the gates, and it is the strongest thing in the deck because it is not an argument, it is a measurement. Ask the room how many of them checked the spike height before this slide appeared. Then say the sentence the whole session rests on: the gates did not make the agent correct, they made it wrong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stops the gates being magic. A gate is not a feature of Cline - it is a paragraph of English you paste, plus a rules file that makes refusing possible. Read the last three sentences aloud and say where each came from: an agent that asked permission and sat waiting, and an agent that printed a beautiful table in the chat and wrote no file at all. Both cost us a scored run during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on the projector, and re-ask the Round 1 question so they watch the same agent refuse it. That before-and-after is the argument of the whole session, and it costs thirty seconds.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 the projector with the file tree open, not off the slide. Open tests/test_spectrum.py and read the seven test NAMES aloud - seven plain English sentences, and they are the customer's requirements. Then open .clinerules, so the file is already familiar when Round 2 swaps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the right place, five hundred times too short, looks entirely convincing.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then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github.com. One click from the template page builds a Linux machine in your browser; nothing installs 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TWO API keys, not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Gemini at aistudio.google.com/apikey, Mistral at console.mistral.ai. Free tiers refuse service without warning.</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Paste both into .env, save, close the tab.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key is a password, and you will be sharing this screen before the day is out.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Five checks. It names whichever one is not right yet. Do not move on until they are all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checks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Backup provider: both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providers configured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checks, in the order they can fail. A failing line names the fix; it never just tells you something is wrong.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Cline needs its own key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.env is for your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check_setup.py and core/llm.py read it. Cline never does — it is a separate extension, with its own settings and its own copy of the key.</a:t>
            </a:r>
            <a:endParaRPr lang="en-US" sz="1700" dirty="0"/>
          </a:p>
        </p:txBody>
      </p:sp>
      <p:sp>
        <p:nvSpPr>
          <p:cNvPr id="9" name="Text 7"/>
          <p:cNvSpPr/>
          <p:nvPr/>
        </p:nvSpPr>
        <p:spPr>
          <a:xfrm>
            <a:off x="558800" y="270446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70446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Point it at a provider yourself.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Cline icon in the sidebar, choose Google Gemini, paste the key, pick any current Flash model.</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Add Mistral as a second provider.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Model devstral-medium-latest. Two providers is a dropdown change instead of a dead stop.</a:t>
            </a:r>
            <a:endParaRPr lang="en-US" sz="1700" dirty="0"/>
          </a:p>
        </p:txBody>
      </p:sp>
      <p:sp>
        <p:nvSpPr>
          <p:cNvPr id="13" name="Text 11"/>
          <p:cNvSpPr/>
          <p:nvPr/>
        </p:nvSpPr>
        <p:spPr>
          <a:xfrm>
            <a:off x="558800" y="446468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464685"/>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Type “hello” into Cline before we begin. Passing setup tells you nothing about whether your agent can talk to anything.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and its two failures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Gemini   250 req/day, 10/min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~6s between steps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Mistral  25,000 tokens/min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req/min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~20s between steps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Gemini allowance, and the pauses between steps are the limit working rather than a fault.</a:t>
            </a:r>
            <a:endParaRPr lang="en-US" sz="1600" dirty="0"/>
          </a:p>
        </p:txBody>
      </p:sp>
      <p:sp>
        <p:nvSpPr>
          <p:cNvPr id="10" name="Text 8"/>
          <p:cNvSpPr/>
          <p:nvPr/>
        </p:nvSpPr>
        <p:spPr>
          <a:xfrm>
            <a:off x="7431430" y="294386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different failures, opposite fixes. 429 “rate limited” means wait about a minute. 503 “high demand” means that model is refusing everyone — switch providers, because waiting will not help.</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Accept whatever it gives you. Do not plan, do not correct it, do not write anything down first.</a:t>
            </a:r>
            <a:endParaRPr lang="en-US" sz="1600" dirty="0"/>
          </a:p>
        </p:txBody>
      </p:sp>
      <p:sp>
        <p:nvSpPr>
          <p:cNvPr id="10" name="Text 8"/>
          <p:cNvSpPr/>
          <p:nvPr/>
        </p:nvSpPr>
        <p:spPr>
          <a:xfrm>
            <a:off x="7431430" y="264922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same app, asked for two ways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pic>
        <p:nvPicPr>
          <p:cNvPr id="7" name="Image 0" descr="figures/fig-round1-vs-round2.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Both were built by the same agent, on the same model, within the same hour. The left was one sentence. The right went through four checkpoints where a person decided before it could carry on.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left even drew its own “Expected: 50 Hz” markers. It verified the axis it got right and never checked the one it got wrong.</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measured in the dry run, 1 September 2026</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agent proposes, you approve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actually type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Those tests are the acceptance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criteria. aidlc/intent.md says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we are building.</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Use your file-writing tool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aidlc/requirements.md ...</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the file now. Do not 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permission first. Do not print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table in your reply instead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of writing 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All four gate prompts are in labs/PROMPTS.md. Copy them exactly today; improvise next week, once you have seen what a good one looks like.</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sentence in that last paragraph fixes a failure we watched happen: it asked permission and stopped, or it printed the table in the chat and called that done.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Name the tool. Say where the output goes. Then forbid the near-miss.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student who has just met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Fourier transform.</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 set two sine waves going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see a chart with exactly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those two frequencies, at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amplitudes I chose.</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with no prompt to paste — you write it yourself, in your own words: who it is for, what problem it solves, what done looks like, and what is deliberately left out.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will not start without it. A vague intent does not produce a vague app — it produces a confident, wrong 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question that saves you is the one about scope: what is deliberately NOT included.</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3. Report the correct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tone entered at 1.0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reads back as 1.0, +/- 0.001</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5. Handle a constant offset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DC offset of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appears at 0 Hz as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 4.0</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Paste the Gate 2 prompt from labs/PROMPTS.md. The agent drafts these; you read every line and fix what is wrong — it is far better at the requirement than at the check beside it.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requirement carries something you can run. A requirement you cannot check by running something is not a requirement yet.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Reply “approved” only when every check on the slide could actually fail.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1. The maths: build a 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take its spectrum, find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strongest frequency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core/spectrum.py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2. The screen: two tones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two charts out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pages/2_Spectrum_...py</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Paste the Gate 3 prompt. Design and a task list, and every task names the ONE file it is allowed to touch. Working alone today that looks like bookkeeping.</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In Session 2 it is the whole trick: four people build at once and never touch the same file, so there is nothing to merge.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failed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agent edits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 read the diff</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passed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-A &amp;&amp; git commit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prompts, one per task. The only gate with no document: the agent edits a single file, you run the tests, you read the diff, you commit.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Never let it run three tasks at once. When something breaks you want one small change in front of you, not three.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Before any code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exists, aidlc/requirements.md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must list numbered requirements,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each with an acceptance criterion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that can be checked by running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something. Draft it, then STOP</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and 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is already in your repository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app.py             run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pages/             ONE FILE per feature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core/spectrum.py   &lt;- you build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core/llm.py        AI slot, empty till S3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tests/             &lt;- your specification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aidlc/             the four gate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        rules your agent obeys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.clinerules.gates  the strict version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.env               your keys. never commit</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Three minutes reading this saves you twenty later. The one to open now is .clinerules — plain English in a plain file, and your agent obeys it before every single request.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Leave tests/ shut for the moment. You meet it at Gate 2, which is the point where it does the most good.</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feature, one file. In Session 2 that is what lets four people build at once.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output of pages/2_Spectrum_Analyzer.py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35</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36</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37</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2026-09-02T16:25:43Z</dcterms:created>
  <dcterms:modified xsi:type="dcterms:W3CDTF">2026-09-02T16:25:43Z</dcterms:modified>
</cp:coreProperties>
</file>