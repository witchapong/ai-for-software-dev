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likely way for a student to arrive unable to work, and it is invisible: every check passes, then Cline opens on a configuration screen nobody mentioned - with the wrong option already selected for them. Do this one on the projector rather than describing it, because the free option is the big attractive button and taking it leaves their key unused with no error to tell them. Cline's model list is its own: it uses dated names and has no latest, so anything you read elsewhere will not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out of the warm-up and into the gates. Do NOT claim everyone got this - across four runs of Round 1 while building this lab, one read 0.5 for a 1.0 tone, one crashed before drawing a spectrum at all, and one was simply correct. Poll the room for those three outcomes by show of hands; you will get all three, and the spread is the point. Then land it: not one of you could tell which you had, and the ones who were right were right by luck. The gates did not make the agent correct - they made it wrong out loud. If a student says theirs worked, agree, and ask how they would have known if it had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stops the gates being magic. A gate is not a feature of Cline - it is a paragraph of English you paste, plus a rules file that makes refusing possible. Read the last three sentences aloud and say where each came from: an agent that asked permission and sat waiting, and an agent that printed a beautiful table in the chat and wrote no file at all. Both cost us a scored run during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 The EYES row fixes a real failure from this course: a student whose intent asked for readable axes got seven rows, every one a pytest on core/ and nothing about the screen. Every test passed and the chart was unreadable.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copy live and re-ask the Round 1 question so they watch the same agent refuse it. Budget two minutes, not thirty seconds: it is a real free-tier call and it can rate-limit on the projector, so have a screenshot of the refusal ready as a fallback. Commit the file in front of them - without the commit the next checkout silently restores the ungated version, which is the confusing failure LAB1 warns about. Then open the file: the rules are plain English and they can edit them. Sixty of you and one of me, so the file holds the line rather than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 the projector with the file tree open, not off the slide. Open .clinerules and read a rule or two aloud, so the file is familiar before Round 2 swaps it. Do NOT open tests/ here, however tempting - the seven test names give away what Round 1 exists to let them discover. They meet the tests at Gate 2, on slide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exactly the right place and every height wrong looks entirely convincing. Get the direction right if they ask: drop the 1/N and a unit tone reads N/2 - five hundred times too TALL at these settings, not too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of Round 2 if you can spare the projector. The panic you are heading off is at Gate 3: three gates in, an hour gone, and the test count has not moved a single digit. Say out loud that documents are the deliverable of gates 1 to 3, and that the seven failures are supposed to sit there untouched until the maths gets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and they will want to spend twenty. Push them to write badly and move on - a rough intent that exists beats a polished one that does not. The NOT-included question is the one to read aloud: no file loading, no saving, no third tone. That single line is what stops the agent gold-plating for the rest of the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gate that teaches the course's actual skill, so do not let them rush it. Ask two or three to read out one acceptance criterion, and put it to the room: could that ever fail? Most first drafts say the peak is in the right place, which is exactly the check that misses the scaling bug they are about to hit at Gate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forward to Session 2 explicitly here. The one-file-per-task rule looks like pedantry to someone working alone, and it is the only reason four people can build in parallel next week without anyone having to learn how to resolve a merge conflict.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minutes, and the room will fragment here - some green in ten, some still fighting the scaling at the end. Say the timebox before they start. The failure to watch for is not a failing test, it is a student clicking approve on a diff they have not read: that feels productive and is exactly how the DC bug gets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is tight and it depends on someone else's servers, so say the fallback BEFORE they start rather than after it goes wrong. Two things break most often: they forgot to push, so the cloud builds an empty repo; and they point it at the wrong main file. Neither is worth your time individually - put both on the board. Nothing in Lab 1 needs an API key, so the deploy is genuinely simple today. It stops being simple in Session 3, when the app starts calling a model and .env is not in the repository - that is what Streamlit's Secrets box is for, and LAB2 says so at the point it starts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after the lab, not before it. They have already watched an agent get the scaling wrong and a test catch it, so the maths now answers a question they actually have. Fifteen minutes; skip the last slide and hand it out if you are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real file on the projector rather than the slide. The line to dwell on is np.arange: the gap between samples is 1/fs, and that single number decides everything the rest of the code can and cannot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wagon wheel is the example that lands - most of them have seen it without knowing it had a name. If anyone asks why the tests use 1000 Hz for a 120 Hz tone, this is the answer: comfortably more than twice the highest frequency in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two-knobs line is the one to make them repeat back. Students reliably conflate the two and try to fix poor resolution by sampling faster, which does nothing at all - it raises a ceiling they were not hitting. Recording for longer is the only thing that separates two close tones.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for the whole lab, so land it slowly. Ask which of their seven tests would still pass with the 2/n missing - the answer is the ones checking peak position, which is most of them. That is what an acceptance criterion that cannot fail buys you, stated in code they wrote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sidebar next to the file tree so the mapping is literally visible. This is also where the Round 1 mess pays off: their agent knew nothing about pages/ and wrote a loose script at the top level, so the tab never appeared. The convention only looks obvious once you have watched an agent miss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rerun model is the one thing to make them say back to you: there is no onChange anywhere in this file, and every interaction runs all forty lines again. Then point at the import at the top - core.spectrum knows nothing about Streamlit, and Streamlit knows nothing about FFTs. That split is why the tests could exist before the page did. Say the st.line_chart trap out loud: a student in this course got a chart with Time and Frequency drawn as data lines, no readable axis at all, while all their tests passed. The legend is the tell - an axis name should never be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this out rather than reading it. The one to actually push is dspguide.com - free, written for engineers who have not done the maths yet, and the book that makes the next signals course easier. Say plainly that the official docs are what the model has read, so quoting them in a prompt works better than describing what you want in your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1.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pic>
        <p:nvPicPr>
          <p:cNvPr id="3" name="Image 0" descr="icons/github.png">    </p:cNvPr>
          <p:cNvPicPr>
            <a:picLocks noChangeAspect="1"/>
          </p:cNvPicPr>
          <p:nvPr/>
        </p:nvPicPr>
        <p:blipFill>
          <a:blip r:embed="rId1"/>
          <a:stretch>
            <a:fillRect/>
          </a:stretch>
        </p:blipFill>
        <p:spPr>
          <a:xfrm>
            <a:off x="10401300" y="361950"/>
            <a:ext cx="203200" cy="203200"/>
          </a:xfrm>
          <a:prstGeom prst="rect">
            <a:avLst/>
          </a:prstGeom>
        </p:spPr>
      </p:pic>
      <p:pic>
        <p:nvPicPr>
          <p:cNvPr id="4" name="Image 1" descr="icons/googlegemini.png">    </p:cNvPr>
          <p:cNvPicPr>
            <a:picLocks noChangeAspect="1"/>
          </p:cNvPicPr>
          <p:nvPr/>
        </p:nvPicPr>
        <p:blipFill>
          <a:blip r:embed="rId2"/>
          <a:stretch>
            <a:fillRect/>
          </a:stretch>
        </p:blipFill>
        <p:spPr>
          <a:xfrm>
            <a:off x="10744200" y="361950"/>
            <a:ext cx="203200" cy="203200"/>
          </a:xfrm>
          <a:prstGeom prst="rect">
            <a:avLst/>
          </a:prstGeom>
        </p:spPr>
      </p:pic>
      <p:pic>
        <p:nvPicPr>
          <p:cNvPr id="5" name="Image 2" descr="icons/mistralai.png">    </p:cNvPr>
          <p:cNvPicPr>
            <a:picLocks noChangeAspect="1"/>
          </p:cNvPicPr>
          <p:nvPr/>
        </p:nvPicPr>
        <p:blipFill>
          <a:blip r:embed="rId3"/>
          <a:stretch>
            <a:fillRect/>
          </a:stretch>
        </p:blipFill>
        <p:spPr>
          <a:xfrm>
            <a:off x="11087100" y="361950"/>
            <a:ext cx="203200" cy="203200"/>
          </a:xfrm>
          <a:prstGeom prst="rect">
            <a:avLst/>
          </a:prstGeom>
        </p:spPr>
      </p:pic>
      <p:pic>
        <p:nvPicPr>
          <p:cNvPr id="6" name="Image 3" descr="icons/python.png">    </p:cNvPr>
          <p:cNvPicPr>
            <a:picLocks noChangeAspect="1"/>
          </p:cNvPicPr>
          <p:nvPr/>
        </p:nvPicPr>
        <p:blipFill>
          <a:blip r:embed="rId4"/>
          <a:stretch>
            <a:fillRect/>
          </a:stretch>
        </p:blipFill>
        <p:spPr>
          <a:xfrm>
            <a:off x="11430000" y="361950"/>
            <a:ext cx="203200" cy="203200"/>
          </a:xfrm>
          <a:prstGeom prst="rect">
            <a:avLst/>
          </a:prstGeom>
        </p:spPr>
      </p:pic>
      <p:sp>
        <p:nvSpPr>
          <p:cNvPr id="7"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8" name="Shape 2"/>
          <p:cNvSpPr/>
          <p:nvPr/>
        </p:nvSpPr>
        <p:spPr>
          <a:xfrm>
            <a:off x="558800" y="1181100"/>
            <a:ext cx="11074400" cy="6350"/>
          </a:xfrm>
          <a:prstGeom prst="rect">
            <a:avLst/>
          </a:prstGeom>
          <a:solidFill>
            <a:srgbClr val="E1DED7"/>
          </a:solidFill>
          <a:ln/>
        </p:spPr>
      </p:sp>
      <p:sp>
        <p:nvSpPr>
          <p:cNvPr id="9"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10"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11"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then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github.com. One click from the template page builds a Linux machine in your browser; nothing installs here.</a:t>
            </a:r>
            <a:endParaRPr lang="en-US" sz="1700" dirty="0"/>
          </a:p>
        </p:txBody>
      </p:sp>
      <p:sp>
        <p:nvSpPr>
          <p:cNvPr id="13"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TWO API keys, not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Gemini at aistudio.google.com/apikey, Mistral at console.mistral.ai. Free tiers refuse service without warning.</a:t>
            </a:r>
            <a:endParaRPr lang="en-US" sz="1700" dirty="0"/>
          </a:p>
        </p:txBody>
      </p:sp>
      <p:sp>
        <p:nvSpPr>
          <p:cNvPr id="15"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6"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Paste both into .env, save, close the tab.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key is a password, and you will be sharing this screen before the day is out.</a:t>
            </a:r>
            <a:endParaRPr lang="en-US" sz="1700" dirty="0"/>
          </a:p>
        </p:txBody>
      </p:sp>
      <p:sp>
        <p:nvSpPr>
          <p:cNvPr id="17"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8"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Five checks. It names whichever one is not right yet. Do not move on until they are all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googlegemini.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checks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Backup provider: both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providers configured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a:t>
            </a:r>
            <a:endParaRPr lang="en-US" sz="1400" dirty="0"/>
          </a:p>
        </p:txBody>
      </p:sp>
      <p:sp>
        <p:nvSpPr>
          <p:cNvPr id="11"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checks, in the order they can fail. A failing line names the fix; it never just tells you something is wrong.</a:t>
            </a:r>
            <a:endParaRPr lang="en-US" sz="1600" dirty="0"/>
          </a:p>
        </p:txBody>
      </p:sp>
      <p:sp>
        <p:nvSpPr>
          <p:cNvPr id="12"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pic>
        <p:nvPicPr>
          <p:cNvPr id="3" name="Image 0" descr="icons/cline.png">    </p:cNvPr>
          <p:cNvPicPr>
            <a:picLocks noChangeAspect="1"/>
          </p:cNvPicPr>
          <p:nvPr/>
        </p:nvPicPr>
        <p:blipFill>
          <a:blip r:embed="rId1"/>
          <a:stretch>
            <a:fillRect/>
          </a:stretch>
        </p:blipFill>
        <p:spPr>
          <a:xfrm>
            <a:off x="10744200" y="361950"/>
            <a:ext cx="203200" cy="203200"/>
          </a:xfrm>
          <a:prstGeom prst="rect">
            <a:avLst/>
          </a:prstGeom>
        </p:spPr>
      </p:pic>
      <p:pic>
        <p:nvPicPr>
          <p:cNvPr id="4" name="Image 1" descr="icons/mistralai.png">    </p:cNvPr>
          <p:cNvPicPr>
            <a:picLocks noChangeAspect="1"/>
          </p:cNvPicPr>
          <p:nvPr/>
        </p:nvPicPr>
        <p:blipFill>
          <a:blip r:embed="rId2"/>
          <a:stretch>
            <a:fillRect/>
          </a:stretch>
        </p:blipFill>
        <p:spPr>
          <a:xfrm>
            <a:off x="11087100" y="361950"/>
            <a:ext cx="203200" cy="203200"/>
          </a:xfrm>
          <a:prstGeom prst="rect">
            <a:avLst/>
          </a:prstGeom>
        </p:spPr>
      </p:pic>
      <p:pic>
        <p:nvPicPr>
          <p:cNvPr id="5" name="Image 2" descr="icons/googlegemini.png">    </p:cNvPr>
          <p:cNvPicPr>
            <a:picLocks noChangeAspect="1"/>
          </p:cNvPicPr>
          <p:nvPr/>
        </p:nvPicPr>
        <p:blipFill>
          <a:blip r:embed="rId3"/>
          <a:stretch>
            <a:fillRect/>
          </a:stretch>
        </p:blipFill>
        <p:spPr>
          <a:xfrm>
            <a:off x="11430000" y="361950"/>
            <a:ext cx="203200" cy="203200"/>
          </a:xfrm>
          <a:prstGeom prst="rect">
            <a:avLst/>
          </a:prstGeom>
        </p:spPr>
      </p:pic>
      <p:sp>
        <p:nvSpPr>
          <p:cNvPr id="6"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Cline needs its own key</a:t>
            </a:r>
            <a:endParaRPr lang="en-US" sz="2800" dirty="0"/>
          </a:p>
        </p:txBody>
      </p:sp>
      <p:sp>
        <p:nvSpPr>
          <p:cNvPr id="7" name="Shape 2"/>
          <p:cNvSpPr/>
          <p:nvPr/>
        </p:nvSpPr>
        <p:spPr>
          <a:xfrm>
            <a:off x="558800" y="1181100"/>
            <a:ext cx="11074400" cy="6350"/>
          </a:xfrm>
          <a:prstGeom prst="rect">
            <a:avLst/>
          </a:prstGeom>
          <a:solidFill>
            <a:srgbClr val="E1DED7"/>
          </a:solidFill>
          <a:ln/>
        </p:spPr>
      </p:sp>
      <p:sp>
        <p:nvSpPr>
          <p:cNvPr id="8"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9"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10"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1"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.env is for your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check_setup.py and core/llm.py read it. Cline never does — separate program, separate settings, its own copy of the key.</a:t>
            </a:r>
            <a:endParaRPr lang="en-US" sz="1700" dirty="0"/>
          </a:p>
        </p:txBody>
      </p:sp>
      <p:sp>
        <p:nvSpPr>
          <p:cNvPr id="12"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3" name="Text 8"/>
          <p:cNvSpPr/>
          <p:nvPr/>
        </p:nvSpPr>
        <p:spPr>
          <a:xfrm>
            <a:off x="927100" y="239141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opens on a screen nobody expects.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“How will you use Cline?”, with Absolutely Free already ticked. Do not take it — choose Bring my own API key, or your key is never used.</a:t>
            </a:r>
            <a:endParaRPr lang="en-US" sz="1700" dirty="0"/>
          </a:p>
        </p:txBody>
      </p:sp>
      <p:sp>
        <p:nvSpPr>
          <p:cNvPr id="14"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5" name="Text 10"/>
          <p:cNvSpPr/>
          <p:nvPr/>
        </p:nvSpPr>
        <p:spPr>
          <a:xfrm>
            <a:off x="927100" y="358457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provider, then model.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Mistral or Gemini, paste the key. Model names carry a date — devstral-2512, not devstral-latest. Prefer a devstral if you see one.</a:t>
            </a:r>
            <a:endParaRPr lang="en-US" sz="1700" dirty="0"/>
          </a:p>
        </p:txBody>
      </p:sp>
      <p:sp>
        <p:nvSpPr>
          <p:cNvPr id="16" name="Text 11"/>
          <p:cNvSpPr/>
          <p:nvPr/>
        </p:nvSpPr>
        <p:spPr>
          <a:xfrm>
            <a:off x="558800" y="477774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7" name="Text 12"/>
          <p:cNvSpPr/>
          <p:nvPr/>
        </p:nvSpPr>
        <p:spPr>
          <a:xfrm>
            <a:off x="927100" y="477774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 the model name after any reload: Cline can reset itself, sometimes to a paid one. A price per million tokens beside it means change it back.</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pic>
        <p:nvPicPr>
          <p:cNvPr id="3" name="Image 0" descr="icons/cline.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googlegemini.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9" name="Image 2" descr="figures/fig-harness-model.png">    </p:cNvPr>
          <p:cNvPicPr>
            <a:picLocks noChangeAspect="1"/>
          </p:cNvPicPr>
          <p:nvPr/>
        </p:nvPicPr>
        <p:blipFill>
          <a:blip r:embed="rId3"/>
          <a:srcRect l="0" r="0" t="0" b="0"/>
          <a:stretch/>
        </p:blipFill>
        <p:spPr>
          <a:xfrm>
            <a:off x="558800" y="1511300"/>
            <a:ext cx="6134100" cy="4572000"/>
          </a:xfrm>
          <a:prstGeom prst="rect">
            <a:avLst/>
          </a:prstGeom>
        </p:spPr>
      </p:pic>
      <p:sp>
        <p:nvSpPr>
          <p:cNvPr id="10"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11"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2"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pic>
        <p:nvPicPr>
          <p:cNvPr id="3" name="Image 0" descr="icons/cline.png">    </p:cNvPr>
          <p:cNvPicPr>
            <a:picLocks noChangeAspect="1"/>
          </p:cNvPicPr>
          <p:nvPr/>
        </p:nvPicPr>
        <p:blipFill>
          <a:blip r:embed="rId1"/>
          <a:stretch>
            <a:fillRect/>
          </a:stretch>
        </p:blipFill>
        <p:spPr>
          <a:xfrm>
            <a:off x="9715500" y="361950"/>
            <a:ext cx="203200" cy="203200"/>
          </a:xfrm>
          <a:prstGeom prst="rect">
            <a:avLst/>
          </a:prstGeom>
        </p:spPr>
      </p:pic>
      <p:pic>
        <p:nvPicPr>
          <p:cNvPr id="4" name="Image 1" descr="icons/cursor.png">    </p:cNvPr>
          <p:cNvPicPr>
            <a:picLocks noChangeAspect="1"/>
          </p:cNvPicPr>
          <p:nvPr/>
        </p:nvPicPr>
        <p:blipFill>
          <a:blip r:embed="rId2"/>
          <a:stretch>
            <a:fillRect/>
          </a:stretch>
        </p:blipFill>
        <p:spPr>
          <a:xfrm>
            <a:off x="10058400" y="361950"/>
            <a:ext cx="203200" cy="203200"/>
          </a:xfrm>
          <a:prstGeom prst="rect">
            <a:avLst/>
          </a:prstGeom>
        </p:spPr>
      </p:pic>
      <p:pic>
        <p:nvPicPr>
          <p:cNvPr id="5" name="Image 2" descr="icons/githubcopilot.png">    </p:cNvPr>
          <p:cNvPicPr>
            <a:picLocks noChangeAspect="1"/>
          </p:cNvPicPr>
          <p:nvPr/>
        </p:nvPicPr>
        <p:blipFill>
          <a:blip r:embed="rId3"/>
          <a:stretch>
            <a:fillRect/>
          </a:stretch>
        </p:blipFill>
        <p:spPr>
          <a:xfrm>
            <a:off x="10401300" y="361950"/>
            <a:ext cx="203200" cy="203200"/>
          </a:xfrm>
          <a:prstGeom prst="rect">
            <a:avLst/>
          </a:prstGeom>
        </p:spPr>
      </p:pic>
      <p:pic>
        <p:nvPicPr>
          <p:cNvPr id="6" name="Image 3" descr="icons/claude.png">    </p:cNvPr>
          <p:cNvPicPr>
            <a:picLocks noChangeAspect="1"/>
          </p:cNvPicPr>
          <p:nvPr/>
        </p:nvPicPr>
        <p:blipFill>
          <a:blip r:embed="rId4"/>
          <a:stretch>
            <a:fillRect/>
          </a:stretch>
        </p:blipFill>
        <p:spPr>
          <a:xfrm>
            <a:off x="10744200" y="361950"/>
            <a:ext cx="203200" cy="203200"/>
          </a:xfrm>
          <a:prstGeom prst="rect">
            <a:avLst/>
          </a:prstGeom>
        </p:spPr>
      </p:pic>
      <p:pic>
        <p:nvPicPr>
          <p:cNvPr id="7" name="Image 4" descr="icons/googlegemini.png">    </p:cNvPr>
          <p:cNvPicPr>
            <a:picLocks noChangeAspect="1"/>
          </p:cNvPicPr>
          <p:nvPr/>
        </p:nvPicPr>
        <p:blipFill>
          <a:blip r:embed="rId5"/>
          <a:stretch>
            <a:fillRect/>
          </a:stretch>
        </p:blipFill>
        <p:spPr>
          <a:xfrm>
            <a:off x="11087100" y="361950"/>
            <a:ext cx="203200" cy="203200"/>
          </a:xfrm>
          <a:prstGeom prst="rect">
            <a:avLst/>
          </a:prstGeom>
        </p:spPr>
      </p:pic>
      <p:pic>
        <p:nvPicPr>
          <p:cNvPr id="8" name="Image 5" descr="icons/mistralai.png">    </p:cNvPr>
          <p:cNvPicPr>
            <a:picLocks noChangeAspect="1"/>
          </p:cNvPicPr>
          <p:nvPr/>
        </p:nvPicPr>
        <p:blipFill>
          <a:blip r:embed="rId6"/>
          <a:stretch>
            <a:fillRect/>
          </a:stretch>
        </p:blipFill>
        <p:spPr>
          <a:xfrm>
            <a:off x="11430000" y="361950"/>
            <a:ext cx="203200" cy="203200"/>
          </a:xfrm>
          <a:prstGeom prst="rect">
            <a:avLst/>
          </a:prstGeom>
        </p:spPr>
      </p:pic>
      <p:sp>
        <p:nvSpPr>
          <p:cNvPr id="9"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10" name="Shape 2"/>
          <p:cNvSpPr/>
          <p:nvPr/>
        </p:nvSpPr>
        <p:spPr>
          <a:xfrm>
            <a:off x="558800" y="1181100"/>
            <a:ext cx="11074400" cy="6350"/>
          </a:xfrm>
          <a:prstGeom prst="rect">
            <a:avLst/>
          </a:prstGeom>
          <a:solidFill>
            <a:srgbClr val="E1DED7"/>
          </a:solidFill>
          <a:ln/>
        </p:spPr>
      </p:sp>
      <p:sp>
        <p:nvSpPr>
          <p:cNvPr id="11"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12"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13"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14"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15" name="Text 7"/>
          <p:cNvSpPr/>
          <p:nvPr/>
        </p:nvSpPr>
        <p:spPr>
          <a:xfrm>
            <a:off x="5588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6"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7"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8" name="Text 10"/>
          <p:cNvSpPr/>
          <p:nvPr/>
        </p:nvSpPr>
        <p:spPr>
          <a:xfrm>
            <a:off x="63500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and its two failures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Gemini   250 req/day, 10/min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~6s between steps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Mistral  25,000 tokens/min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req/min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~20s between steps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Gemini allowance, and the pauses between steps are the limit working rather than a fault.</a:t>
            </a:r>
            <a:endParaRPr lang="en-US" sz="1600" dirty="0"/>
          </a:p>
        </p:txBody>
      </p:sp>
      <p:sp>
        <p:nvSpPr>
          <p:cNvPr id="10" name="Text 8"/>
          <p:cNvSpPr/>
          <p:nvPr/>
        </p:nvSpPr>
        <p:spPr>
          <a:xfrm>
            <a:off x="7431430" y="294386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different failures, opposite fixes. 429 “rate limited” means wait about a minute. 503 “high demand” means that model is refusing everyone — switch providers, because waiting will not help.</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First run Step 1 in labs/LAB1.md — one command, and it is what lets you compare the two rounds at the end. Then paste this and accept whatever it gives you: do not plan, do not correct it.</a:t>
            </a:r>
            <a:endParaRPr lang="en-US" sz="1600" dirty="0"/>
          </a:p>
        </p:txBody>
      </p:sp>
      <p:sp>
        <p:nvSpPr>
          <p:cNvPr id="10" name="Text 8"/>
          <p:cNvSpPr/>
          <p:nvPr/>
        </p:nvSpPr>
        <p:spPr>
          <a:xfrm>
            <a:off x="7431430" y="353314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same app, asked for two ways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pic>
        <p:nvPicPr>
          <p:cNvPr id="7" name="Image 0" descr="figures/fig-round1-vs-round2.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Both were built by the same agent, on the same model, within the same hour. The left was one sentence. The right went through four checkpoints where a person decided before it could carry on.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left even drew its own “Expected: 50 Hz” markers. It verified the axis it got right and never checked the one it got wrong.</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one measured run, 1 September 2026. Yours will differ.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agent proposes, you approve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actually type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Those tests are the acceptance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criteria. aidlc/intent.md says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we are building.</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Use your file-writing tool to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aidlc/requirements.md ...</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the file now. Do not 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permission first. Do not print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table in your reply instead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of writing 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All four gate prompts are in labs/PROMPTS.md. Copy them exactly today; improvise next week, once you have seen what a good one looks like.</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sentence in that last paragraph fixes a failure we watched happen: it asked permission and stopped, or it printed the table in the chat and called that done.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Name the tool. Say where the output goes. Then forbid the near-miss.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&gt;INTENT&lt;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spec  plan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nothing. This one 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yours.</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YOU ANSWER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problem does it solve?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is NOT included?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first box on the diagram, and the only one an agent cannot do for you. It has no prompt because nobody can tell you who your app is for.</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fourth question is the one that earns its keep. Nothing told the Round 1 agent where to stop, so it invented scope.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vague intent does not produce a vague app. It produces a confident, wrong one.</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&gt;SPEC&lt;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plan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 intent.md, then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tests. WRITE a table.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Every done bullet gets a</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row. pytest &lt;name&gt;, 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EYES: &lt;what to look at&gt;.”</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Notice what it reads: the intent YOU wrote at Gate 1, plus the tests. Each gate consumes what the last one produced — that chain is the whole method.</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kinds of check, and you need both. A test for the maths; a person's eyes for the screen, because no test in this repository ever opens a page.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Approve it only when every done bullet from your intent has a row that could fail.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spec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&gt;PLAN&lt;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“requirements.md 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approved. WRITE 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tasks.md. Two tasks,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file each, and a</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Done when for both.”</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It reads the spec you just approved, and nothing else. Approve a plan here, not code — no code exists yet.</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task names the ONE file it may touch, and the one criterion that says it is finished. A task with no Done when can never be wrong, so it will be.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 one check that could fail.</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spec  plan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&gt;BUILD&lt;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“design.md and 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are approved. Implement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task 1 only. OVERWRITE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7 spectrum tests pass</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box that produces code instead of a document, and it still reads the two documents before it. One task, one file, tests run, diff read, commit.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gates do not make the agent correct. They make it wrong out loud, early, in a place you are looking.</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command turns them on</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cp .clinerules.gates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.clinerules &amp;&amp; git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-m "turn the gates on"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then START A NEW CLINE TASK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rules load when a task begins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Draft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requirements, then STOP and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ask for approval.</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 Round 1 your agent had no process rules, which is why it went straight to code. This file is the difference, and it was in your repository the whole time.</a:t>
            </a:r>
            <a:endParaRPr lang="en-US" sz="1600" dirty="0"/>
          </a:p>
        </p:txBody>
      </p:sp>
      <p:sp>
        <p:nvSpPr>
          <p:cNvPr id="10" name="Text 8"/>
          <p:cNvSpPr/>
          <p:nvPr/>
        </p:nvSpPr>
        <p:spPr>
          <a:xfrm>
            <a:off x="7431430" y="32385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Same agent, same model, same request. Copy it into place, start a new task, and watch it refuse you.</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Plain English, in a plain file. By Session 2 you will be editing it.</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pytest.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is already in your repository</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app.py             run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pages/             ONE FILE per feature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core/spectrum.py   &lt;- you build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core/llm.py        AI slot, empty till S3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tests/             &lt;- your specification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aidlc/             the four gate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        rules your agent obeys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.clinerules.gates  the strict version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.env               your keys. never commit</a:t>
            </a:r>
            <a:endParaRPr lang="en-US" sz="1400" dirty="0"/>
          </a:p>
        </p:txBody>
      </p:sp>
      <p:sp>
        <p:nvSpPr>
          <p:cNvPr id="11"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Three minutes reading this saves you twenty later. The one to open now is .clinerules — plain English in a plain file, and your agent obeys it before every single request.</a:t>
            </a:r>
            <a:endParaRPr lang="en-US" sz="1600" dirty="0"/>
          </a:p>
        </p:txBody>
      </p:sp>
      <p:sp>
        <p:nvSpPr>
          <p:cNvPr id="12"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Leave tests/ shut for the moment. You meet it at Gate 2, which is the point where it does the most good.</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feature, one file. In Session 2 that is what lets four people build at once.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streamlit.png">    </p:cNvPr>
          <p:cNvPicPr>
            <a:picLocks noChangeAspect="1"/>
          </p:cNvPicPr>
          <p:nvPr/>
        </p:nvPicPr>
        <p:blipFill>
          <a:blip r:embed="rId1"/>
          <a:stretch>
            <a:fillRect/>
          </a:stretch>
        </p:blipFill>
        <p:spPr>
          <a:xfrm>
            <a:off x="11430000" y="361950"/>
            <a:ext cx="203200" cy="203200"/>
          </a:xfrm>
          <a:prstGeom prst="rect">
            <a:avLst/>
          </a:prstGeom>
        </p:spPr>
      </p:pic>
      <p:sp>
        <p:nvSpPr>
          <p:cNvPr id="4"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5" name="Shape 2"/>
          <p:cNvSpPr/>
          <p:nvPr/>
        </p:nvSpPr>
        <p:spPr>
          <a:xfrm>
            <a:off x="558800" y="1181100"/>
            <a:ext cx="11074400" cy="6350"/>
          </a:xfrm>
          <a:prstGeom prst="rect">
            <a:avLst/>
          </a:prstGeom>
          <a:solidFill>
            <a:srgbClr val="E1DED7"/>
          </a:solidFill>
          <a:ln/>
        </p:spPr>
      </p:sp>
      <p:sp>
        <p:nvSpPr>
          <p:cNvPr id="6"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7"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pic>
        <p:nvPicPr>
          <p:cNvPr id="8" name="Image 1" descr="figures/fig-spectrum.png">    </p:cNvPr>
          <p:cNvPicPr>
            <a:picLocks noChangeAspect="1"/>
          </p:cNvPicPr>
          <p:nvPr/>
        </p:nvPicPr>
        <p:blipFill>
          <a:blip r:embed="rId2"/>
          <a:srcRect l="0" r="0" t="0" b="0"/>
          <a:stretch/>
        </p:blipFill>
        <p:spPr>
          <a:xfrm>
            <a:off x="558800" y="1511300"/>
            <a:ext cx="6134100" cy="4572000"/>
          </a:xfrm>
          <a:prstGeom prst="rect">
            <a:avLst/>
          </a:prstGeom>
        </p:spPr>
      </p:pic>
      <p:sp>
        <p:nvSpPr>
          <p:cNvPr id="9"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10"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1"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output of pages/2_Spectrum_Analyzer.py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pytest.png">    </p:cNvPr>
          <p:cNvPicPr>
            <a:picLocks noChangeAspect="1"/>
          </p:cNvPicPr>
          <p:nvPr/>
        </p:nvPicPr>
        <p:blipFill>
          <a:blip r:embed="rId1"/>
          <a:stretch>
            <a:fillRect/>
          </a:stretch>
        </p:blipFill>
        <p:spPr>
          <a:xfrm>
            <a:off x="11430000" y="361950"/>
            <a:ext cx="203200" cy="203200"/>
          </a:xfrm>
          <a:prstGeom prst="rect">
            <a:avLst/>
          </a:prstGeom>
        </p:spPr>
      </p:pic>
      <p:sp>
        <p:nvSpPr>
          <p:cNvPr id="4"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5" name="Shape 2"/>
          <p:cNvSpPr/>
          <p:nvPr/>
        </p:nvSpPr>
        <p:spPr>
          <a:xfrm>
            <a:off x="558800" y="1181100"/>
            <a:ext cx="11074400" cy="6350"/>
          </a:xfrm>
          <a:prstGeom prst="rect">
            <a:avLst/>
          </a:prstGeom>
          <a:solidFill>
            <a:srgbClr val="E1DED7"/>
          </a:solidFill>
          <a:ln/>
        </p:spPr>
      </p:sp>
      <p:sp>
        <p:nvSpPr>
          <p:cNvPr id="6"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7"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33</a:t>
            </a:r>
            <a:endParaRPr lang="en-US" sz="1200" dirty="0"/>
          </a:p>
        </p:txBody>
      </p:sp>
      <p:sp>
        <p:nvSpPr>
          <p:cNvPr id="8"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9"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10"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1"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2" name="Shape 9"/>
          <p:cNvSpPr/>
          <p:nvPr/>
        </p:nvSpPr>
        <p:spPr>
          <a:xfrm>
            <a:off x="7431430" y="5384800"/>
            <a:ext cx="12700" cy="698500"/>
          </a:xfrm>
          <a:prstGeom prst="rect">
            <a:avLst/>
          </a:prstGeom>
          <a:solidFill>
            <a:srgbClr val="A87A2E"/>
          </a:solidFill>
          <a:ln/>
        </p:spPr>
      </p:sp>
      <p:sp>
        <p:nvSpPr>
          <p:cNvPr id="13"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Round 2 — where each gate leaves you</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GATES 1-3 write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seven failures do not move.</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1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2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3   aidlc/design.md, tasks.md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4 writes code.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Now pytest goes 7 failed -&gt; 56 pass.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4a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4b  the Streamlit page</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Every line of this happens on main. You do not change branch again — what changes is which files exist, and what pytest says.</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Nothing turns green until Gate 4. Three gates of documents with the number refusing to move is the design, not a fault.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Lost? git branch --show-current, git status --short, pytest. Those three put you back on this list.</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1 — INTENT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 write this one</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open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answer the four questions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replace every PLACEHOLDER</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grep -c PLACEHOLDER  -&gt;  0</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intent.md filled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still 7 failed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with no prompt. Four questions, four sentences, in your own words — this is the one the agent cannot do for you.</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will refuse to write code while PLACEHOLDER is still in the file. That refusal is the gate working, not an error.</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question that saves you is the last one: what is deliberately NOT included.</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2 — SPEC</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agent drafts</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task, paste "Gate 2"</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from labs/PROMPTS.md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 it, reply approved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every done bullet has a row</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only backs core/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could each one FAIL?</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still 7 failed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Before you paste anything, write down on paper how you would check the spectrum is right. Then compare it with what comes back.</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Count the rows against your intent. A pytest criterion may only back a claim about core/ — cite one for what the page does and it passes while the page is blank.</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per gate. A long conversation makes an agent worse, not better.</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37</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3 — PLAN</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file per task</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task, paste "Gate 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reply approved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commit -m "gates 1-3"</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design.md matches the tests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two tasks, one file each</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still 7 failed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You are approving a plan, not code. No code exists yet, which is exactly what makes this gate cheap to get right.</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task, one file. Working alone that looks like bookkeeping; in Session 2 it is what lets four people build at once with nothing to merge.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task table is easy to check because the prompt dictated it. design.md is the part nobody dictated.</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38</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4 — BUILD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task at a time</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NEW task for each: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task 1: pytest,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task 2: run app, commit</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7 spectrum tests pass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 Hz spike reaches 1.0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 axis name in the legend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 + page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pytest 56 pass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tasks, two fresh Cline conversations, a commit after each. Never both in one task, however tempting it looks.</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If a test fails, paste that one failure back and let it fix that one thing. Fifteen minutes stuck is the limit, then restore the reference.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Commit every time the tests go green. That is what makes git checkout a safe undo.</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streamlit.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github.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Ship it — ten minutes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39</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push</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share.streamlit.io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Continue to sign-in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authorise GitHub  (first time)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app -&gt; from existing repo</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repo    your-repo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branch  main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file    app.py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Deploy</a:t>
            </a:r>
            <a:endParaRPr lang="en-US" sz="1400" dirty="0"/>
          </a:p>
        </p:txBody>
      </p:sp>
      <p:sp>
        <p:nvSpPr>
          <p:cNvPr id="11"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Push first. Your Codespace is not the internet — the cloud builds from GitHub, so anything you have not pushed does not exist as far as it is concerned.</a:t>
            </a:r>
            <a:endParaRPr lang="en-US" sz="1600" dirty="0"/>
          </a:p>
        </p:txBody>
      </p:sp>
      <p:sp>
        <p:nvSpPr>
          <p:cNvPr id="12"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first deploy makes you a Streamlit account and asks for access to your repositories. Builds take two to five minutes, and sixty of us are building at once.</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 live by 2:45? Push, and deploy at home. The code and the four documents are the deliverable; the URL is a bonus.</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06</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the analyser actually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You approved this code. Now read it — the maths first, then the page that puts it on screen.</a:t>
            </a:r>
            <a:endParaRPr lang="en-US" sz="1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 wave becomes a list of numbers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41</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make_signal — building the input</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times = np.arange(0, duration, 1/fs)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signal = np.zeros_like(times)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freq, amp in components: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signal += amp * np.sin(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 * np.pi * freq * times)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fs = 1000 samples per second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duration = 1 s  -&gt;  n = 1000 numbers</a:t>
            </a:r>
            <a:endParaRPr lang="en-US" sz="1400" dirty="0"/>
          </a:p>
        </p:txBody>
      </p:sp>
      <p:sp>
        <p:nvSpPr>
          <p:cNvPr id="11"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computer never stores a curve. It stores the height of the wave at evenly spaced instants — here a thousand of them, one every millisecond.</a:t>
            </a:r>
            <a:endParaRPr lang="en-US" sz="1600" dirty="0"/>
          </a:p>
        </p:txBody>
      </p:sp>
      <p:sp>
        <p:nvSpPr>
          <p:cNvPr id="12"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sin(2·pi·f·t) is one tone; the loop adds a term per tone. Everything after this works on that list of a thousand numbers.</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fs is the only reason the numbers mean anything. Without it, a list of samples has no timescale at all.</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only ever see half the sampling rate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Sample at 1000 Hz and the highest frequency you can measure is 500.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That ceiling is the Nyquist frequency, exactly half the sampling rate. The lab's 50 Hz and 120 Hz sit comfortably underneath it.</a:t>
            </a:r>
            <a:endParaRPr lang="en-US" sz="1700" dirty="0"/>
          </a:p>
        </p:txBody>
      </p:sp>
      <p:sp>
        <p:nvSpPr>
          <p:cNvPr id="9" name="Text 7"/>
          <p:cNvSpPr/>
          <p:nvPr/>
        </p:nvSpPr>
        <p:spPr>
          <a:xfrm>
            <a:off x="558800" y="270446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70446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Above the ceiling, a tone comes back wearing a disguise.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600 Hz tone sampled at 1000 Hz is indistinguishable from a 400 Hz one. That is aliasing, and it is why wagon wheels appear to spin backwards on film.</a:t>
            </a:r>
            <a:endParaRPr lang="en-US" sz="1700" dirty="0"/>
          </a:p>
        </p:txBody>
      </p:sp>
      <p:sp>
        <p:nvSpPr>
          <p:cNvPr id="11" name="Text 9"/>
          <p:cNvSpPr/>
          <p:nvPr/>
        </p:nvSpPr>
        <p:spPr>
          <a:xfrm>
            <a:off x="558800" y="3897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89763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in the code will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rfftfreq simply stops at 500 Hz. A tone above it does not raise an error — it quietly reports the wrong frequency, and the chart looks entirely reasonable.</a:t>
            </a:r>
            <a:endParaRPr lang="en-US" sz="1700" dirty="0"/>
          </a:p>
        </p:txBody>
      </p:sp>
      <p:sp>
        <p:nvSpPr>
          <p:cNvPr id="13" name="Text 11"/>
          <p:cNvSpPr/>
          <p:nvPr/>
        </p:nvSpPr>
        <p:spPr>
          <a:xfrm>
            <a:off x="558800" y="509079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509079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fix is always the sampling rate, never the maths.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To see a 1 kHz tone you must sample faster than 2 kHz. This is the Nyquist–Shannon sampling theorem, and it is the one piece of theory worth carrying out of today.</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From N samples to N/2 + 1 frequencies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43</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spectrum — time into frequency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coefficients = np.fft.rfft(signal)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freqs = np.fft.rfftfreq(n, 1/fs)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n = 1000 samples, fs = 1000 Hz</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501 frequencies, 0 to 500 Hz</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spaced fs/n = 1 Hz apart</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second of signal buys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 Hz of frequency detail</a:t>
            </a:r>
            <a:endParaRPr lang="en-US" sz="1400" dirty="0"/>
          </a:p>
        </p:txBody>
      </p:sp>
      <p:sp>
        <p:nvSpPr>
          <p:cNvPr id="11"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discrete Fourier transform asks, of every frequency it can see, how much of that frequency is in the signal. rfft does it for real input and returns only the positive half.</a:t>
            </a:r>
            <a:endParaRPr lang="en-US" sz="1600" dirty="0"/>
          </a:p>
        </p:txBody>
      </p:sp>
      <p:sp>
        <p:nvSpPr>
          <p:cNvPr id="12" name="Text 8"/>
          <p:cNvSpPr/>
          <p:nvPr/>
        </p:nvSpPr>
        <p:spPr>
          <a:xfrm>
            <a:off x="7431430" y="353314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Resolution comes from duration alone: bins sit fs/n apart, and n is fs times duration, so the spacing is 1/duration. Two seconds would give 0.5 Hz.</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Longer recording, finer frequency detail. Faster sampling, higher ceiling. Two different knobs.</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two lines that scale it</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44</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the two lines that matter</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mag = 2.0 * np.abs(coefficients) / 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mag[0] = np.abs(coefficients[0]) / 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why 2/n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tone splits its energy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between +f and -f</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rfft shows you only +f</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why is bin 0 different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0 Hz has no negative twin</a:t>
            </a:r>
            <a:endParaRPr lang="en-US" sz="1400" dirty="0"/>
          </a:p>
        </p:txBody>
      </p:sp>
      <p:sp>
        <p:nvSpPr>
          <p:cNvPr id="11"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Without the 2/n a one-volt tone reads about five hundred. Every spike lands in the right place and every height is wrong.</a:t>
            </a:r>
            <a:endParaRPr lang="en-US" sz="1600" dirty="0"/>
          </a:p>
        </p:txBody>
      </p:sp>
      <p:sp>
        <p:nvSpPr>
          <p:cNvPr id="12"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Bin 0 is a constant offset. It was never split across a pair, so doubling it makes it twice what it should be — the bug the agent writes most often.</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Requirement 5 in your spec, and the single line most worth checking by hand.</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streamlit.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python.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file per page, and Streamlit finds it</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45</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app.py</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run this. the entry point.</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pages/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file = one tab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1_Example.py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2_Spectrum_Analyzer.py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9_Intake_Desk.py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leading number orders the tabs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underscores become spaces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there is no routing code to write</a:t>
            </a:r>
            <a:endParaRPr lang="en-US" sz="1400" dirty="0"/>
          </a:p>
        </p:txBody>
      </p:sp>
      <p:sp>
        <p:nvSpPr>
          <p:cNvPr id="11"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Streamlit turns every file in pages/ into a tab by itself. You never register a route or edit a config — you add a file, and it appears.</a:t>
            </a:r>
            <a:endParaRPr lang="en-US" sz="1600" dirty="0"/>
          </a:p>
        </p:txBody>
      </p:sp>
      <p:sp>
        <p:nvSpPr>
          <p:cNvPr id="12"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That is why the plan at Gate 3 gives one file to one task. Next week it is one file to one person, and four people never touch the same one.</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convention doing the real work here is a naming rule, not a framework feature.</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streamlit.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python.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Widgets in, chart out, and it reruns every time</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46</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the page, top to bottom</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fs = st.select_slider(...)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freq_a = st.number_input(...)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amp_a = st.number_input(...)</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times,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freqs, mag = spectrum(sig, fs)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st.metric("Strongest frequency",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st.pyplot(figure)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st.info("check it yourself ...")</a:t>
            </a:r>
            <a:endParaRPr lang="en-US" sz="1400" dirty="0"/>
          </a:p>
        </p:txBody>
      </p:sp>
      <p:sp>
        <p:nvSpPr>
          <p:cNvPr id="11"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widget is not an event handler. st.number_input hands back whatever is in the box right now, the script carries on using it, and moving any control reruns the whole file from the top.</a:t>
            </a:r>
            <a:endParaRPr lang="en-US" sz="1600" dirty="0"/>
          </a:p>
        </p:txBody>
      </p:sp>
      <p:sp>
        <p:nvSpPr>
          <p:cNvPr id="12" name="Text 8"/>
          <p:cNvSpPr/>
          <p:nvPr/>
        </p:nvSpPr>
        <p:spPr>
          <a:xfrm>
            <a:off x="7431430" y="353314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st.metric, st.pyplot and st.info are how this page shows a result. If your agent reaches for st.line_chart instead, name the axes with x= and y=, or it draws your x-axis as a second line.</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maths lives in core/ with no Streamlit in it. That is why seven tests can check it without ever opening a browser.</a:t>
            </a:r>
            <a:endParaRPr lang="en-US" sz="15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04013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0744200" y="361950"/>
            <a:ext cx="203200" cy="203200"/>
          </a:xfrm>
          <a:prstGeom prst="rect">
            <a:avLst/>
          </a:prstGeom>
        </p:spPr>
      </p:pic>
      <p:pic>
        <p:nvPicPr>
          <p:cNvPr id="5" name="Image 2" descr="icons/streamlit.png">    </p:cNvPr>
          <p:cNvPicPr>
            <a:picLocks noChangeAspect="1"/>
          </p:cNvPicPr>
          <p:nvPr/>
        </p:nvPicPr>
        <p:blipFill>
          <a:blip r:embed="rId3"/>
          <a:stretch>
            <a:fillRect/>
          </a:stretch>
        </p:blipFill>
        <p:spPr>
          <a:xfrm>
            <a:off x="11087100" y="361950"/>
            <a:ext cx="203200" cy="203200"/>
          </a:xfrm>
          <a:prstGeom prst="rect">
            <a:avLst/>
          </a:prstGeom>
        </p:spPr>
      </p:pic>
      <p:pic>
        <p:nvPicPr>
          <p:cNvPr id="6" name="Image 3" descr="icons/pytest.png">    </p:cNvPr>
          <p:cNvPicPr>
            <a:picLocks noChangeAspect="1"/>
          </p:cNvPicPr>
          <p:nvPr/>
        </p:nvPicPr>
        <p:blipFill>
          <a:blip r:embed="rId4"/>
          <a:stretch>
            <a:fillRect/>
          </a:stretch>
        </p:blipFill>
        <p:spPr>
          <a:xfrm>
            <a:off x="11430000" y="361950"/>
            <a:ext cx="203200" cy="203200"/>
          </a:xfrm>
          <a:prstGeom prst="rect">
            <a:avLst/>
          </a:prstGeom>
        </p:spPr>
      </p:pic>
      <p:sp>
        <p:nvSpPr>
          <p:cNvPr id="7"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Where to read more</a:t>
            </a:r>
            <a:endParaRPr lang="en-US" sz="2800" dirty="0"/>
          </a:p>
        </p:txBody>
      </p:sp>
      <p:sp>
        <p:nvSpPr>
          <p:cNvPr id="8" name="Shape 2"/>
          <p:cNvSpPr/>
          <p:nvPr/>
        </p:nvSpPr>
        <p:spPr>
          <a:xfrm>
            <a:off x="558800" y="1181100"/>
            <a:ext cx="11074400" cy="6350"/>
          </a:xfrm>
          <a:prstGeom prst="rect">
            <a:avLst/>
          </a:prstGeom>
          <a:solidFill>
            <a:srgbClr val="E1DED7"/>
          </a:solidFill>
          <a:ln/>
        </p:spPr>
      </p:sp>
      <p:sp>
        <p:nvSpPr>
          <p:cNvPr id="9"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10"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47</a:t>
            </a:r>
            <a:endParaRPr lang="en-US" sz="1200" dirty="0"/>
          </a:p>
        </p:txBody>
      </p:sp>
      <p:sp>
        <p:nvSpPr>
          <p:cNvPr id="11"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THEORY</a:t>
            </a:r>
            <a:endParaRPr lang="en-US" sz="1300" dirty="0"/>
          </a:p>
        </p:txBody>
      </p:sp>
      <p:sp>
        <p:nvSpPr>
          <p:cNvPr id="12"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Steven Smith, “The Scientist and Engineer's Guide to Digital Signal Processing” — free in full at dspguide.com. Chapters 8 to 12 cover everything on the last three slides.</a:t>
            </a:r>
            <a:endParaRPr lang="en-US" sz="1600" dirty="0"/>
          </a:p>
        </p:txBody>
      </p:sp>
      <p:sp>
        <p:nvSpPr>
          <p:cNvPr id="13" name="Text 7"/>
          <p:cNvSpPr/>
          <p:nvPr/>
        </p:nvSpPr>
        <p:spPr>
          <a:xfrm>
            <a:off x="5588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For intuition rather than algebra, 3Blue1Brown's “But what is the Fourier Transform?” is twenty minutes and worth all of them. Search Nyquist–Shannon sampling theorem for the ceiling.</a:t>
            </a:r>
            <a:endParaRPr lang="en-US" sz="1600" dirty="0"/>
          </a:p>
        </p:txBody>
      </p:sp>
      <p:sp>
        <p:nvSpPr>
          <p:cNvPr id="14"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TOOLS</a:t>
            </a:r>
            <a:endParaRPr lang="en-US" sz="1300" dirty="0"/>
          </a:p>
        </p:txBody>
      </p:sp>
      <p:sp>
        <p:nvSpPr>
          <p:cNvPr id="15"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numpy.org documents fft.rfft and fft.rfftfreq, including the normalisation conventions behind every scaling bug you saw today.</a:t>
            </a:r>
            <a:endParaRPr lang="en-US" sz="1600" dirty="0"/>
          </a:p>
        </p:txBody>
      </p:sp>
      <p:sp>
        <p:nvSpPr>
          <p:cNvPr id="16" name="Text 10"/>
          <p:cNvSpPr/>
          <p:nvPr/>
        </p:nvSpPr>
        <p:spPr>
          <a:xfrm>
            <a:off x="63500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docs.streamlit.io for the interface and docs.pytest.org for the tests. Both are the official pages, both are shorter than you would expect, and both are what your agent was trained on.</a:t>
            </a:r>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07</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07</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49</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50</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come back in at github.com/codespaces · do not make a new one</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51</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2026-09-03T16:56:49Z</dcterms:created>
  <dcterms:modified xsi:type="dcterms:W3CDTF">2026-09-03T16:56:49Z</dcterms:modified>
</cp:coreProperties>
</file>