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Hold it while people sit down. Say the one-line promise: by the end of today you will have built and published a working app, and you will know why the careful route beat the quick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 screen as they walk in, and stays up for the first fifteen minutes. Say the key rule out loud: the key goes in .env, never in a file you commit, and never pasted into the chat. Walk the room rather than talking — the failures are individual, and the check script names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common two failures: the key pasted with a trailing space, and the placeholder text left in place. Both are named explicitly by the script. If a whole row is stuck, it is usually the proxy rather than the student.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Point out that item 05 is where they build the real thing; everything before it exists to make 05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clicking on: ask who has used ChatGPT to write code. Most hands. Then ask who knows what happens between typing the request and the file changing. Few hands. That gap is this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three minutes and resist the detail. The two things they must leave with: training happened once and is finished, and the model predicts rather than looks up. Say the cost out loud — training one of these runs to millions of dollars, which is why you rent it instead of building it. Someone always asks whether it is on the internet: no. It is a fixed set of numbers that has been frozen since the day training stopped.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useful distinction in the course. When something goes wrong they must ask which half broke: rate limited is a model problem, Diff Edit Failed is a harness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Name-drop deliberately: these are the tools in job adverts, and students should recognise them. The point to land is the last line — when a model runs out of quota this afternoon they will change a dropdown and carry on working, and that only makes sense if they hold the two halves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loop out loud with a concrete example: add a plot of the frequency response. Read the file, propose the edit, apply, run, read the error, go round again. The second paragraph sets up the quota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is the one that changes their behaviour. Everything here is a constraint they hit today, not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counter-intuitive point is the last one. Students assume a long conversation means the agent understands more; it means the opposite. The practical instruction is: start a new task per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arithmetic on the board with them rather than reading it. The number that lands is roughly one lab session per day on one account. Then the bridge into the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sentence is the third. A model cannot report not-knowing, because from the inside it looks the same as knowing. Hence the rule for the whole course: verify by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plainly: this round is meant to go badly, and going badly is the useful part. Do not rescue anyone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two questions aloud before they start; they are the point of the exercise, not the app. Circulate but do not help. Stop everyone at 25 minutes, especially anyone mid-flow.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Resume after the warm-up. Take three answers out loud before advancing, especially from anyone whose app looked finished. Most will not have checked the amplitude.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fair to the left column. Asking directly is genuinely faster and correct often enough to feel fine, which is exactly why it is dangerous. The difference is not speed, it is whether you can tell.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that Gate 1 is the only one they write themselves; the agent drafts 2 and 3 and they approve. Approving without reading is the failure mode to warn about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real file. The NOT-included question is worth dwelling on: their warm-up agent invented file loading, windowing and saving because nothing told it to stop. Scope is a decision, and it is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Requirement 5 is the trap that catches everyone, including the agent: the DC term must not be doubled. Ask the room how they would have written the check for requirement 3 — most say “the peak is in the right place”, which is exactly the check that misses a factor of five hundred.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Approve the plan, not the code — no code exists yet. Flag forward to Session 2 explicitly: this is the rule that makes group work survivable without anyone having to learn git branching in an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Commit every time the tests go green — that is what makes “git checkout the file” a safe escape hatch when the agent later mangles something. The failure mode to name now: approving a diff without reading it, which feels productive and is how the DC bug gets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real .clinerules in the editor here, not just the slide. The point that surprises them: the rules are plain English in a plain file, and they can edit them. Sixty of you and one of me, so the tool holds the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software engineering content enters, and it should feel like a reveal. They have not been given four arbitrary hoops; they have walked the standard lifecycle, which predates all of this by fifty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Credit AWS explicitly; the paper is in the homework. Do not oversell it: AI-DLC targets large systems with many teams, and what they run today is a shrunk version. Say that plainly.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timebox rule out loud before they start: fifteen minutes stuck on one task, then restore the reference and move on. Nobody loses marks for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sight of the thing they build all day. Point at the spike heights: 1.0 and 0.5 are the numbers they typed in - that equality is the entire lab. If it looks unimpressive, good: the point is that correctness, not spectacle, is what they are chasing.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out as the acceptance criteria, because that is what it is. The height requirement is the one they will skip and the one the tests will catch: a chart with both spikes in the right place, five hundred times too short, looks entirely convincing.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real test file on screen. Ask them to predict which of the seven tests would still pass if the scaling were wrong. Answer: all but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fifteen minutes, everyone, whether or not their app worked. Insist on the mutation exercise: two tests fail, the peak-location test stays green, and the chart still looks perfectly reasonable.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idea of the session, and the bridge to Session 2. Say plainly that the documents, not the code, were the work today — the code was the cheap part, and it will only get cheaper. Anyone whose app did not run still has four documents they can show, and that is a real deliverable.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for a moment; this is the slide they photograph. Then homework, then the closing slide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up during questions. Stress the log: three things the agent got wrong. Anyone who writes 'it all worked fine' did not look hard enough, and it is thirty per cent of the individual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AI FOR SOFTWARE DEVELOPMENT · 3RD YEAR EE</a:t>
            </a:r>
            <a:endParaRPr lang="en-US" sz="1300" dirty="0"/>
          </a:p>
        </p:txBody>
      </p:sp>
      <p:sp>
        <p:nvSpPr>
          <p:cNvPr id="3" name="Text 1"/>
          <p:cNvSpPr/>
          <p:nvPr/>
        </p:nvSpPr>
        <p:spPr>
          <a:xfrm>
            <a:off x="558800" y="2984500"/>
            <a:ext cx="8890000" cy="1397000"/>
          </a:xfrm>
          <a:prstGeom prst="rect">
            <a:avLst/>
          </a:prstGeom>
          <a:noFill/>
          <a:ln/>
        </p:spPr>
        <p:txBody>
          <a:bodyPr wrap="square" lIns="0" tIns="0" rIns="0" bIns="0" rtlCol="0" anchor="t"/>
          <a:lstStyle/>
          <a:p>
            <a:pPr algn="l" indent="0" marL="0">
              <a:lnSpc>
                <a:spcPct val="105000"/>
              </a:lnSpc>
              <a:buNone/>
            </a:pPr>
            <a:r>
              <a:rPr lang="en-US" sz="4800" b="1" dirty="0">
                <a:solidFill>
                  <a:srgbClr val="332F2A"/>
                </a:solidFill>
                <a:latin typeface="Libre Franklin" pitchFamily="34" charset="0"/>
                <a:ea typeface="Libre Franklin" pitchFamily="34" charset="-122"/>
                <a:cs typeface="Libre Franklin" pitchFamily="34" charset="-120"/>
              </a:rPr>
              <a:t>Meet your agent</a:t>
            </a:r>
            <a:endParaRPr lang="en-US" sz="4800" dirty="0"/>
          </a:p>
        </p:txBody>
      </p:sp>
      <p:sp>
        <p:nvSpPr>
          <p:cNvPr id="4" name="Text 2"/>
          <p:cNvSpPr/>
          <p:nvPr/>
        </p:nvSpPr>
        <p:spPr>
          <a:xfrm>
            <a:off x="558800" y="4445000"/>
            <a:ext cx="8890000" cy="762000"/>
          </a:xfrm>
          <a:prstGeom prst="rect">
            <a:avLst/>
          </a:prstGeom>
          <a:noFill/>
          <a:ln/>
        </p:spPr>
        <p:txBody>
          <a:bodyPr wrap="square" lIns="0" tIns="0" rIns="0" bIns="0" rtlCol="0" anchor="t"/>
          <a:lstStyle/>
          <a:p>
            <a:pPr algn="l" indent="0" marL="0">
              <a:lnSpc>
                <a:spcPct val="130000"/>
              </a:lnSpc>
              <a:buNone/>
            </a:pPr>
            <a:r>
              <a:rPr lang="en-US" sz="2000" dirty="0">
                <a:solidFill>
                  <a:srgbClr val="77726A"/>
                </a:solidFill>
                <a:latin typeface="Libre Franklin" pitchFamily="34" charset="0"/>
                <a:ea typeface="Libre Franklin" pitchFamily="34" charset="-122"/>
                <a:cs typeface="Libre Franklin" pitchFamily="34" charset="-120"/>
              </a:rPr>
              <a:t>Session 1 — how an AI coding agent works, and how to make it build what you meant</a:t>
            </a:r>
            <a:endParaRPr lang="en-US" sz="2000" dirty="0"/>
          </a:p>
        </p:txBody>
      </p:sp>
      <p:sp>
        <p:nvSpPr>
          <p:cNvPr id="5" name="Shape 3"/>
          <p:cNvSpPr/>
          <p:nvPr/>
        </p:nvSpPr>
        <p:spPr>
          <a:xfrm>
            <a:off x="558800" y="6172200"/>
            <a:ext cx="11074400" cy="6350"/>
          </a:xfrm>
          <a:prstGeom prst="rect">
            <a:avLst/>
          </a:prstGeom>
          <a:solidFill>
            <a:srgbClr val="E1DED7"/>
          </a:solidFill>
          <a:ln/>
        </p:spPr>
      </p:sp>
      <p:sp>
        <p:nvSpPr>
          <p:cNvPr id="6" name="Text 4"/>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Your Name · Department of Electrical Engineering</a:t>
            </a:r>
            <a:endParaRPr lang="en-US" sz="1300" dirty="0"/>
          </a:p>
        </p:txBody>
      </p:sp>
      <p:sp>
        <p:nvSpPr>
          <p:cNvPr id="7" name="Text 5"/>
          <p:cNvSpPr/>
          <p:nvPr/>
        </p:nvSpPr>
        <p:spPr>
          <a:xfrm>
            <a:off x="9093200" y="6337300"/>
            <a:ext cx="2540000" cy="215900"/>
          </a:xfrm>
          <a:prstGeom prst="rect">
            <a:avLst/>
          </a:prstGeom>
          <a:noFill/>
          <a:ln/>
        </p:spPr>
        <p:txBody>
          <a:bodyPr wrap="square" lIns="0" tIns="0" rIns="0" bIns="0" rtlCol="0" anchor="t"/>
          <a:lstStyle/>
          <a:p>
            <a:pPr algn="r"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Session 1 of 3</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SETUP</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Before we start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02</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 GitHub account.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Free. Sign up at github.com — use your university email if you do not have one yet.</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Open the template as a Codespace.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One click from the repository page. It builds a Linux machine in your browser; nothing installs on this PC.</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 Gemini API key.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Free at aistudio.google.com/apikey. Paste it into .env, save, and never commit it.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Then run check_setup.py.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It names whichever of the four checks is not right yet. Do not move on until all four are green.</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SETUP</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four checks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python check_setup.py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Python version: 3.11</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Packages: all 6 installed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API key present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API key works: Gemini</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replied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ALL CHECKS PASSED - you are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ready for the session.</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Four checks, in the order they can fail. A failing line names the fix; it never just tells you something is wrong.</a:t>
            </a:r>
            <a:endParaRPr lang="en-US" sz="1600" dirty="0"/>
          </a:p>
        </p:txBody>
      </p:sp>
      <p:sp>
        <p:nvSpPr>
          <p:cNvPr id="10" name="Text 8"/>
          <p:cNvSpPr/>
          <p:nvPr/>
        </p:nvSpPr>
        <p:spPr>
          <a:xfrm>
            <a:off x="7431430" y="294386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Still stuck after ten minutes? Ask a neighbour before you ask me. TROUBLESHOOTING.md carries the same list with fixes.</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Nothing installs on the lab PC. The machine you are working on is in the browser.</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Agenda</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04</a:t>
            </a:r>
            <a:endParaRPr lang="en-US" sz="1200" dirty="0"/>
          </a:p>
        </p:txBody>
      </p:sp>
      <p:sp>
        <p:nvSpPr>
          <p:cNvPr id="7" name="Text 5"/>
          <p:cNvSpPr/>
          <p:nvPr/>
        </p:nvSpPr>
        <p:spPr>
          <a:xfrm>
            <a:off x="5588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01</a:t>
            </a:r>
            <a:endParaRPr lang="en-US" sz="1300" dirty="0"/>
          </a:p>
        </p:txBody>
      </p:sp>
      <p:sp>
        <p:nvSpPr>
          <p:cNvPr id="8" name="Text 6"/>
          <p:cNvSpPr/>
          <p:nvPr/>
        </p:nvSpPr>
        <p:spPr>
          <a:xfrm>
            <a:off x="9398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How an agent works</a:t>
            </a:r>
            <a:endParaRPr lang="en-US" sz="1700" dirty="0"/>
          </a:p>
        </p:txBody>
      </p:sp>
      <p:sp>
        <p:nvSpPr>
          <p:cNvPr id="9" name="Text 7"/>
          <p:cNvSpPr/>
          <p:nvPr/>
        </p:nvSpPr>
        <p:spPr>
          <a:xfrm>
            <a:off x="63500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02</a:t>
            </a:r>
            <a:endParaRPr lang="en-US" sz="1300" dirty="0"/>
          </a:p>
        </p:txBody>
      </p:sp>
      <p:sp>
        <p:nvSpPr>
          <p:cNvPr id="10" name="Text 8"/>
          <p:cNvSpPr/>
          <p:nvPr/>
        </p:nvSpPr>
        <p:spPr>
          <a:xfrm>
            <a:off x="67310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What it costs, and why it fails</a:t>
            </a:r>
            <a:endParaRPr lang="en-US" sz="1700" dirty="0"/>
          </a:p>
        </p:txBody>
      </p:sp>
      <p:sp>
        <p:nvSpPr>
          <p:cNvPr id="11" name="Text 9"/>
          <p:cNvSpPr/>
          <p:nvPr/>
        </p:nvSpPr>
        <p:spPr>
          <a:xfrm>
            <a:off x="5588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03</a:t>
            </a:r>
            <a:endParaRPr lang="en-US" sz="1300" dirty="0"/>
          </a:p>
        </p:txBody>
      </p:sp>
      <p:sp>
        <p:nvSpPr>
          <p:cNvPr id="12" name="Text 10"/>
          <p:cNvSpPr/>
          <p:nvPr/>
        </p:nvSpPr>
        <p:spPr>
          <a:xfrm>
            <a:off x="9398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Warm-up — build it by asking</a:t>
            </a:r>
            <a:endParaRPr lang="en-US" sz="1700" dirty="0"/>
          </a:p>
        </p:txBody>
      </p:sp>
      <p:sp>
        <p:nvSpPr>
          <p:cNvPr id="13" name="Text 11"/>
          <p:cNvSpPr/>
          <p:nvPr/>
        </p:nvSpPr>
        <p:spPr>
          <a:xfrm>
            <a:off x="63500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04</a:t>
            </a:r>
            <a:endParaRPr lang="en-US" sz="1300" dirty="0"/>
          </a:p>
        </p:txBody>
      </p:sp>
      <p:sp>
        <p:nvSpPr>
          <p:cNvPr id="14" name="Text 12"/>
          <p:cNvSpPr/>
          <p:nvPr/>
        </p:nvSpPr>
        <p:spPr>
          <a:xfrm>
            <a:off x="67310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The Four Gates</a:t>
            </a:r>
            <a:endParaRPr lang="en-US" sz="1700" dirty="0"/>
          </a:p>
        </p:txBody>
      </p:sp>
      <p:sp>
        <p:nvSpPr>
          <p:cNvPr id="15" name="Text 13"/>
          <p:cNvSpPr/>
          <p:nvPr/>
        </p:nvSpPr>
        <p:spPr>
          <a:xfrm>
            <a:off x="5588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05</a:t>
            </a:r>
            <a:endParaRPr lang="en-US" sz="1300" dirty="0"/>
          </a:p>
        </p:txBody>
      </p:sp>
      <p:sp>
        <p:nvSpPr>
          <p:cNvPr id="16" name="Text 14"/>
          <p:cNvSpPr/>
          <p:nvPr/>
        </p:nvSpPr>
        <p:spPr>
          <a:xfrm>
            <a:off x="9398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Lab 1 — the same app, done properly</a:t>
            </a:r>
            <a:endParaRPr lang="en-US" sz="1700" dirty="0"/>
          </a:p>
        </p:txBody>
      </p:sp>
      <p:sp>
        <p:nvSpPr>
          <p:cNvPr id="17" name="Text 15"/>
          <p:cNvSpPr/>
          <p:nvPr/>
        </p:nvSpPr>
        <p:spPr>
          <a:xfrm>
            <a:off x="63500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06</a:t>
            </a:r>
            <a:endParaRPr lang="en-US" sz="1300" dirty="0"/>
          </a:p>
        </p:txBody>
      </p:sp>
      <p:sp>
        <p:nvSpPr>
          <p:cNvPr id="18" name="Text 16"/>
          <p:cNvSpPr/>
          <p:nvPr/>
        </p:nvSpPr>
        <p:spPr>
          <a:xfrm>
            <a:off x="67310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Read the reference, then ship</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01</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How an agent works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What actually happens between typing a request and a file changing on disk.</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a language model is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06</a:t>
            </a:r>
            <a:endParaRPr lang="en-US" sz="1200" dirty="0"/>
          </a:p>
        </p:txBody>
      </p:sp>
      <p:pic>
        <p:nvPicPr>
          <p:cNvPr id="7" name="Image 0" descr="figures/fig-language-model.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Trained once, on a very large amount of writing, to do a single thing: given some text, guess what comes next. Everything it appears to do is built on top of that one trick.</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It consults no database. An answer is reconstructed from patterns, never retrieved — which is the mechanism behind everything on the next three slides.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1 — trained once, then rented by the word</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Harness and model</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07</a:t>
            </a:r>
            <a:endParaRPr lang="en-US" sz="1200" dirty="0"/>
          </a:p>
        </p:txBody>
      </p:sp>
      <p:pic>
        <p:nvPicPr>
          <p:cNvPr id="7" name="Image 0" descr="figures/fig-harness-model.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harness is the program that does things. Cline reads your files, writes the edits, runs the commands, and decides when to ask the model what to do next. It has no intelligence of its own.</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model is the thing that decides what to say. It runs on someone else’s computer, never sees your disk, and can be swapped for another in three clicks.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2 — the two pieces you are driving</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tools people actually use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08</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HARNESSES</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Cline and Roo Code, free inside VS Code. Cursor and Windsurf, whole editors. GitHub Copilot. Claude Code and Gemini CLI, in the terminal. Aider.</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All do the same job: read your files, write the edits, run the commands. We use Cline because it is free and shows you every step it takes.</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MODELS</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Claude, GPT, Gemini, Mistral, Llama, Qwen, DeepSeek. Some you rent by the word; some you can download and run yourself.</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Nearly every harness lets you point at any of them. Swapping is a settings change, not a new tool — which is exactly why the split is worth knowing.</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loop the agent runs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09</a:t>
            </a:r>
            <a:endParaRPr lang="en-US" sz="1200" dirty="0"/>
          </a:p>
        </p:txBody>
      </p:sp>
      <p:pic>
        <p:nvPicPr>
          <p:cNvPr id="7" name="Image 0" descr="figures/fig-agent-loop.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Read, plan, edit, run, observe — then round again. The harness drives this loop until the task is done or you stop it.</a:t>
            </a:r>
            <a:endParaRPr lang="en-US" sz="1600" dirty="0"/>
          </a:p>
        </p:txBody>
      </p:sp>
      <p:sp>
        <p:nvSpPr>
          <p:cNvPr id="9" name="Text 6"/>
          <p:cNvSpPr/>
          <p:nvPr/>
        </p:nvSpPr>
        <p:spPr>
          <a:xfrm>
            <a:off x="7099300" y="264922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One sentence from you becomes four to ten laps, and every lap re-sends everything so far. That is where your allowance goes.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3 — one instruction, many laps</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02</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it costs, and why it fails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Three limits you will meet before lunch, and the reason none of them are bugs.</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Context and its limits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11</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model has no memory.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Between one request and the next it retains nothing at all.</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So everything is re-sent.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Every request carries the whole conversation and every file read so far.</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context window is the ceiling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on how much can be re-sent at once. Past it, the earliest parts fall away.</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long conversation therefore makes an agent worse, not better. Start a new task for each feature.</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Your free allowance, in one sum</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12</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one instruction from you</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-&gt; 4 to 10 requests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 2-hour lab</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 20 instructions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 100 to 200 requests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free tier, one Gemini Flash key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250 requests per day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10 requests per minute</a:t>
            </a:r>
            <a:endParaRPr lang="en-US" sz="1400" dirty="0"/>
          </a:p>
        </p:txBody>
      </p:sp>
      <p:sp>
        <p:nvSpPr>
          <p:cNvPr id="9" name="Text 7"/>
          <p:cNvSpPr/>
          <p:nvPr/>
        </p:nvSpPr>
        <p:spPr>
          <a:xfrm>
            <a:off x="7431430" y="15113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One lab session is roughly one day of your free allowance. There is no spare.</a:t>
            </a:r>
            <a:endParaRPr lang="en-US" sz="1600" dirty="0"/>
          </a:p>
        </p:txBody>
      </p:sp>
      <p:sp>
        <p:nvSpPr>
          <p:cNvPr id="10" name="Text 8"/>
          <p:cNvSpPr/>
          <p:nvPr/>
        </p:nvSpPr>
        <p:spPr>
          <a:xfrm>
            <a:off x="7431430" y="264922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Ten per minute also means the agent pauses about six seconds between steps. That is the limit working, not a fault.</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Everything that cuts your request count is also just good engineering.</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Why an agent invents things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13</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predicts, it does not look up.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reply is the text most likely to follow your request, not a fact retrieved from anywhere.</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 plausible function looks real.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library call that ought to exist looks exactly like one that does.</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cannot warn you.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Not knowing and knowing feel identical from the inside, so both come out equally confident.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Which leaves one rule: you check by running something, never by reading something that sounds right.</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03</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Warm-up — build it by asking</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No plan, no specification. Ask for the whole thing and see what arrives. 25 minutes.</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Paste this, then watch</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15</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Build me a spectrum analyser</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in Streamlit that adds two</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sine waves together and plots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the frequency spectrum.</a:t>
            </a:r>
            <a:endParaRPr lang="en-US" sz="1400" dirty="0"/>
          </a:p>
        </p:txBody>
      </p:sp>
      <p:sp>
        <p:nvSpPr>
          <p:cNvPr id="9" name="Text 7"/>
          <p:cNvSpPr/>
          <p:nvPr/>
        </p:nvSpPr>
        <p:spPr>
          <a:xfrm>
            <a:off x="7431430" y="15113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Accept whatever it gives you. Do not plan, do not correct it, do not write anything down first.</a:t>
            </a:r>
            <a:endParaRPr lang="en-US" sz="1600" dirty="0"/>
          </a:p>
        </p:txBody>
      </p:sp>
      <p:sp>
        <p:nvSpPr>
          <p:cNvPr id="10" name="Text 8"/>
          <p:cNvSpPr/>
          <p:nvPr/>
        </p:nvSpPr>
        <p:spPr>
          <a:xfrm>
            <a:off x="7431430" y="264922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Set tone A to amplitude 1.0. Does the spike on the chart actually reach 1.0?</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If a classmate asked whether your app is correct, could you show them why?</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04</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The Four Gates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The same request, routed through four points where a person decides.</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Two routes to the same app</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17</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ASKING DIRECTLY</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Faster to something on screen, and right often enough that it feels like it works.</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You cannot say what it should do, so you cannot say whether it does it. Nothing is checkable.</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THROUGH THE GATES</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Slower to the first screen, and you decide four times along the way instead of once at the end.</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Fewer requests too, because the agent stops guessing what you meant and backtracking.</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Four gates, four decisions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18</a:t>
            </a:r>
            <a:endParaRPr lang="en-US" sz="1200" dirty="0"/>
          </a:p>
        </p:txBody>
      </p:sp>
      <p:pic>
        <p:nvPicPr>
          <p:cNvPr id="7" name="Image 0" descr="figures/fig-four-gates.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gate is where the agent stops and a person decides. You write the intent; the agent drafts the spec and the plan.</a:t>
            </a:r>
            <a:endParaRPr lang="en-US" sz="1600" dirty="0"/>
          </a:p>
        </p:txBody>
      </p:sp>
      <p:sp>
        <p:nvSpPr>
          <p:cNvPr id="9" name="Text 6"/>
          <p:cNvSpPr/>
          <p:nvPr/>
        </p:nvSpPr>
        <p:spPr>
          <a:xfrm>
            <a:off x="7099300" y="264922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You approve each before anything moves. Build then runs one task at a time — tests pass, you read the diff, and only then does the next task start.</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4 — the agent proposes, you approve</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1 — Intent, and you write it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19</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aidlc/intent.md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Who is this for?</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 student who has just met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the Fourier transform.</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What does “done” look like?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I set two sine waves going</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and see a chart with exactly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those two frequencies, at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amplitudes I chose.</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only gate you write yourself, in your own words: who it is for, what problem it solves, what done looks like, and what is deliberately left out.</a:t>
            </a:r>
            <a:endParaRPr lang="en-US" sz="1600" dirty="0"/>
          </a:p>
        </p:txBody>
      </p:sp>
      <p:sp>
        <p:nvSpPr>
          <p:cNvPr id="10" name="Text 8"/>
          <p:cNvSpPr/>
          <p:nvPr/>
        </p:nvSpPr>
        <p:spPr>
          <a:xfrm>
            <a:off x="7431430" y="32385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agent will not start without it. A vague intent does not produce a vague app — it produces a confident, wrong one.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The question that saves you is the one about scope: what is deliberately NOT included.</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2 — Spec, and you approve it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20</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aidlc/requirements.md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3. Report the correct amplitude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check: a tone entered at 1.0</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reads back as 1.0, +/- 0.001</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5. Handle a constant offset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check: a DC offset of 2.0</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appears at 0 Hz as 2.0,</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not 4.0</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agent drafts these; you read every line and fix what is wrong. It is far better at the requirement than at the check beside it.</a:t>
            </a:r>
            <a:endParaRPr lang="en-US" sz="1600" dirty="0"/>
          </a:p>
        </p:txBody>
      </p:sp>
      <p:sp>
        <p:nvSpPr>
          <p:cNvPr id="10" name="Text 8"/>
          <p:cNvSpPr/>
          <p:nvPr/>
        </p:nvSpPr>
        <p:spPr>
          <a:xfrm>
            <a:off x="7431430" y="294386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Every requirement carries something you can run. A requirement you cannot check by running something is not a requirement yet.</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Reply “approved” only when every check on the slide could actually fail.</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3 — Plan, one file per task</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21</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aidlc/tasks.md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1. The maths: build a signal,</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take its spectrum, find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strongest frequency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-&gt; core/spectrum.py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2. The screen: two tones 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two charts out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-&gt; pages/2_Spectrum_...py</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Design and a task list, and every task names the ONE file it is allowed to touch. Working alone today that looks like bookkeeping.</a:t>
            </a:r>
            <a:endParaRPr lang="en-US" sz="1600" dirty="0"/>
          </a:p>
        </p:txBody>
      </p:sp>
      <p:sp>
        <p:nvSpPr>
          <p:cNvPr id="10" name="Text 8"/>
          <p:cNvSpPr/>
          <p:nvPr/>
        </p:nvSpPr>
        <p:spPr>
          <a:xfrm>
            <a:off x="7431430" y="294386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In Session 2 it is the whole trick: four people build at once and never touch the same file, so there is nothing to merge.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One task, one owner, one file.</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4 — Build, one task at a time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22</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pytest tests/test_spectrum.py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7 failed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agent edits core/spectrum.py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you read the diff</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pytest tests/test_spectrum.py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7 passed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git add -A &amp;&amp; git commit</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only gate with no document. One task: the agent edits a single file, you run the tests, you read the diff, you commit.</a:t>
            </a:r>
            <a:endParaRPr lang="en-US" sz="1600" dirty="0"/>
          </a:p>
        </p:txBody>
      </p:sp>
      <p:sp>
        <p:nvSpPr>
          <p:cNvPr id="10" name="Text 8"/>
          <p:cNvSpPr/>
          <p:nvPr/>
        </p:nvSpPr>
        <p:spPr>
          <a:xfrm>
            <a:off x="7431430" y="294386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Never let it run three tasks at once. When something breaks you want one small change in front of you, not three.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Green tests and a diff you have actually read. Then the next task.</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gates live in a file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.clinerules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Gate 2 - Spec. Before any code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exists, aidlc/requirements.md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must list numbered requirements,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each with an acceptance criterion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that can be checked by running</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something. Draft it, then STOP</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and ask for approval.</a:t>
            </a:r>
            <a:endParaRPr lang="en-US" sz="1400" dirty="0"/>
          </a:p>
        </p:txBody>
      </p:sp>
      <p:sp>
        <p:nvSpPr>
          <p:cNvPr id="9" name="Text 7"/>
          <p:cNvSpPr/>
          <p:nvPr/>
        </p:nvSpPr>
        <p:spPr>
          <a:xfrm>
            <a:off x="7431430" y="15113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Your agent reads this file before every single request, and obeys it.</a:t>
            </a:r>
            <a:endParaRPr lang="en-US" sz="1600" dirty="0"/>
          </a:p>
        </p:txBody>
      </p:sp>
      <p:sp>
        <p:nvSpPr>
          <p:cNvPr id="10" name="Text 8"/>
          <p:cNvSpPr/>
          <p:nvPr/>
        </p:nvSpPr>
        <p:spPr>
          <a:xfrm>
            <a:off x="7431430" y="264922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Ask it to skip ahead today and it will refuse. That refusal is the file working.</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Open it now. It is plain English, and by Session 2 you will be editing it.</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 have seen these gates before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24</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THE GATES YOU RUN</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Intent, then spec, then plan, then build one task at a time, then ship.</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Five steps that fit in a two-hour lab and produce four short documents.</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WHAT IT IS CALLED ELSEWHERE</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Requirements, design, implementation, testing, deployment — the software lifecycle, taught since the 1970s.</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agent needs these written down for the same reason a team of people does. Neither can read your mind.</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words used in industry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25</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Intent.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business goal, before anyone has decided how to build it. Your Gate 1.</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Units.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independent pieces an intent breaks into. Next week each of you owns one.</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Bolts.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Build cycles measured in hours rather than the two to six weeks of a sprint.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From AI-DLC, published by AWS in 2025. Its one rule: the AI proposes, and a human approves.</a:t>
            </a:r>
            <a:endParaRPr lang="en-US" sz="1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05</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Lab 1 — the same app, done properly</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Delete the warm-up and build it again through the gates. Instructions in labs/LAB1.md. 70 minutes.</a:t>
            </a:r>
            <a:endParaRPr lang="en-US" sz="1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you are building</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27</a:t>
            </a:r>
            <a:endParaRPr lang="en-US" sz="1200" dirty="0"/>
          </a:p>
        </p:txBody>
      </p:sp>
      <p:pic>
        <p:nvPicPr>
          <p:cNvPr id="7" name="Image 0" descr="figures/fig-spectrum.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Two sine waves in, and a chart that finds them again: spikes at exactly the frequencies you chose, at exactly the heights you set.</a:t>
            </a:r>
            <a:endParaRPr lang="en-US" sz="1600" dirty="0"/>
          </a:p>
        </p:txBody>
      </p:sp>
      <p:sp>
        <p:nvSpPr>
          <p:cNvPr id="9" name="Text 6"/>
          <p:cNvSpPr/>
          <p:nvPr/>
        </p:nvSpPr>
        <p:spPr>
          <a:xfrm>
            <a:off x="7099300" y="294386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heights are the check. A spectrum can put every spike in the right place and still be wrong by a factor of five hundred.</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5 — output of pages/2_Spectrum_Analyzer.py</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goes in, what must come out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28</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INPUT</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Two tones, each with a frequency in hertz and an amplitude. A sampling rate in samples per second, and a duration.</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These must work: 50 Hz at 1.0 and 120 Hz at 0.5, sampled at 1000 for one second. They are the numbers the tests use.</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OUTPUT</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combined waveform against time, and beside it the spectrum: one spike per tone, at the right frequency and at the right height.</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Plus the strongest frequency printed as a number. Seven tests in tests/test_spectrum.py decide whether any of it is right.</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Your customer wrote the tests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29</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tests/test_spectrum.py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def test_a_one_volt_sine_shows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_an_amplitude_of_one():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_, sig = make_signal(</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[(50.0, 1.0)], FS, DURATION)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f, mag = spectrum(sig, FS)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assert mag[argmax(mag)] == approx(</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1.0, abs=0.001)</a:t>
            </a:r>
            <a:endParaRPr lang="en-US" sz="1400" dirty="0"/>
          </a:p>
        </p:txBody>
      </p:sp>
      <p:sp>
        <p:nvSpPr>
          <p:cNvPr id="9" name="Text 7"/>
          <p:cNvSpPr/>
          <p:nvPr/>
        </p:nvSpPr>
        <p:spPr>
          <a:xfrm>
            <a:off x="7431430" y="15113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Seven tests are already in your repository. Your app is finished when they pass.</a:t>
            </a:r>
            <a:endParaRPr lang="en-US" sz="1600" dirty="0"/>
          </a:p>
        </p:txBody>
      </p:sp>
      <p:sp>
        <p:nvSpPr>
          <p:cNvPr id="10" name="Text 8"/>
          <p:cNvSpPr/>
          <p:nvPr/>
        </p:nvSpPr>
        <p:spPr>
          <a:xfrm>
            <a:off x="7431430" y="264922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Before you read them, write down in your own words how you would check the chart is right. Then compare.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A spectrum can have every peak in exactly the right place and still be wrong by a factor of five hundred.</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Read the reference before you leave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30</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Everyone does this,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whether your own version works or not. The prompts are in labs/EXPLAIN.md.</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Ask it to break the code.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Change the 2/n to 1/n, run the tests, watch which two fail, then change it back.</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Nothing here edits your work,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so none of it can break your project. Explaining is the safest thing an agent does.</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Reading code you did not write, with an AI explaining it, is the most common way these tools are used at work.</a:t>
            </a:r>
            <a:endParaRPr lang="en-US" sz="1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files a person writes at work</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31</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Open the four you approved.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aidlc/intent.md, requirements.md, design.md and tasks.md — read them as one set, in order.</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In a real team a person writes these.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product owner or tech lead drafts the intent and spec. The agent drafting them is a start, not a replacement.</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Which is why you approved each one.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Everything built today came out of those four files. A wrong line there becomes a wrong app, quickly and cheaply.</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labs/PROMPTS.md explains why each prompt is worded the way it is. Read it before Session 2 — you will be writing your own.</a:t>
            </a:r>
            <a:endParaRPr lang="en-US" sz="1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to take away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32</a:t>
            </a:r>
            <a:endParaRPr lang="en-US" sz="1200" dirty="0"/>
          </a:p>
        </p:txBody>
      </p:sp>
      <p:sp>
        <p:nvSpPr>
          <p:cNvPr id="7" name="Text 5"/>
          <p:cNvSpPr/>
          <p:nvPr/>
        </p:nvSpPr>
        <p:spPr>
          <a:xfrm>
            <a:off x="558800" y="151130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01</a:t>
            </a:r>
            <a:endParaRPr lang="en-US" sz="1700" dirty="0"/>
          </a:p>
        </p:txBody>
      </p:sp>
      <p:sp>
        <p:nvSpPr>
          <p:cNvPr id="8" name="Text 6"/>
          <p:cNvSpPr/>
          <p:nvPr/>
        </p:nvSpPr>
        <p:spPr>
          <a:xfrm>
            <a:off x="1003300" y="149860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An agent is a harness driving a model. Knowing which half broke is half the fix.</a:t>
            </a:r>
            <a:endParaRPr lang="en-US" sz="1800" dirty="0"/>
          </a:p>
        </p:txBody>
      </p:sp>
      <p:sp>
        <p:nvSpPr>
          <p:cNvPr id="9" name="Text 7"/>
          <p:cNvSpPr/>
          <p:nvPr/>
        </p:nvSpPr>
        <p:spPr>
          <a:xfrm>
            <a:off x="558800" y="211074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02</a:t>
            </a:r>
            <a:endParaRPr lang="en-US" sz="1700" dirty="0"/>
          </a:p>
        </p:txBody>
      </p:sp>
      <p:sp>
        <p:nvSpPr>
          <p:cNvPr id="10" name="Text 8"/>
          <p:cNvSpPr/>
          <p:nvPr/>
        </p:nvSpPr>
        <p:spPr>
          <a:xfrm>
            <a:off x="1003300" y="209804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 requirement you cannot check by running something is not a requirement yet.</a:t>
            </a:r>
            <a:endParaRPr lang="en-US" sz="1800" dirty="0"/>
          </a:p>
        </p:txBody>
      </p:sp>
      <p:sp>
        <p:nvSpPr>
          <p:cNvPr id="11" name="Text 9"/>
          <p:cNvSpPr/>
          <p:nvPr/>
        </p:nvSpPr>
        <p:spPr>
          <a:xfrm>
            <a:off x="558800" y="271018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03</a:t>
            </a:r>
            <a:endParaRPr lang="en-US" sz="1700" dirty="0"/>
          </a:p>
        </p:txBody>
      </p:sp>
      <p:sp>
        <p:nvSpPr>
          <p:cNvPr id="12" name="Text 10"/>
          <p:cNvSpPr/>
          <p:nvPr/>
        </p:nvSpPr>
        <p:spPr>
          <a:xfrm>
            <a:off x="1003300" y="269748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Looking right and being right differ, and only one of them survives a test.</a:t>
            </a:r>
            <a:endParaRPr lang="en-US" sz="1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QUESTIONS</a:t>
            </a:r>
            <a:endParaRPr lang="en-US" sz="1300" dirty="0"/>
          </a:p>
        </p:txBody>
      </p:sp>
      <p:sp>
        <p:nvSpPr>
          <p:cNvPr id="3" name="Text 1"/>
          <p:cNvSpPr/>
          <p:nvPr/>
        </p:nvSpPr>
        <p:spPr>
          <a:xfrm>
            <a:off x="558800" y="3048000"/>
            <a:ext cx="5283200" cy="15240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did your agent get wrong?</a:t>
            </a:r>
            <a:endParaRPr lang="en-US" sz="4000" dirty="0"/>
          </a:p>
        </p:txBody>
      </p:sp>
      <p:sp>
        <p:nvSpPr>
          <p:cNvPr id="4" name="Text 2"/>
          <p:cNvSpPr/>
          <p:nvPr/>
        </p:nvSpPr>
        <p:spPr>
          <a:xfrm>
            <a:off x="6350000" y="3556000"/>
            <a:ext cx="5283200" cy="3962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Finish and deploy Lab 1 if it is not live yet</a:t>
            </a:r>
            <a:endParaRPr lang="en-US" sz="1600" dirty="0"/>
          </a:p>
        </p:txBody>
      </p:sp>
      <p:sp>
        <p:nvSpPr>
          <p:cNvPr id="5" name="Text 3"/>
          <p:cNvSpPr/>
          <p:nvPr/>
        </p:nvSpPr>
        <p:spPr>
          <a:xfrm>
            <a:off x="6350000" y="3975100"/>
            <a:ext cx="5283200" cy="3962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Read the AI-DLC notes before Session 2</a:t>
            </a:r>
            <a:endParaRPr lang="en-US" sz="1600" dirty="0"/>
          </a:p>
        </p:txBody>
      </p:sp>
      <p:sp>
        <p:nvSpPr>
          <p:cNvPr id="6" name="Text 4"/>
          <p:cNvSpPr/>
          <p:nvPr/>
        </p:nvSpPr>
        <p:spPr>
          <a:xfrm>
            <a:off x="6350000" y="4508500"/>
            <a:ext cx="5283200" cy="2540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next session · teams of four · bring a project idea</a:t>
            </a:r>
            <a:endParaRPr lang="en-US" sz="1300" dirty="0"/>
          </a:p>
        </p:txBody>
      </p:sp>
      <p:sp>
        <p:nvSpPr>
          <p:cNvPr id="7" name="Shape 5"/>
          <p:cNvSpPr/>
          <p:nvPr/>
        </p:nvSpPr>
        <p:spPr>
          <a:xfrm>
            <a:off x="558800" y="6172200"/>
            <a:ext cx="11074400" cy="6350"/>
          </a:xfrm>
          <a:prstGeom prst="rect">
            <a:avLst/>
          </a:prstGeom>
          <a:solidFill>
            <a:srgbClr val="E1DED7"/>
          </a:solidFill>
          <a:ln/>
        </p:spPr>
      </p:sp>
      <p:sp>
        <p:nvSpPr>
          <p:cNvPr id="8" name="Text 6"/>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Your Name · you@university.ac.th</a:t>
            </a:r>
            <a:endParaRPr lang="en-US" sz="1200" dirty="0"/>
          </a:p>
        </p:txBody>
      </p:sp>
      <p:sp>
        <p:nvSpPr>
          <p:cNvPr id="9" name="Text 7"/>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33</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2026-08-31T14:57:42Z</dcterms:created>
  <dcterms:modified xsi:type="dcterms:W3CDTF">2026-08-31T14:57:42Z</dcterms:modified>
</cp:coreProperties>
</file>