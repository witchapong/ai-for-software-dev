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Today they add the kind of feature that was not economic to build two years ago, and then they present. Say the timing plainly: demos start at two o'clock whatever state anything is in, so whatever works at 1:55 is what they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5 and 6 are the bulk of the afternoon. The first four exist to make the lab mean something rather than be typing practice. Keep the lecture to twenty-five minutes; the clock is the enemy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against what they have seen online: this is not about chatbots. The category that matters commercially is turning human mess into machine structure, and that is what they will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useful mental model of the day. Ask the room what the model is NOT doing in this picture: no arithmetic, no storage, no decisions. Everything that must be right every time lives to the right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place their own project's AI feature on this split before they touch the lab. If a team cannot say which half their feature belongs to, that is the conversation to have now rather than at four o'clock.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insight and it is worth landing slowly. The value is not the chat box everyone has seen; it is that the parser problem stopped being expensive, so software nobody could justify writing is now a weekend.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about to read the actual prompt out of the code they are going to run in an hour. Not a toy, not a paraphrase — the thing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real file alongside this if the clock allows. The point to land: prompts are source. They get reviewed, they get versioned, and a careless edit breaks production exactly like a careless edit anywhere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in order. Then ask which ones they would have thought to write unprompted — escalation is the one nobody writes, and it is the one that turns a guessing machine into a system you can operate.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came from a real failure while this lab was being built. The vocabulary rule is the expensive one: a menu missing the hot latte turned an order for twenty hot lattes into twenty iced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Few-shot prompting: simultaneously the most useful trick in the box and the most over-used. Both halves get said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example is the important one and it is the one nobody writes. Most people show the model three successes and then wonder why it never admits defeat.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position, and the one that separates people who have shipped from people who have read a blog post. Few-shot is a fix for a measured problem, not a default ingredient you sprinkle on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how the prompts in PROMPTS.md were written, including the ones they will paste today. Hammer the one-change-at-a-time rule: change three lines and a better score tells you nothing about which one earned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Fresh copy of the template, called lab3-practice — not their group project. A failed experiment here must not touch the app they demo in two hours. Full brief is in labs/LAB3.md.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Checkpoint 1 is the one to protect when time gets tight. They must feel the old way fail before the new way means anything — skip it and the rest is just typing someone else's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assignment of the lecture, and it is what separates a good log entry from a weak one. Winning looks like a measured before-and-after, not a prompt that sounds more impressive.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but strongly encouraged. Say the stop rule out loud before they start: when the clock runs out they stop and demo what works, and nobody is penalised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llm.py across, write their own schema, wire it to one page. Repeat the rule: a working project without the feature beats a broken one with it, and it always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Science fair, not lectures — this is why fifteen groups fit in forty-five minutes. The peer form asks what each team ADDED, which is where the twist and the stretch goals earn their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photograph slide. Pause on it, and let the room actually take the picture before moving to the closing.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it up through the demos and questions. The last line is the one to say out loud: none of this needed a budget, an approval, or a licence — which means nothing is stopping them building the next one on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6096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3RD YEAR 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984500"/>
            <a:ext cx="889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Put a model inside 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58800" y="4445000"/>
            <a:ext cx="889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Session 3 — building software on a language model, then showing what you made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58800" y="61722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6" name="Text 4"/>
          <p:cNvSpPr/>
          <p:nvPr/>
        </p:nvSpPr>
        <p:spPr>
          <a:xfrm>
            <a:off x="558800" y="6337300"/>
            <a:ext cx="762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Name · Department of Electrical Engineering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93200" y="6337300"/>
            <a:ext cx="254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Session 3 of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SESSION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9800" y="14859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Software with a model inside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50000" y="15113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31000" y="14859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to ask for what you want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8800" y="21971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39800" y="21717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Examples, and when they pay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50000" y="21971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31000" y="21717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Making a prompt better on purpose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58800" y="28829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39800" y="28575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Lab 3 — the Intake Desk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50000" y="28829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1000" y="2857500"/>
            <a:ext cx="490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Transfer, then demos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22860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667000"/>
            <a:ext cx="825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Software with a model inside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58800" y="4064000"/>
            <a:ext cx="698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What it is actually good for, and what must stay in your code.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shape of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pic>
        <p:nvPicPr>
          <p:cNvPr id="7" name="Image 0" descr="figures/fig-llm-softw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800" y="1511300"/>
            <a:ext cx="61341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99300" y="1511300"/>
            <a:ext cx="45339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Messy human input goes in. The model reads it and fills a shape you defined. From there it is ordinary software: your code totals it, stores it, decides what to do.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099300" y="3238500"/>
            <a:ext cx="4533900" cy="1010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model is an adapter between language and data. It is not the application, and it never touches the money.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099300" y="5956300"/>
            <a:ext cx="4533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Fig. 9 — an adapter, not an oracle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Which half does what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528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30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GIVE THE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8800" y="19177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Reading language nobody standardised: chat messages, emails, receipts, notes. Deciding which of your categories something belongs to. Explaining something in plain words.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8800" y="31623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Things where being roughly right most of the time is genuinely useful, and where a person can check.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50000" y="1511300"/>
            <a:ext cx="528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30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KEEP IN YOUR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0000" y="19177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Arithmetic. Money. Anything that must be identical every time it runs. Anything a regulator, an accountant or an exam board would ask you to prove.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50000" y="31623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Intake Desk extracts with a model and totals with Python. That line is not fussiness — it is the design.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Why this is new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27100" y="1511300"/>
            <a:ext cx="9156700" cy="106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Before, this needed a parser.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Somebody wrote rules for every phrasing, and a phrasing nobody predicted broke it. Most such software was never written, because it was not worth writing.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58800" y="2704465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27100" y="2704465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Now it is a function call.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Whole categories of small business software became economic in about two years.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8800" y="3584575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27100" y="3584575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hard part moved.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It is no longer “can we read this?” but “how do we know it read it right?”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8800" y="4464685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27100" y="4464685"/>
            <a:ext cx="91567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That question is what the rest of today is about.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22860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667000"/>
            <a:ext cx="825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to ask for what you want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58800" y="4064000"/>
            <a:ext cx="698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prompt that runs the café desk, taken apart.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prompt behind the desk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8800" y="1511300"/>
            <a:ext cx="6517030" cy="4572000"/>
          </a:xfrm>
          <a:prstGeom prst="rect">
            <a:avLst/>
          </a:prstGeom>
          <a:solidFill>
            <a:srgbClr val="F5F2EC"/>
          </a:solidFill>
          <a:ln w="6350">
            <a:solidFill>
              <a:srgbClr val="E1DE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" y="1727200"/>
            <a:ext cx="6034430" cy="414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are the order desk of a small café.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Turn each chat message into one order.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name must be copied EXACTLY from this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menu: {menu}. Never invent an item name.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qty is a whole number. Use 1 when the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customer names an item without a number.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pickup is 24-hour HH:MM. 3pm is 15:00,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noon is 12:00, 'after 4' is 16:00.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needs_review is true when you had to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guess. note says what you were unsure of.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31430" y="1511300"/>
            <a:ext cx="4201770" cy="130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This is not a paraphrase. It is the prompt in core/intake.py, and it is the whole reason ten messy messages become ten clean rows.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31430" y="2943860"/>
            <a:ext cx="4201770" cy="1010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Read it as code, because it is code — the most load-bearing lines in that file are English.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31430" y="5384800"/>
            <a:ext cx="12700" cy="698500"/>
          </a:xfrm>
          <a:prstGeom prst="rect">
            <a:avLst/>
          </a:prstGeom>
          <a:solidFill>
            <a:srgbClr val="A87A2E"/>
          </a:solidFill>
          <a:ln/>
        </p:spPr>
      </p:sp>
      <p:sp>
        <p:nvSpPr>
          <p:cNvPr id="12" name="Text 10"/>
          <p:cNvSpPr/>
          <p:nvPr/>
        </p:nvSpPr>
        <p:spPr>
          <a:xfrm>
            <a:off x="7596530" y="5416550"/>
            <a:ext cx="403667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 rule in it was added because something went wrong without it.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five parts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200" dirty="0"/>
          </a:p>
        </p:txBody>
      </p:sp>
      <p:pic>
        <p:nvPicPr>
          <p:cNvPr id="7" name="Image 0" descr="figures/fig-prompt-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800" y="1511300"/>
            <a:ext cx="61341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99300" y="1511300"/>
            <a:ext cx="45339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Role, vocabulary, format, defaults, escalation. Every prompt that survives contact with real input has these five, and most bad prompts are missing three of them.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099300" y="3238500"/>
            <a:ext cx="4533900" cy="1010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most-skipped is the last: telling the model it is allowed to say it does not know.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099300" y="5956300"/>
            <a:ext cx="4533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Fig. 10 — the same prompt, labelled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rules that make rules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27100" y="151130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Resolve ambiguity by example, not adjective.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“3pm is 15:00, noon is 12:00” beats “use a sensible time format” every time.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58800" y="239141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27100" y="239141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Constrain the vocabulary.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Hand it your list and forbid invention, or your till grows two products called iced choc and Iced Chocolate.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8800" y="327152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27100" y="327152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Give permission to fail.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model with no way to say “not sure” will guess, confidently, and you will not be able to tell.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8800" y="415163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27100" y="415163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One instruction, one line.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Long paragraphs get skimmed by models much as they do by people.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22860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667000"/>
            <a:ext cx="825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Examples, and when they pay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58800" y="4064000"/>
            <a:ext cx="698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Showing beats telling — at a price you should know before you pay it.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Few-shot: show, do not describe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8800" y="1511300"/>
            <a:ext cx="6517030" cy="4572000"/>
          </a:xfrm>
          <a:prstGeom prst="rect">
            <a:avLst/>
          </a:prstGeom>
          <a:solidFill>
            <a:srgbClr val="F5F2EC"/>
          </a:solidFill>
          <a:ln w="6350">
            <a:solidFill>
              <a:srgbClr val="E1DE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" y="1727200"/>
            <a:ext cx="6034430" cy="414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Examples of correct output: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message: "iced choc x2, 15:45, Fai"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order:   customer: Fai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items: [Iced Chocolate x2]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pickup: "15:45"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message: "one green tea latte, after 4"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order:   customer: null, needs_review: true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note: "no name given"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31430" y="1511300"/>
            <a:ext cx="420177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Two or three worked examples teach a format faster than any amount of description, and they are the only reliable way to pin down an edge case you keep losing.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31430" y="3238500"/>
            <a:ext cx="4201770" cy="130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Notice the second one: an example of getting it right by refusing. Examples teach behaviour, not just shape.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31430" y="5384800"/>
            <a:ext cx="12700" cy="698500"/>
          </a:xfrm>
          <a:prstGeom prst="rect">
            <a:avLst/>
          </a:prstGeom>
          <a:solidFill>
            <a:srgbClr val="A87A2E"/>
          </a:solidFill>
          <a:ln/>
        </p:spPr>
      </p:sp>
      <p:sp>
        <p:nvSpPr>
          <p:cNvPr id="12" name="Text 10"/>
          <p:cNvSpPr/>
          <p:nvPr/>
        </p:nvSpPr>
        <p:spPr>
          <a:xfrm>
            <a:off x="7596530" y="5416550"/>
            <a:ext cx="403667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Show the model the case you keep failing, done correctly.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What examples cost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27100" y="151130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They are tokens, every single call.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Three examples in a prompt you send ten thousand times is three thousand examples paid for.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58800" y="239141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27100" y="239141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They bias hard.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Show three coffee orders and it will read a cake order as coffee. Vary them or pay for it.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8800" y="327152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27100" y="327152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Our café prompt has none.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It scores ten out of ten on the inbox without a single example — so adding some would be cost with no gain.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8800" y="415163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27100" y="4151630"/>
            <a:ext cx="91567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Reach for examples when a rule keeps failing, not by default.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Making it better on purpose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figures/fig-prompt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800" y="1511300"/>
            <a:ext cx="61341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99300" y="1511300"/>
            <a:ext cx="45339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Write messages whose answers you already know. Score the prompt against them. Change exactly one line, and score it again — kept if it helped, reverted if it did not.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099300" y="3238500"/>
            <a:ext cx="4533900" cy="130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Never judge a prompt by one run. The same prompt on the same message answers differently on different days, which is why you measure many and never one.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099300" y="5956300"/>
            <a:ext cx="4533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Fig. 11 — the loop that actually improves prompts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22860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667000"/>
            <a:ext cx="825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Lab 3 — the Intake Desk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58800" y="4064000"/>
            <a:ext cx="698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Sixty-five minutes. A regex parser, a model, and a queue for a human.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Four checkpoints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27100" y="151130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Run the rules parser.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Ten real messages, four of them read correctly. Look at the six it misses and ask how many more rules you would need.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58800" y="239141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27100" y="239141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in plain text.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answer will be correct and useless — a sentence, when your till needs fields.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8800" y="327152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27100" y="327152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for a shape.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One argument later, ten messy messages become ten rows. No regular expressions.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8800" y="4151630"/>
            <a:ext cx="190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27100" y="4151630"/>
            <a:ext cx="9156700" cy="75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Score it, then plan for being wrong. </a:t>
            </a:r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Grade yourself against the answer key, and send what the model was unsure about to a human.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Your job: attack the prompt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8800" y="1511300"/>
            <a:ext cx="6517030" cy="4572000"/>
          </a:xfrm>
          <a:prstGeom prst="rect">
            <a:avLst/>
          </a:prstGeom>
          <a:solidFill>
            <a:srgbClr val="F5F2EC"/>
          </a:solidFill>
          <a:ln w="6350">
            <a:solidFill>
              <a:srgbClr val="E1DE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" y="1727200"/>
            <a:ext cx="6034430" cy="414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 Write 5 messages the inbox does not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have. Make them hard.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 Write the correct answer for each.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 Score the current prompt on them.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4. Change ONE line. Score again.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332F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 Keep it or revert it. Repeat.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31430" y="1511300"/>
            <a:ext cx="420177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prompt in core/intake.py already scores ten out of ten on the ten messages you were given, so there is nothing to improve there. Bring it messages it has never seen.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31430" y="3238500"/>
            <a:ext cx="420177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Order in Thai. Order something the menu nearly has. Change your mind mid-sentence. Then make the prompt handle it — and prove that you did.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31430" y="5384800"/>
            <a:ext cx="12700" cy="698500"/>
          </a:xfrm>
          <a:prstGeom prst="rect">
            <a:avLst/>
          </a:prstGeom>
          <a:solidFill>
            <a:srgbClr val="A87A2E"/>
          </a:solidFill>
          <a:ln/>
        </p:spPr>
      </p:sp>
      <p:sp>
        <p:nvSpPr>
          <p:cNvPr id="12" name="Text 10"/>
          <p:cNvSpPr/>
          <p:nvPr/>
        </p:nvSpPr>
        <p:spPr>
          <a:xfrm>
            <a:off x="7596530" y="5416550"/>
            <a:ext cx="403667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prompt you cannot score is a prompt you cannot improve.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22860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667000"/>
            <a:ext cx="825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Then put it in your project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58800" y="4064000"/>
            <a:ext cx="698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Twenty minutes. Every brief has an AI feature waiting, and it is this lab wearing different clothes.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Your brief already has the slot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528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30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MESSY INPUT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8800" y="19177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Carpool: “anyone driving Friday morning?” Sessions: “physics cramming thurs after lab, 5ish”. Bills: a pasted delivery receipt.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8800" y="31623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Free text a person would understand instantly and your code cannot touch.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50000" y="1511300"/>
            <a:ext cx="528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30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SHAPE YOU WANT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0000" y="19177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Carpool: a date and a time window. Sessions: subject, date, start, end, place. Bills: items, amounts, who shares.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50000" y="3162300"/>
            <a:ext cx="528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core/llm.py has been an empty slot in your project since Session 1, for exactly this.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22860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2667000"/>
            <a:ext cx="825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Demos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58800" y="4064000"/>
            <a:ext cx="698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77726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Two rounds. Half of you present, half of you walk around and score. Then swap.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355600"/>
            <a:ext cx="1107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spc="168" kern="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SESSION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58800" y="635000"/>
            <a:ext cx="11074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What to take 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58800" y="11811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5" name="Text 3"/>
          <p:cNvSpPr/>
          <p:nvPr/>
        </p:nvSpPr>
        <p:spPr>
          <a:xfrm>
            <a:off x="558800" y="6337300"/>
            <a:ext cx="9804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for Software Development · Session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99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8800" y="1511300"/>
            <a:ext cx="44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3300" y="1498600"/>
            <a:ext cx="94615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model is an adapter between language and data, not the application.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800" y="2110740"/>
            <a:ext cx="44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3300" y="2098040"/>
            <a:ext cx="94615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prompt is source code: role, vocabulary, format, defaults, escalation.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58800" y="2710180"/>
            <a:ext cx="44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3300" y="2697480"/>
            <a:ext cx="94615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prompt you cannot score is a prompt you cannot improve.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800" y="609600"/>
            <a:ext cx="1107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spc="182" kern="0" dirty="0">
                <a:solidFill>
                  <a:srgbClr val="A87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58800" y="3048000"/>
            <a:ext cx="52832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What will you build next?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350000" y="3556000"/>
            <a:ext cx="528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Your app is live, and the repository is yours to keep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50000" y="3975100"/>
            <a:ext cx="528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332F2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collaboration log due — three things it got wrong, and how you caught them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50000" y="4508500"/>
            <a:ext cx="528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everything today runs on free tiers you already have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8800" y="6172200"/>
            <a:ext cx="11074400" cy="6350"/>
          </a:xfrm>
          <a:prstGeom prst="rect">
            <a:avLst/>
          </a:prstGeom>
          <a:solidFill>
            <a:srgbClr val="E1DED7"/>
          </a:solidFill>
          <a:ln/>
        </p:spPr>
      </p:sp>
      <p:sp>
        <p:nvSpPr>
          <p:cNvPr id="8" name="Text 6"/>
          <p:cNvSpPr/>
          <p:nvPr/>
        </p:nvSpPr>
        <p:spPr>
          <a:xfrm>
            <a:off x="558800" y="6337300"/>
            <a:ext cx="762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Name · you@university.ac.th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363200" y="6337300"/>
            <a:ext cx="127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7772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2026-08-30T10:39:52Z</dcterms:created>
  <dcterms:modified xsi:type="dcterms:W3CDTF">2026-08-30T10:39:52Z</dcterms:modified>
</cp:coreProperties>
</file>