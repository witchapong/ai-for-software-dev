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0" d="100"/>
          <a:sy n="120" d="100"/>
        </p:scale>
        <p:origin x="28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0541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Hold it while people sit down. Say the one-line promise: by the end of today you will have built and published a working app, and you will know why the careful route beat the quick one.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 screen as they walk in, and stays up for the first fifteen minutes. Say the key rule out loud: the key goes in .env, never in a file you commit, and never pasted into the chat. Walk the room rather than talking — the failures are individual, and the check script names each one.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two failures: the key pasted with a trailing space, and the placeholder text left in place. Both are named explicitly by the script. If a whole row is stuck, it is usually the proxy rather than the student.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likely way for a student to arrive unable to work, and it is invisible: every check passes, then Cline opens on a configuration screen nobody mentioned - with the wrong option already selected for them. Do this one on the projector rather than describing it, because the free option is the big attractive button and taking it leaves their key unused with no error to tell them. Cline's model list is its own: it uses dated names and has no latest, so anything you read elsewhere will not match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Point out that item 05 is where they build the real thing; everything before it exists to make 05 work.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clicking on: ask who has used ChatGPT to write code. Most hands. Then ask who knows what happens between typing the request and the file changing. Few hands. That gap is this section.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three minutes and resist the detail. The two things they must leave with: training happened once and is finished, and the model predicts rather than looks up. Say the cost out loud — training one of these runs to millions of dollars, which is why you rent it instead of building it. Someone always asks whether it is on the internet: no. It is a fixed set of numbers that has been frozen since the day training stopped.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useful distinction in the course. When something goes wrong they must ask which half broke: rate limited is a model problem, Diff Edit Failed is a harness problem.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Name-drop deliberately: these are the tools in job adverts, and students should recognise them. The point to land is the last line — when a model runs out of quota this afternoon they will change a dropdown and carry on working, and that only makes sense if they hold the two halves apart.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loop out loud with a concrete example: add a plot of the frequency response. Read the file, propose the edit, apply, run, read the error, go round again. The second paragraph sets up the quota slide.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is the one that changes their behaviour. Everything here is a constraint they hit today, not theory.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counter-intuitive point is the last one. Students assume a long conversation means the agent understands more; it means the opposite. The practical instruction is: start a new task per feature.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arithmetic on the board with them rather than reading it. The number that lands is roughly one lab session per day on one account. Then the bridge into the gates.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sentence is the third. A model cannot report not-knowing, because from the inside it looks the same as knowing. Hence the rule for the whole course: verify by running.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plainly: this round is meant to go badly, and going badly is the useful part. Do not rescue anyone during 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two questions aloud before they start; they are the point of the exercise, not the app. Circulate but do not help. Stop everyone at 25 minutes, especially anyone mid-flow.</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bridge out of the warm-up and into the gates. Do NOT claim everyone got this - across four runs of Round 1 while building this lab, one read 0.5 for a 1.0 tone, one crashed before drawing a spectrum at all, and one was simply correct. Poll the room for those three outcomes by show of hands; you will get all three, and the spread is the point. Then land it: not one of you could tell which you had, and the ones who were right were right by luck. The gates did not make the agent correct - they made it wrong out loud. If a student says theirs worked, agree, and ask how they would have known if it had not.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 after the warm-up. Take three answers out loud before advancing, especially from anyone whose app looked finished. Most will not have checked the amplitude.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fair to the left column. Asking directly is genuinely faster and correct often enough to feel fine, which is exactly why it is dangerous. The difference is not speed, it is whether you can tell.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Gate 1 is the only one they write themselves; the agent drafts 2 and 3 and they approve. Approving without reading is the failure mode to warn about now.</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that stops the gates being magic. A gate is not a feature of Cline - it is a paragraph of English you paste, plus a rules file that makes refusing possible. Read the last three sentences aloud and say where each came from: an agent that asked permission and sat waiting, and an agent that printed a beautiful table in the chat and wrote no file at all. Both cost us a scored run during development.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real file. The NOT-included question is worth dwelling on: their warm-up agent invented file loading, windowing and saving because nothing told it to stop. Scope is a decision, and it is theirs.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Requirement 5 is the trap that catches everyone, including the agent: the DC term must not be doubled. Ask the room how they would have written the check for requirement 3 — most say “the peak is in the right place”, which is exactly the check that misses a factor of five hundred. The EYES row fixes a real failure from this course: a student whose intent asked for readable axes got seven rows, every one a pytest on core/ and nothing about the screen. Every test passed and the chart was unreadable.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Approve the plan, not the code — no code exists yet. Flag forward to Session 2 explicitly: this is the rule that makes group work survivable without anyone having to learn git branching in an afternoon.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Commit every time the tests go green — that is what makes “git checkout the file” a safe escape hatch when the agent later mangles something. The failure mode to name now: approving a diff without reading it, which feels productive and is how the DC bug gets in.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copy live and re-ask the Round 1 question so they watch the same agent refuse it. Budget two minutes, not thirty seconds: it is a real free-tier call and it can rate-limit on the projector, so have a screenshot of the refusal ready as a fallback. Commit the file in front of them - without the commit the next checkout silently restores the ungated version, which is the confusing failure LAB1 warns about. Then open the file: the rules are plain English and they can edit them. Sixty of you and one of me, so the file holds the line rather than me.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software engineering content enters, and it should feel like a reveal. They have not been given four arbitrary hoops; they have walked the standard lifecycle, which predates all of this by fifty years.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Credit AWS explicitly; the paper is in the homework. Do not oversell it: AI-DLC targets large systems with many teams, and what they run today is a shrunk version. Say that plainly.</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timebox rule out loud before they start: fifteen minutes stuck on one task, then restore the reference and move on. Nobody loses marks for that.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on the projector with the file tree open, not off the slide. Open .clinerules and read a rule or two aloud, so the file is familiar before Round 2 swaps it. Do NOT open tests/ here, however tempting - the seven test names give away what Round 1 exists to let them discover. They meet the tests at Gate 2, on slide 33.</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sight of the thing they build all day. Point at the spike heights: 1.0 and 0.5 are the numbers they typed in - that equality is the entire lab. If it looks unimpressive, good: the point is that correctness, not spectacle, is what they are chasing.</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out as the acceptance criteria, because that is what it is. The height requirement is the one they will skip and the one the tests will catch: a chart with both spikes in exactly the right place and every height wrong looks entirely convincing. Get the direction right if they ask: drop the 1/N and a unit tone reads N/2 - five hundred times too TALL at these settings, not too short.</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real test file on screen. Ask them to predict which of the seven tests would still pass if the scaling were wrong. Answer: all but two.</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for the whole of Round 2 if you can spare the projector. The panic you are heading off is at Gate 3: three gates in, an hour gone, and the test count has not moved a single digit. Say out loud that documents are the deliverable of gates 1 to 3, and that the seven failures are supposed to sit there untouched until the maths gets written.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and they will want to spend twenty. Push them to write badly and move on - a rough intent that exists beats a polished one that does not. The NOT-included question is the one to read aloud: no file loading, no saving, no third tone. That single line is what stops the agent gold-plating for the rest of the afternoon.</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gate that teaches the course's actual skill, so do not let them rush it. Ask two or three to read out one acceptance criterion, and put it to the room: could that ever fail? Most first drafts say the peak is in the right place, which is exactly the check that misses the scaling bug they are about to hit at Gate 4.</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forward to Session 2 explicitly here. The one-file-per-task rule looks like pedantry to someone working alone, and it is the only reason four people can build in parallel next week without anyone having to learn how to resolve a merge conflict.</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Forty minutes, and the room will fragment here - some green in ten, some still fighting the scaling at the end. Say the timebox before they start. The failure to watch for is not a failing test, it is a student clicking approve on a diff they have not read: that feels productive and is exactly how the DC bug gets committed.</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is tight and it depends on someone else's servers, so say the fallback BEFORE they start rather than after it goes wrong. Two things break most often: they forgot to push, so the cloud builds an empty repo; and they point it at the wrong main file. Neither is worth your time individually - put both on the board. Nothing in Lab 1 needs an API key, so the deploy is genuinely simple today. It stops being simple in Session 3, when the app starts calling a model and .env is not in the repository - that is what Streamlit's Secrets box is for, and LAB2 says so at the point it starts to matter.</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after the lab, not before it. They have already watched an agent get the scaling wrong and a test catch it, so the maths now answers a question they actually have. Fifteen minutes; skip the last slide and hand it out if you are short.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real file on the projector rather than the slide. The line to dwell on is np.arange: the gap between samples is 1/fs, and that single number decides everything the rest of the code can and cannot see.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wagon wheel is the example that lands - most of them have seen it without knowing it had a name. If anyone asks why the tests use 1000 Hz for a 120 Hz tone, this is the answer: comfortably more than twice the highest frequency in the signal.</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two-knobs line is the one to make them repeat back. Students reliably conflate the two and try to fix poor resolution by sampling faster, which does nothing at all - it raises a ceiling they were not hitting. Recording for longer is the only thing that separates two close tones.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for the whole lab, so land it slowly. Ask which of their seven tests would still pass with the 2/n missing - the answer is the ones checking peak position, which is most of them. That is what an acceptance criterion that cannot fail buys you, stated in code they wrote this afternoon.</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sidebar next to the file tree so the mapping is literally visible. This is also where the Round 1 mess pays off: their agent knew nothing about pages/ and wrote a loose script at the top level, so the tab never appeared. The convention only looks obvious once you have watched an agent miss it.</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rerun model is the one thing to make them say back to you: there is no onChange anywhere in this file, and every interaction runs all forty lines again. Then point at the import at the top - core.spectrum knows nothing about Streamlit, and Streamlit knows nothing about FFTs. That split is why the tests could exist before the page did. Say the st.line_chart trap out loud: a student in this course got a chart with Time and Frequency drawn as data lines, no readable axis at all, while all their tests passed. The legend is the tell - an axis name should never be in it.</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this out rather than reading it. The one to actually push is dspguide.com - free, written for engineers who have not done the maths yet, and the book that makes the next signals course easier. Say plainly that the official docs are what the model has read, so quoting them in a prompt works better than describing what you want in your own words.</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fifteen minutes, everyone, whether or not their app worked. Insist on the mutation exercise: two tests fail, the peak-location test stays green, and the chart still looks perfectly reasonable.</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idea of the session, and the bridge to Session 2. Say plainly that the documents, not the code, were the work today — the code was the cheap part, and it will only get cheaper. Anyone whose app did not run still has four documents they can show, and that is a real deliverable.</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for a moment; this is the slide they photograph. Then homework, then the closing slide for questions.</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up during questions. Stress the log: three things the agent got wrong. Anyone who writes 'it all worked fine' did not look hard enough, and it is thirty per cent of the individual mark.</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5.png"/><Relationship Id="rId7"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4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5.png"/><Relationship Id="rId4" Type="http://schemas.openxmlformats.org/officeDocument/2006/relationships/image" Target="../media/image17.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609600"/>
            <a:ext cx="11074400" cy="254000"/>
          </a:xfrm>
          <a:prstGeom prst="rect">
            <a:avLst/>
          </a:prstGeom>
          <a:noFill/>
          <a:ln/>
        </p:spPr>
        <p:txBody>
          <a:bodyPr wrap="square" lIns="0" tIns="0" rIns="0" bIns="0" rtlCol="0" anchor="t"/>
          <a:lstStyle/>
          <a:p>
            <a:pPr marL="0" indent="0" algn="l">
              <a:lnSpc>
                <a:spcPct val="145000"/>
              </a:lnSpc>
              <a:buNone/>
            </a:pPr>
            <a:r>
              <a:rPr lang="en-US" sz="1300" kern="0" spc="182" dirty="0">
                <a:solidFill>
                  <a:srgbClr val="A87A2E"/>
                </a:solidFill>
                <a:latin typeface="IBM Plex Mono" pitchFamily="34" charset="0"/>
                <a:ea typeface="IBM Plex Mono" pitchFamily="34" charset="-122"/>
                <a:cs typeface="IBM Plex Mono" pitchFamily="34" charset="-120"/>
              </a:rPr>
              <a:t>AI FOR SOFTWARE DEVELOPMENT · 3RD YEAR EE</a:t>
            </a:r>
            <a:endParaRPr lang="en-US" sz="1300" dirty="0"/>
          </a:p>
        </p:txBody>
      </p:sp>
      <p:sp>
        <p:nvSpPr>
          <p:cNvPr id="3" name="Text 1"/>
          <p:cNvSpPr/>
          <p:nvPr/>
        </p:nvSpPr>
        <p:spPr>
          <a:xfrm>
            <a:off x="558800" y="2984500"/>
            <a:ext cx="8890000" cy="1397000"/>
          </a:xfrm>
          <a:prstGeom prst="rect">
            <a:avLst/>
          </a:prstGeom>
          <a:noFill/>
          <a:ln/>
        </p:spPr>
        <p:txBody>
          <a:bodyPr wrap="square" lIns="0" tIns="0" rIns="0" bIns="0" rtlCol="0" anchor="t"/>
          <a:lstStyle/>
          <a:p>
            <a:pPr marL="0" indent="0" algn="l">
              <a:lnSpc>
                <a:spcPct val="105000"/>
              </a:lnSpc>
              <a:buNone/>
            </a:pPr>
            <a:r>
              <a:rPr lang="en-US" sz="4800" b="1" dirty="0">
                <a:solidFill>
                  <a:srgbClr val="332F2A"/>
                </a:solidFill>
                <a:latin typeface="Libre Franklin" pitchFamily="34" charset="0"/>
                <a:ea typeface="Libre Franklin" pitchFamily="34" charset="-122"/>
                <a:cs typeface="Libre Franklin" pitchFamily="34" charset="-120"/>
              </a:rPr>
              <a:t>Meet your agent</a:t>
            </a:r>
            <a:endParaRPr lang="en-US" sz="4800" dirty="0"/>
          </a:p>
        </p:txBody>
      </p:sp>
      <p:sp>
        <p:nvSpPr>
          <p:cNvPr id="4" name="Text 2"/>
          <p:cNvSpPr/>
          <p:nvPr/>
        </p:nvSpPr>
        <p:spPr>
          <a:xfrm>
            <a:off x="558800" y="4445000"/>
            <a:ext cx="8890000" cy="762000"/>
          </a:xfrm>
          <a:prstGeom prst="rect">
            <a:avLst/>
          </a:prstGeom>
          <a:noFill/>
          <a:ln/>
        </p:spPr>
        <p:txBody>
          <a:bodyPr wrap="square" lIns="0" tIns="0" rIns="0" bIns="0" rtlCol="0" anchor="t"/>
          <a:lstStyle/>
          <a:p>
            <a:pPr marL="0" indent="0" algn="l">
              <a:lnSpc>
                <a:spcPct val="130000"/>
              </a:lnSpc>
              <a:buNone/>
            </a:pPr>
            <a:r>
              <a:rPr lang="en-US" sz="2000" dirty="0">
                <a:solidFill>
                  <a:srgbClr val="77726A"/>
                </a:solidFill>
                <a:latin typeface="Libre Franklin" pitchFamily="34" charset="0"/>
                <a:ea typeface="Libre Franklin" pitchFamily="34" charset="-122"/>
                <a:cs typeface="Libre Franklin" pitchFamily="34" charset="-120"/>
              </a:rPr>
              <a:t>Session 1 — how an AI coding agent works, and how to make it build what you meant</a:t>
            </a:r>
            <a:endParaRPr lang="en-US" sz="2000" dirty="0"/>
          </a:p>
        </p:txBody>
      </p:sp>
      <p:sp>
        <p:nvSpPr>
          <p:cNvPr id="5" name="Shape 3"/>
          <p:cNvSpPr/>
          <p:nvPr/>
        </p:nvSpPr>
        <p:spPr>
          <a:xfrm>
            <a:off x="558800" y="6172200"/>
            <a:ext cx="11074400" cy="6350"/>
          </a:xfrm>
          <a:prstGeom prst="rect">
            <a:avLst/>
          </a:prstGeom>
          <a:solidFill>
            <a:srgbClr val="E1DED7"/>
          </a:solidFill>
          <a:ln/>
        </p:spPr>
        <p:txBody>
          <a:bodyPr/>
          <a:lstStyle/>
          <a:p>
            <a:endParaRPr lang="en-TH"/>
          </a:p>
        </p:txBody>
      </p:sp>
      <p:sp>
        <p:nvSpPr>
          <p:cNvPr id="6" name="Text 4"/>
          <p:cNvSpPr/>
          <p:nvPr/>
        </p:nvSpPr>
        <p:spPr>
          <a:xfrm>
            <a:off x="558800" y="6337300"/>
            <a:ext cx="7620000" cy="215900"/>
          </a:xfrm>
          <a:prstGeom prst="rect">
            <a:avLst/>
          </a:prstGeom>
          <a:noFill/>
          <a:ln/>
        </p:spPr>
        <p:txBody>
          <a:bodyPr wrap="square" lIns="0" tIns="0" rIns="0" bIns="0" rtlCol="0" anchor="t"/>
          <a:lstStyle/>
          <a:p>
            <a:pPr marL="0" indent="0" algn="l">
              <a:lnSpc>
                <a:spcPct val="145000"/>
              </a:lnSpc>
              <a:buNone/>
            </a:pPr>
            <a:r>
              <a:rPr lang="en-US" sz="1300" dirty="0">
                <a:solidFill>
                  <a:srgbClr val="77726A"/>
                </a:solidFill>
                <a:latin typeface="IBM Plex Mono" pitchFamily="34" charset="0"/>
                <a:ea typeface="IBM Plex Mono" pitchFamily="34" charset="-122"/>
                <a:cs typeface="IBM Plex Mono" pitchFamily="34" charset="-120"/>
              </a:rPr>
              <a:t>Your Name · Department of Electrical Engineering</a:t>
            </a:r>
            <a:endParaRPr lang="en-US" sz="1300" dirty="0"/>
          </a:p>
        </p:txBody>
      </p:sp>
      <p:sp>
        <p:nvSpPr>
          <p:cNvPr id="7" name="Text 5"/>
          <p:cNvSpPr/>
          <p:nvPr/>
        </p:nvSpPr>
        <p:spPr>
          <a:xfrm>
            <a:off x="9093200" y="6337300"/>
            <a:ext cx="2540000" cy="215900"/>
          </a:xfrm>
          <a:prstGeom prst="rect">
            <a:avLst/>
          </a:prstGeom>
          <a:noFill/>
          <a:ln/>
        </p:spPr>
        <p:txBody>
          <a:bodyPr wrap="square" lIns="0" tIns="0" rIns="0" bIns="0" rtlCol="0" anchor="t"/>
          <a:lstStyle/>
          <a:p>
            <a:pPr marL="0" indent="0" algn="r">
              <a:lnSpc>
                <a:spcPct val="145000"/>
              </a:lnSpc>
              <a:buNone/>
            </a:pPr>
            <a:r>
              <a:rPr lang="en-US" sz="1300" dirty="0">
                <a:solidFill>
                  <a:srgbClr val="77726A"/>
                </a:solidFill>
                <a:latin typeface="IBM Plex Mono" pitchFamily="34" charset="0"/>
                <a:ea typeface="IBM Plex Mono" pitchFamily="34" charset="-122"/>
                <a:cs typeface="IBM Plex Mono" pitchFamily="34" charset="-120"/>
              </a:rPr>
              <a:t>Session 1 of 3</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SETUP</a:t>
            </a:r>
            <a:endParaRPr lang="en-US" sz="1200" dirty="0"/>
          </a:p>
        </p:txBody>
      </p:sp>
      <p:pic>
        <p:nvPicPr>
          <p:cNvPr id="3" name="Image 0" descr="icons/github.png"/>
          <p:cNvPicPr>
            <a:picLocks noChangeAspect="1"/>
          </p:cNvPicPr>
          <p:nvPr/>
        </p:nvPicPr>
        <p:blipFill>
          <a:blip r:embed="rId3"/>
          <a:stretch>
            <a:fillRect/>
          </a:stretch>
        </p:blipFill>
        <p:spPr>
          <a:xfrm>
            <a:off x="10401300" y="361950"/>
            <a:ext cx="203200" cy="203200"/>
          </a:xfrm>
          <a:prstGeom prst="rect">
            <a:avLst/>
          </a:prstGeom>
        </p:spPr>
      </p:pic>
      <p:pic>
        <p:nvPicPr>
          <p:cNvPr id="4" name="Image 1" descr="icons/googlegemini.png"/>
          <p:cNvPicPr>
            <a:picLocks noChangeAspect="1"/>
          </p:cNvPicPr>
          <p:nvPr/>
        </p:nvPicPr>
        <p:blipFill>
          <a:blip r:embed="rId4"/>
          <a:stretch>
            <a:fillRect/>
          </a:stretch>
        </p:blipFill>
        <p:spPr>
          <a:xfrm>
            <a:off x="10744200" y="361950"/>
            <a:ext cx="203200" cy="203200"/>
          </a:xfrm>
          <a:prstGeom prst="rect">
            <a:avLst/>
          </a:prstGeom>
        </p:spPr>
      </p:pic>
      <p:pic>
        <p:nvPicPr>
          <p:cNvPr id="5" name="Image 2" descr="icons/mistralai.png"/>
          <p:cNvPicPr>
            <a:picLocks noChangeAspect="1"/>
          </p:cNvPicPr>
          <p:nvPr/>
        </p:nvPicPr>
        <p:blipFill>
          <a:blip r:embed="rId5"/>
          <a:stretch>
            <a:fillRect/>
          </a:stretch>
        </p:blipFill>
        <p:spPr>
          <a:xfrm>
            <a:off x="11087100" y="361950"/>
            <a:ext cx="203200" cy="203200"/>
          </a:xfrm>
          <a:prstGeom prst="rect">
            <a:avLst/>
          </a:prstGeom>
        </p:spPr>
      </p:pic>
      <p:pic>
        <p:nvPicPr>
          <p:cNvPr id="6" name="Image 3" descr="icons/python.png"/>
          <p:cNvPicPr>
            <a:picLocks noChangeAspect="1"/>
          </p:cNvPicPr>
          <p:nvPr/>
        </p:nvPicPr>
        <p:blipFill>
          <a:blip r:embed="rId6"/>
          <a:stretch>
            <a:fillRect/>
          </a:stretch>
        </p:blipFill>
        <p:spPr>
          <a:xfrm>
            <a:off x="11430000" y="361950"/>
            <a:ext cx="203200" cy="203200"/>
          </a:xfrm>
          <a:prstGeom prst="rect">
            <a:avLst/>
          </a:prstGeom>
        </p:spPr>
      </p:pic>
      <p:sp>
        <p:nvSpPr>
          <p:cNvPr id="7"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Before we start</a:t>
            </a:r>
            <a:endParaRPr lang="en-US" sz="2800" dirty="0"/>
          </a:p>
        </p:txBody>
      </p:sp>
      <p:sp>
        <p:nvSpPr>
          <p:cNvPr id="8" name="Shape 2"/>
          <p:cNvSpPr/>
          <p:nvPr/>
        </p:nvSpPr>
        <p:spPr>
          <a:xfrm>
            <a:off x="558800" y="1181100"/>
            <a:ext cx="11074400" cy="6350"/>
          </a:xfrm>
          <a:prstGeom prst="rect">
            <a:avLst/>
          </a:prstGeom>
          <a:solidFill>
            <a:srgbClr val="E1DED7"/>
          </a:solidFill>
          <a:ln/>
        </p:spPr>
        <p:txBody>
          <a:bodyPr/>
          <a:lstStyle/>
          <a:p>
            <a:endParaRPr lang="en-TH"/>
          </a:p>
        </p:txBody>
      </p:sp>
      <p:sp>
        <p:nvSpPr>
          <p:cNvPr id="9"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10"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02</a:t>
            </a:r>
            <a:endParaRPr lang="en-US" sz="1200" dirty="0"/>
          </a:p>
        </p:txBody>
      </p:sp>
      <p:sp>
        <p:nvSpPr>
          <p:cNvPr id="11" name="Text 5"/>
          <p:cNvSpPr/>
          <p:nvPr/>
        </p:nvSpPr>
        <p:spPr>
          <a:xfrm>
            <a:off x="558800" y="1511300"/>
            <a:ext cx="190500" cy="317500"/>
          </a:xfrm>
          <a:prstGeom prst="rect">
            <a:avLst/>
          </a:prstGeom>
          <a:noFill/>
          <a:ln/>
        </p:spPr>
        <p:txBody>
          <a:bodyPr wrap="square" lIns="0" tIns="0" rIns="0" bIns="0" rtlCol="0" anchor="t"/>
          <a:lstStyle/>
          <a:p>
            <a:pPr marL="0" indent="0" algn="l">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2" name="Text 6"/>
          <p:cNvSpPr/>
          <p:nvPr/>
        </p:nvSpPr>
        <p:spPr>
          <a:xfrm>
            <a:off x="927100" y="1511300"/>
            <a:ext cx="9156700" cy="753110"/>
          </a:xfrm>
          <a:prstGeom prst="rect">
            <a:avLst/>
          </a:prstGeom>
          <a:noFill/>
          <a:ln/>
        </p:spPr>
        <p:txBody>
          <a:bodyPr wrap="square" lIns="0" tIns="0" rIns="0" bIns="0" rtlCol="0" anchor="t"/>
          <a:lstStyle/>
          <a:p>
            <a:pPr marL="0" indent="0" algn="l">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A GitHub account, then a Codespace. </a:t>
            </a:r>
            <a:r>
              <a:rPr lang="en-US" sz="1700" dirty="0">
                <a:solidFill>
                  <a:srgbClr val="332F2A"/>
                </a:solidFill>
                <a:latin typeface="Libre Franklin" pitchFamily="34" charset="0"/>
                <a:ea typeface="Libre Franklin" pitchFamily="34" charset="-122"/>
                <a:cs typeface="Libre Franklin" pitchFamily="34" charset="-120"/>
              </a:rPr>
              <a:t>Free at github.com. One click from the template page builds a Linux machine in your browser; nothing installs here.</a:t>
            </a:r>
            <a:endParaRPr lang="en-US" sz="1700" dirty="0"/>
          </a:p>
        </p:txBody>
      </p:sp>
      <p:sp>
        <p:nvSpPr>
          <p:cNvPr id="13" name="Text 7"/>
          <p:cNvSpPr/>
          <p:nvPr/>
        </p:nvSpPr>
        <p:spPr>
          <a:xfrm>
            <a:off x="558800" y="2391410"/>
            <a:ext cx="190500" cy="317500"/>
          </a:xfrm>
          <a:prstGeom prst="rect">
            <a:avLst/>
          </a:prstGeom>
          <a:noFill/>
          <a:ln/>
        </p:spPr>
        <p:txBody>
          <a:bodyPr wrap="square" lIns="0" tIns="0" rIns="0" bIns="0" rtlCol="0" anchor="t"/>
          <a:lstStyle/>
          <a:p>
            <a:pPr marL="0" indent="0" algn="l">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4" name="Text 8"/>
          <p:cNvSpPr/>
          <p:nvPr/>
        </p:nvSpPr>
        <p:spPr>
          <a:xfrm>
            <a:off x="927100" y="2391410"/>
            <a:ext cx="9156700" cy="753110"/>
          </a:xfrm>
          <a:prstGeom prst="rect">
            <a:avLst/>
          </a:prstGeom>
          <a:noFill/>
          <a:ln/>
        </p:spPr>
        <p:txBody>
          <a:bodyPr wrap="square" lIns="0" tIns="0" rIns="0" bIns="0" rtlCol="0" anchor="t"/>
          <a:lstStyle/>
          <a:p>
            <a:pPr marL="0" indent="0" algn="l">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TWO API keys, not one. </a:t>
            </a:r>
            <a:r>
              <a:rPr lang="en-US" sz="1700" dirty="0">
                <a:solidFill>
                  <a:srgbClr val="332F2A"/>
                </a:solidFill>
                <a:latin typeface="Libre Franklin" pitchFamily="34" charset="0"/>
                <a:ea typeface="Libre Franklin" pitchFamily="34" charset="-122"/>
                <a:cs typeface="Libre Franklin" pitchFamily="34" charset="-120"/>
              </a:rPr>
              <a:t>Gemini at aistudio.google.com/apikey, Mistral at console.mistral.ai. Free tiers refuse service without warning.</a:t>
            </a:r>
            <a:endParaRPr lang="en-US" sz="1700" dirty="0"/>
          </a:p>
        </p:txBody>
      </p:sp>
      <p:sp>
        <p:nvSpPr>
          <p:cNvPr id="15" name="Text 9"/>
          <p:cNvSpPr/>
          <p:nvPr/>
        </p:nvSpPr>
        <p:spPr>
          <a:xfrm>
            <a:off x="558800" y="3271520"/>
            <a:ext cx="190500" cy="317500"/>
          </a:xfrm>
          <a:prstGeom prst="rect">
            <a:avLst/>
          </a:prstGeom>
          <a:noFill/>
          <a:ln/>
        </p:spPr>
        <p:txBody>
          <a:bodyPr wrap="square" lIns="0" tIns="0" rIns="0" bIns="0" rtlCol="0" anchor="t"/>
          <a:lstStyle/>
          <a:p>
            <a:pPr marL="0" indent="0" algn="l">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6" name="Text 10"/>
          <p:cNvSpPr/>
          <p:nvPr/>
        </p:nvSpPr>
        <p:spPr>
          <a:xfrm>
            <a:off x="927100" y="3271520"/>
            <a:ext cx="9156700" cy="753110"/>
          </a:xfrm>
          <a:prstGeom prst="rect">
            <a:avLst/>
          </a:prstGeom>
          <a:noFill/>
          <a:ln/>
        </p:spPr>
        <p:txBody>
          <a:bodyPr wrap="square" lIns="0" tIns="0" rIns="0" bIns="0" rtlCol="0" anchor="t"/>
          <a:lstStyle/>
          <a:p>
            <a:pPr marL="0" indent="0" algn="l">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Paste both into .env, save, close the tab. </a:t>
            </a:r>
            <a:r>
              <a:rPr lang="en-US" sz="1700" dirty="0">
                <a:solidFill>
                  <a:srgbClr val="332F2A"/>
                </a:solidFill>
                <a:latin typeface="Libre Franklin" pitchFamily="34" charset="0"/>
                <a:ea typeface="Libre Franklin" pitchFamily="34" charset="-122"/>
                <a:cs typeface="Libre Franklin" pitchFamily="34" charset="-120"/>
              </a:rPr>
              <a:t>A key is a password, and you will be sharing this screen before the day is out.</a:t>
            </a:r>
            <a:endParaRPr lang="en-US" sz="1700" dirty="0"/>
          </a:p>
        </p:txBody>
      </p:sp>
      <p:sp>
        <p:nvSpPr>
          <p:cNvPr id="17" name="Text 11"/>
          <p:cNvSpPr/>
          <p:nvPr/>
        </p:nvSpPr>
        <p:spPr>
          <a:xfrm>
            <a:off x="558800" y="4151630"/>
            <a:ext cx="190500" cy="317500"/>
          </a:xfrm>
          <a:prstGeom prst="rect">
            <a:avLst/>
          </a:prstGeom>
          <a:noFill/>
          <a:ln/>
        </p:spPr>
        <p:txBody>
          <a:bodyPr wrap="square" lIns="0" tIns="0" rIns="0" bIns="0" rtlCol="0" anchor="t"/>
          <a:lstStyle/>
          <a:p>
            <a:pPr marL="0" indent="0" algn="l">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8" name="Text 12"/>
          <p:cNvSpPr/>
          <p:nvPr/>
        </p:nvSpPr>
        <p:spPr>
          <a:xfrm>
            <a:off x="927100" y="4151630"/>
            <a:ext cx="9156700" cy="753110"/>
          </a:xfrm>
          <a:prstGeom prst="rect">
            <a:avLst/>
          </a:prstGeom>
          <a:noFill/>
          <a:ln/>
        </p:spPr>
        <p:txBody>
          <a:bodyPr wrap="square" lIns="0" tIns="0" rIns="0" bIns="0" rtlCol="0" anchor="t"/>
          <a:lstStyle/>
          <a:p>
            <a:pPr marL="0" indent="0" algn="l">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Then run check_setup.py. </a:t>
            </a:r>
            <a:r>
              <a:rPr lang="en-US" sz="1700" dirty="0">
                <a:solidFill>
                  <a:srgbClr val="332F2A"/>
                </a:solidFill>
                <a:latin typeface="Libre Franklin" pitchFamily="34" charset="0"/>
                <a:ea typeface="Libre Franklin" pitchFamily="34" charset="-122"/>
                <a:cs typeface="Libre Franklin" pitchFamily="34" charset="-120"/>
              </a:rPr>
              <a:t>Five checks. It names whichever one is not right yet. Do not move on until they are all green.</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SETUP</a:t>
            </a:r>
            <a:endParaRPr lang="en-US" sz="1200" dirty="0"/>
          </a:p>
        </p:txBody>
      </p:sp>
      <p:pic>
        <p:nvPicPr>
          <p:cNvPr id="3" name="Image 0" descr="icons/python.png"/>
          <p:cNvPicPr>
            <a:picLocks noChangeAspect="1"/>
          </p:cNvPicPr>
          <p:nvPr/>
        </p:nvPicPr>
        <p:blipFill>
          <a:blip r:embed="rId3"/>
          <a:stretch>
            <a:fillRect/>
          </a:stretch>
        </p:blipFill>
        <p:spPr>
          <a:xfrm>
            <a:off x="11087100" y="361950"/>
            <a:ext cx="203200" cy="203200"/>
          </a:xfrm>
          <a:prstGeom prst="rect">
            <a:avLst/>
          </a:prstGeom>
        </p:spPr>
      </p:pic>
      <p:pic>
        <p:nvPicPr>
          <p:cNvPr id="4" name="Image 1" descr="icons/googlegemini.png"/>
          <p:cNvPicPr>
            <a:picLocks noChangeAspect="1"/>
          </p:cNvPicPr>
          <p:nvPr/>
        </p:nvPicPr>
        <p:blipFill>
          <a:blip r:embed="rId4"/>
          <a:stretch>
            <a:fillRect/>
          </a:stretch>
        </p:blipFill>
        <p:spPr>
          <a:xfrm>
            <a:off x="11430000" y="361950"/>
            <a:ext cx="203200" cy="203200"/>
          </a:xfrm>
          <a:prstGeom prst="rect">
            <a:avLst/>
          </a:prstGeom>
        </p:spPr>
      </p:pic>
      <p:sp>
        <p:nvSpPr>
          <p:cNvPr id="5"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The five checks</a:t>
            </a:r>
            <a:endParaRPr lang="en-US" sz="2800" dirty="0"/>
          </a:p>
        </p:txBody>
      </p:sp>
      <p:sp>
        <p:nvSpPr>
          <p:cNvPr id="6" name="Shape 2"/>
          <p:cNvSpPr/>
          <p:nvPr/>
        </p:nvSpPr>
        <p:spPr>
          <a:xfrm>
            <a:off x="558800" y="1181100"/>
            <a:ext cx="11074400" cy="6350"/>
          </a:xfrm>
          <a:prstGeom prst="rect">
            <a:avLst/>
          </a:prstGeom>
          <a:solidFill>
            <a:srgbClr val="E1DED7"/>
          </a:solidFill>
          <a:ln/>
        </p:spPr>
        <p:txBody>
          <a:bodyPr/>
          <a:lstStyle/>
          <a:p>
            <a:endParaRPr lang="en-TH"/>
          </a:p>
        </p:txBody>
      </p:sp>
      <p:sp>
        <p:nvSpPr>
          <p:cNvPr id="7"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8"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03</a:t>
            </a:r>
            <a:endParaRPr lang="en-US" sz="1200" dirty="0"/>
          </a:p>
        </p:txBody>
      </p:sp>
      <p:sp>
        <p:nvSpPr>
          <p:cNvPr id="9" name="Shape 5"/>
          <p:cNvSpPr/>
          <p:nvPr/>
        </p:nvSpPr>
        <p:spPr>
          <a:xfrm>
            <a:off x="558800" y="1511300"/>
            <a:ext cx="6517030" cy="4572000"/>
          </a:xfrm>
          <a:prstGeom prst="rect">
            <a:avLst/>
          </a:prstGeom>
          <a:solidFill>
            <a:srgbClr val="F5F2EC"/>
          </a:solidFill>
          <a:ln w="6350">
            <a:solidFill>
              <a:srgbClr val="E1DED7"/>
            </a:solidFill>
            <a:prstDash val="solid"/>
          </a:ln>
        </p:spPr>
        <p:txBody>
          <a:bodyPr/>
          <a:lstStyle/>
          <a:p>
            <a:endParaRPr lang="en-TH"/>
          </a:p>
        </p:txBody>
      </p:sp>
      <p:sp>
        <p:nvSpPr>
          <p:cNvPr id="10" name="Text 6"/>
          <p:cNvSpPr/>
          <p:nvPr/>
        </p:nvSpPr>
        <p:spPr>
          <a:xfrm>
            <a:off x="800100" y="1727200"/>
            <a:ext cx="6034430" cy="4140200"/>
          </a:xfrm>
          <a:prstGeom prst="rect">
            <a:avLst/>
          </a:prstGeom>
          <a:noFill/>
          <a:ln/>
        </p:spPr>
        <p:txBody>
          <a:bodyPr wrap="square" lIns="0" tIns="0" rIns="0" bIns="0" rtlCol="0" anchor="t"/>
          <a:lstStyle/>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python check_setup.py</a:t>
            </a:r>
            <a:endParaRPr lang="en-US" sz="1400" dirty="0"/>
          </a:p>
          <a:p>
            <a:pPr marL="0" indent="0">
              <a:lnSpc>
                <a:spcPct val="160000"/>
              </a:lnSpc>
              <a:buNone/>
            </a:pP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[PASS] Python version: 3.11</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[PASS] Packages: all 6 installed</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[PASS] API key present</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[PASS] API key works: Gemini</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replied</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[PASS] Backup provider: both</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providers configured</a:t>
            </a:r>
            <a:endParaRPr lang="en-US" sz="1400" dirty="0"/>
          </a:p>
          <a:p>
            <a:pPr marL="0" indent="0">
              <a:lnSpc>
                <a:spcPct val="160000"/>
              </a:lnSpc>
              <a:buNone/>
            </a:pP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ALL CHECKS PASSED</a:t>
            </a:r>
            <a:endParaRPr lang="en-US" sz="1400" dirty="0"/>
          </a:p>
        </p:txBody>
      </p:sp>
      <p:sp>
        <p:nvSpPr>
          <p:cNvPr id="11" name="Text 7"/>
          <p:cNvSpPr/>
          <p:nvPr/>
        </p:nvSpPr>
        <p:spPr>
          <a:xfrm>
            <a:off x="7431430" y="1511300"/>
            <a:ext cx="4201770" cy="130556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Five checks, in the order they can fail. A failing line names the fix; it never just tells you something is wrong.</a:t>
            </a:r>
            <a:endParaRPr lang="en-US" sz="1600" dirty="0"/>
          </a:p>
        </p:txBody>
      </p:sp>
      <p:sp>
        <p:nvSpPr>
          <p:cNvPr id="12" name="Text 8"/>
          <p:cNvSpPr/>
          <p:nvPr/>
        </p:nvSpPr>
        <p:spPr>
          <a:xfrm>
            <a:off x="7431430" y="2943860"/>
            <a:ext cx="4201770" cy="130556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Still stuck after ten minutes? Ask a neighbour before you ask me. TROUBLESHOOTING.md carries the same list with fixes.</a:t>
            </a:r>
            <a:endParaRPr lang="en-US" sz="1600" dirty="0"/>
          </a:p>
        </p:txBody>
      </p:sp>
      <p:sp>
        <p:nvSpPr>
          <p:cNvPr id="13" name="Shape 9"/>
          <p:cNvSpPr/>
          <p:nvPr/>
        </p:nvSpPr>
        <p:spPr>
          <a:xfrm>
            <a:off x="7431430" y="5384800"/>
            <a:ext cx="12700" cy="698500"/>
          </a:xfrm>
          <a:prstGeom prst="rect">
            <a:avLst/>
          </a:prstGeom>
          <a:solidFill>
            <a:srgbClr val="A87A2E"/>
          </a:solidFill>
          <a:ln/>
        </p:spPr>
        <p:txBody>
          <a:bodyPr/>
          <a:lstStyle/>
          <a:p>
            <a:endParaRPr lang="en-TH"/>
          </a:p>
        </p:txBody>
      </p:sp>
      <p:sp>
        <p:nvSpPr>
          <p:cNvPr id="14" name="Text 10"/>
          <p:cNvSpPr/>
          <p:nvPr/>
        </p:nvSpPr>
        <p:spPr>
          <a:xfrm>
            <a:off x="7596530" y="5416550"/>
            <a:ext cx="4036670" cy="698500"/>
          </a:xfrm>
          <a:prstGeom prst="rect">
            <a:avLst/>
          </a:prstGeom>
          <a:noFill/>
          <a:ln/>
        </p:spPr>
        <p:txBody>
          <a:bodyPr wrap="square" lIns="0" tIns="0" rIns="0" bIns="0" rtlCol="0" anchor="t"/>
          <a:lstStyle/>
          <a:p>
            <a:pPr marL="0" indent="0" algn="l">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Nothing installs on the lab PC. The machine you are working on is in the browser.</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SETUP</a:t>
            </a:r>
            <a:endParaRPr lang="en-US" sz="1200" dirty="0"/>
          </a:p>
        </p:txBody>
      </p:sp>
      <p:pic>
        <p:nvPicPr>
          <p:cNvPr id="3" name="Image 0" descr="icons/cline.png"/>
          <p:cNvPicPr>
            <a:picLocks noChangeAspect="1"/>
          </p:cNvPicPr>
          <p:nvPr/>
        </p:nvPicPr>
        <p:blipFill>
          <a:blip r:embed="rId3"/>
          <a:stretch>
            <a:fillRect/>
          </a:stretch>
        </p:blipFill>
        <p:spPr>
          <a:xfrm>
            <a:off x="10744200" y="361950"/>
            <a:ext cx="203200" cy="203200"/>
          </a:xfrm>
          <a:prstGeom prst="rect">
            <a:avLst/>
          </a:prstGeom>
        </p:spPr>
      </p:pic>
      <p:pic>
        <p:nvPicPr>
          <p:cNvPr id="4" name="Image 1" descr="icons/mistralai.png"/>
          <p:cNvPicPr>
            <a:picLocks noChangeAspect="1"/>
          </p:cNvPicPr>
          <p:nvPr/>
        </p:nvPicPr>
        <p:blipFill>
          <a:blip r:embed="rId4"/>
          <a:stretch>
            <a:fillRect/>
          </a:stretch>
        </p:blipFill>
        <p:spPr>
          <a:xfrm>
            <a:off x="11087100" y="361950"/>
            <a:ext cx="203200" cy="203200"/>
          </a:xfrm>
          <a:prstGeom prst="rect">
            <a:avLst/>
          </a:prstGeom>
        </p:spPr>
      </p:pic>
      <p:pic>
        <p:nvPicPr>
          <p:cNvPr id="5" name="Image 2" descr="icons/googlegemini.png"/>
          <p:cNvPicPr>
            <a:picLocks noChangeAspect="1"/>
          </p:cNvPicPr>
          <p:nvPr/>
        </p:nvPicPr>
        <p:blipFill>
          <a:blip r:embed="rId5"/>
          <a:stretch>
            <a:fillRect/>
          </a:stretch>
        </p:blipFill>
        <p:spPr>
          <a:xfrm>
            <a:off x="11430000" y="361950"/>
            <a:ext cx="203200" cy="203200"/>
          </a:xfrm>
          <a:prstGeom prst="rect">
            <a:avLst/>
          </a:prstGeom>
        </p:spPr>
      </p:pic>
      <p:sp>
        <p:nvSpPr>
          <p:cNvPr id="6"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Cline needs its own key</a:t>
            </a:r>
            <a:endParaRPr lang="en-US" sz="2800" dirty="0"/>
          </a:p>
        </p:txBody>
      </p:sp>
      <p:sp>
        <p:nvSpPr>
          <p:cNvPr id="7" name="Shape 2"/>
          <p:cNvSpPr/>
          <p:nvPr/>
        </p:nvSpPr>
        <p:spPr>
          <a:xfrm>
            <a:off x="558800" y="1181100"/>
            <a:ext cx="11074400" cy="6350"/>
          </a:xfrm>
          <a:prstGeom prst="rect">
            <a:avLst/>
          </a:prstGeom>
          <a:solidFill>
            <a:srgbClr val="E1DED7"/>
          </a:solidFill>
          <a:ln/>
        </p:spPr>
        <p:txBody>
          <a:bodyPr/>
          <a:lstStyle/>
          <a:p>
            <a:endParaRPr lang="en-TH"/>
          </a:p>
        </p:txBody>
      </p:sp>
      <p:sp>
        <p:nvSpPr>
          <p:cNvPr id="8"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9"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04</a:t>
            </a:r>
            <a:endParaRPr lang="en-US" sz="1200" dirty="0"/>
          </a:p>
        </p:txBody>
      </p:sp>
      <p:sp>
        <p:nvSpPr>
          <p:cNvPr id="10" name="Text 5"/>
          <p:cNvSpPr/>
          <p:nvPr/>
        </p:nvSpPr>
        <p:spPr>
          <a:xfrm>
            <a:off x="558800" y="1511300"/>
            <a:ext cx="190500" cy="317500"/>
          </a:xfrm>
          <a:prstGeom prst="rect">
            <a:avLst/>
          </a:prstGeom>
          <a:noFill/>
          <a:ln/>
        </p:spPr>
        <p:txBody>
          <a:bodyPr wrap="square" lIns="0" tIns="0" rIns="0" bIns="0" rtlCol="0" anchor="t"/>
          <a:lstStyle/>
          <a:p>
            <a:pPr marL="0" indent="0" algn="l">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1" name="Text 6"/>
          <p:cNvSpPr/>
          <p:nvPr/>
        </p:nvSpPr>
        <p:spPr>
          <a:xfrm>
            <a:off x="927100" y="1511300"/>
            <a:ext cx="9156700" cy="753110"/>
          </a:xfrm>
          <a:prstGeom prst="rect">
            <a:avLst/>
          </a:prstGeom>
          <a:noFill/>
          <a:ln/>
        </p:spPr>
        <p:txBody>
          <a:bodyPr wrap="square" lIns="0" tIns="0" rIns="0" bIns="0" rtlCol="0" anchor="t"/>
          <a:lstStyle/>
          <a:p>
            <a:pPr marL="0" indent="0" algn="l">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.env is for your app. </a:t>
            </a:r>
            <a:r>
              <a:rPr lang="en-US" sz="1700" dirty="0">
                <a:solidFill>
                  <a:srgbClr val="332F2A"/>
                </a:solidFill>
                <a:latin typeface="Libre Franklin" pitchFamily="34" charset="0"/>
                <a:ea typeface="Libre Franklin" pitchFamily="34" charset="-122"/>
                <a:cs typeface="Libre Franklin" pitchFamily="34" charset="-120"/>
              </a:rPr>
              <a:t>check_setup.py and core/llm.py read it. Cline never does — separate program, separate settings, its own copy of the key.</a:t>
            </a:r>
            <a:endParaRPr lang="en-US" sz="1700" dirty="0"/>
          </a:p>
        </p:txBody>
      </p:sp>
      <p:sp>
        <p:nvSpPr>
          <p:cNvPr id="12" name="Text 7"/>
          <p:cNvSpPr/>
          <p:nvPr/>
        </p:nvSpPr>
        <p:spPr>
          <a:xfrm>
            <a:off x="558800" y="2391410"/>
            <a:ext cx="190500" cy="317500"/>
          </a:xfrm>
          <a:prstGeom prst="rect">
            <a:avLst/>
          </a:prstGeom>
          <a:noFill/>
          <a:ln/>
        </p:spPr>
        <p:txBody>
          <a:bodyPr wrap="square" lIns="0" tIns="0" rIns="0" bIns="0" rtlCol="0" anchor="t"/>
          <a:lstStyle/>
          <a:p>
            <a:pPr marL="0" indent="0" algn="l">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3" name="Text 8"/>
          <p:cNvSpPr/>
          <p:nvPr/>
        </p:nvSpPr>
        <p:spPr>
          <a:xfrm>
            <a:off x="927100" y="2391410"/>
            <a:ext cx="9156700" cy="1066165"/>
          </a:xfrm>
          <a:prstGeom prst="rect">
            <a:avLst/>
          </a:prstGeom>
          <a:noFill/>
          <a:ln/>
        </p:spPr>
        <p:txBody>
          <a:bodyPr wrap="square" lIns="0" tIns="0" rIns="0" bIns="0" rtlCol="0" anchor="t"/>
          <a:lstStyle/>
          <a:p>
            <a:pPr marL="0" indent="0" algn="l">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It opens on a screen nobody expects. </a:t>
            </a:r>
            <a:r>
              <a:rPr lang="en-US" sz="1700" dirty="0">
                <a:solidFill>
                  <a:srgbClr val="332F2A"/>
                </a:solidFill>
                <a:latin typeface="Libre Franklin" pitchFamily="34" charset="0"/>
                <a:ea typeface="Libre Franklin" pitchFamily="34" charset="-122"/>
                <a:cs typeface="Libre Franklin" pitchFamily="34" charset="-120"/>
              </a:rPr>
              <a:t>“How will you use Cline?”, with Absolutely Free already ticked. Do not take it — choose Bring my own API key, or your key is never used.</a:t>
            </a:r>
            <a:endParaRPr lang="en-US" sz="1700" dirty="0"/>
          </a:p>
        </p:txBody>
      </p:sp>
      <p:sp>
        <p:nvSpPr>
          <p:cNvPr id="14" name="Text 9"/>
          <p:cNvSpPr/>
          <p:nvPr/>
        </p:nvSpPr>
        <p:spPr>
          <a:xfrm>
            <a:off x="558800" y="3584575"/>
            <a:ext cx="190500" cy="317500"/>
          </a:xfrm>
          <a:prstGeom prst="rect">
            <a:avLst/>
          </a:prstGeom>
          <a:noFill/>
          <a:ln/>
        </p:spPr>
        <p:txBody>
          <a:bodyPr wrap="square" lIns="0" tIns="0" rIns="0" bIns="0" rtlCol="0" anchor="t"/>
          <a:lstStyle/>
          <a:p>
            <a:pPr marL="0" indent="0" algn="l">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5" name="Text 10"/>
          <p:cNvSpPr/>
          <p:nvPr/>
        </p:nvSpPr>
        <p:spPr>
          <a:xfrm>
            <a:off x="927100" y="3584575"/>
            <a:ext cx="9156700" cy="1066165"/>
          </a:xfrm>
          <a:prstGeom prst="rect">
            <a:avLst/>
          </a:prstGeom>
          <a:noFill/>
          <a:ln/>
        </p:spPr>
        <p:txBody>
          <a:bodyPr wrap="square" lIns="0" tIns="0" rIns="0" bIns="0" rtlCol="0" anchor="t"/>
          <a:lstStyle/>
          <a:p>
            <a:pPr marL="0" indent="0" algn="l">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Then provider, then model. </a:t>
            </a:r>
            <a:r>
              <a:rPr lang="en-US" sz="1700" dirty="0">
                <a:solidFill>
                  <a:srgbClr val="332F2A"/>
                </a:solidFill>
                <a:latin typeface="Libre Franklin" pitchFamily="34" charset="0"/>
                <a:ea typeface="Libre Franklin" pitchFamily="34" charset="-122"/>
                <a:cs typeface="Libre Franklin" pitchFamily="34" charset="-120"/>
              </a:rPr>
              <a:t>Mistral or Gemini, paste the key. Model names carry a date — devstral-2512, not devstral-latest. Prefer a devstral if you see one.</a:t>
            </a:r>
            <a:endParaRPr lang="en-US" sz="1700" dirty="0"/>
          </a:p>
        </p:txBody>
      </p:sp>
      <p:sp>
        <p:nvSpPr>
          <p:cNvPr id="16" name="Text 11"/>
          <p:cNvSpPr/>
          <p:nvPr/>
        </p:nvSpPr>
        <p:spPr>
          <a:xfrm>
            <a:off x="558800" y="4777740"/>
            <a:ext cx="190500" cy="317500"/>
          </a:xfrm>
          <a:prstGeom prst="rect">
            <a:avLst/>
          </a:prstGeom>
          <a:noFill/>
          <a:ln/>
        </p:spPr>
        <p:txBody>
          <a:bodyPr wrap="square" lIns="0" tIns="0" rIns="0" bIns="0" rtlCol="0" anchor="t"/>
          <a:lstStyle/>
          <a:p>
            <a:pPr marL="0" indent="0" algn="l">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7" name="Text 12"/>
          <p:cNvSpPr/>
          <p:nvPr/>
        </p:nvSpPr>
        <p:spPr>
          <a:xfrm>
            <a:off x="927100" y="4777740"/>
            <a:ext cx="9156700" cy="753110"/>
          </a:xfrm>
          <a:prstGeom prst="rect">
            <a:avLst/>
          </a:prstGeom>
          <a:noFill/>
          <a:ln/>
        </p:spPr>
        <p:txBody>
          <a:bodyPr wrap="square" lIns="0" tIns="0" rIns="0" bIns="0" rtlCol="0" anchor="t"/>
          <a:lstStyle/>
          <a:p>
            <a:pPr marL="0" indent="0" algn="l">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Check the model name after any reload: Cline can reset itself, sometimes to a paid one. A price per million tokens beside it means change it back.</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SESSION 01</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Agenda</a:t>
            </a:r>
            <a:endParaRPr lang="en-US" sz="2800" dirty="0"/>
          </a:p>
        </p:txBody>
      </p:sp>
      <p:sp>
        <p:nvSpPr>
          <p:cNvPr id="4" name="Shape 2"/>
          <p:cNvSpPr/>
          <p:nvPr/>
        </p:nvSpPr>
        <p:spPr>
          <a:xfrm>
            <a:off x="558800" y="1181100"/>
            <a:ext cx="11074400" cy="6350"/>
          </a:xfrm>
          <a:prstGeom prst="rect">
            <a:avLst/>
          </a:prstGeom>
          <a:solidFill>
            <a:srgbClr val="E1DED7"/>
          </a:solidFill>
          <a:ln/>
        </p:spPr>
        <p:txBody>
          <a:bodyPr/>
          <a:lstStyle/>
          <a:p>
            <a:endParaRPr lang="en-TH"/>
          </a:p>
        </p:txBody>
      </p:sp>
      <p:sp>
        <p:nvSpPr>
          <p:cNvPr id="5"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05</a:t>
            </a:r>
            <a:endParaRPr lang="en-US" sz="1200" dirty="0"/>
          </a:p>
        </p:txBody>
      </p:sp>
      <p:sp>
        <p:nvSpPr>
          <p:cNvPr id="7" name="Text 5"/>
          <p:cNvSpPr/>
          <p:nvPr/>
        </p:nvSpPr>
        <p:spPr>
          <a:xfrm>
            <a:off x="558800" y="1511300"/>
            <a:ext cx="381000" cy="254000"/>
          </a:xfrm>
          <a:prstGeom prst="rect">
            <a:avLst/>
          </a:prstGeom>
          <a:noFill/>
          <a:ln/>
        </p:spPr>
        <p:txBody>
          <a:bodyPr wrap="square" lIns="0" tIns="0" rIns="0" bIns="0" rtlCol="0" anchor="t"/>
          <a:lstStyle/>
          <a:p>
            <a:pPr marL="0" indent="0" algn="l">
              <a:lnSpc>
                <a:spcPct val="145000"/>
              </a:lnSpc>
              <a:buNone/>
            </a:pPr>
            <a:r>
              <a:rPr lang="en-US" sz="1300" dirty="0">
                <a:solidFill>
                  <a:srgbClr val="A87A2E"/>
                </a:solidFill>
                <a:latin typeface="IBM Plex Mono" pitchFamily="34" charset="0"/>
                <a:ea typeface="IBM Plex Mono" pitchFamily="34" charset="-122"/>
                <a:cs typeface="IBM Plex Mono" pitchFamily="34" charset="-120"/>
              </a:rPr>
              <a:t>01</a:t>
            </a:r>
            <a:endParaRPr lang="en-US" sz="1300" dirty="0"/>
          </a:p>
        </p:txBody>
      </p:sp>
      <p:sp>
        <p:nvSpPr>
          <p:cNvPr id="8" name="Text 6"/>
          <p:cNvSpPr/>
          <p:nvPr/>
        </p:nvSpPr>
        <p:spPr>
          <a:xfrm>
            <a:off x="939800" y="1485900"/>
            <a:ext cx="4902200" cy="571500"/>
          </a:xfrm>
          <a:prstGeom prst="rect">
            <a:avLst/>
          </a:prstGeom>
          <a:noFill/>
          <a:ln/>
        </p:spPr>
        <p:txBody>
          <a:bodyPr wrap="square" lIns="0" tIns="0" rIns="0" bIns="0" rtlCol="0" anchor="t"/>
          <a:lstStyle/>
          <a:p>
            <a:pPr marL="0" indent="0" algn="l">
              <a:lnSpc>
                <a:spcPct val="135000"/>
              </a:lnSpc>
              <a:buNone/>
            </a:pPr>
            <a:r>
              <a:rPr lang="en-US" sz="1700" dirty="0">
                <a:solidFill>
                  <a:srgbClr val="332F2A"/>
                </a:solidFill>
                <a:latin typeface="Libre Franklin" pitchFamily="34" charset="0"/>
                <a:ea typeface="Libre Franklin" pitchFamily="34" charset="-122"/>
                <a:cs typeface="Libre Franklin" pitchFamily="34" charset="-120"/>
              </a:rPr>
              <a:t>How an agent works</a:t>
            </a:r>
            <a:endParaRPr lang="en-US" sz="1700" dirty="0"/>
          </a:p>
        </p:txBody>
      </p:sp>
      <p:sp>
        <p:nvSpPr>
          <p:cNvPr id="9" name="Text 7"/>
          <p:cNvSpPr/>
          <p:nvPr/>
        </p:nvSpPr>
        <p:spPr>
          <a:xfrm>
            <a:off x="6350000" y="1511300"/>
            <a:ext cx="381000" cy="254000"/>
          </a:xfrm>
          <a:prstGeom prst="rect">
            <a:avLst/>
          </a:prstGeom>
          <a:noFill/>
          <a:ln/>
        </p:spPr>
        <p:txBody>
          <a:bodyPr wrap="square" lIns="0" tIns="0" rIns="0" bIns="0" rtlCol="0" anchor="t"/>
          <a:lstStyle/>
          <a:p>
            <a:pPr marL="0" indent="0" algn="l">
              <a:lnSpc>
                <a:spcPct val="145000"/>
              </a:lnSpc>
              <a:buNone/>
            </a:pPr>
            <a:r>
              <a:rPr lang="en-US" sz="1300" dirty="0">
                <a:solidFill>
                  <a:srgbClr val="A87A2E"/>
                </a:solidFill>
                <a:latin typeface="IBM Plex Mono" pitchFamily="34" charset="0"/>
                <a:ea typeface="IBM Plex Mono" pitchFamily="34" charset="-122"/>
                <a:cs typeface="IBM Plex Mono" pitchFamily="34" charset="-120"/>
              </a:rPr>
              <a:t>02</a:t>
            </a:r>
            <a:endParaRPr lang="en-US" sz="1300" dirty="0"/>
          </a:p>
        </p:txBody>
      </p:sp>
      <p:sp>
        <p:nvSpPr>
          <p:cNvPr id="10" name="Text 8"/>
          <p:cNvSpPr/>
          <p:nvPr/>
        </p:nvSpPr>
        <p:spPr>
          <a:xfrm>
            <a:off x="6731000" y="1485900"/>
            <a:ext cx="4902200" cy="571500"/>
          </a:xfrm>
          <a:prstGeom prst="rect">
            <a:avLst/>
          </a:prstGeom>
          <a:noFill/>
          <a:ln/>
        </p:spPr>
        <p:txBody>
          <a:bodyPr wrap="square" lIns="0" tIns="0" rIns="0" bIns="0" rtlCol="0" anchor="t"/>
          <a:lstStyle/>
          <a:p>
            <a:pPr marL="0" indent="0" algn="l">
              <a:lnSpc>
                <a:spcPct val="135000"/>
              </a:lnSpc>
              <a:buNone/>
            </a:pPr>
            <a:r>
              <a:rPr lang="en-US" sz="1700" dirty="0">
                <a:solidFill>
                  <a:srgbClr val="332F2A"/>
                </a:solidFill>
                <a:latin typeface="Libre Franklin" pitchFamily="34" charset="0"/>
                <a:ea typeface="Libre Franklin" pitchFamily="34" charset="-122"/>
                <a:cs typeface="Libre Franklin" pitchFamily="34" charset="-120"/>
              </a:rPr>
              <a:t>What it costs, and why it fails</a:t>
            </a:r>
            <a:endParaRPr lang="en-US" sz="1700" dirty="0"/>
          </a:p>
        </p:txBody>
      </p:sp>
      <p:sp>
        <p:nvSpPr>
          <p:cNvPr id="11" name="Text 9"/>
          <p:cNvSpPr/>
          <p:nvPr/>
        </p:nvSpPr>
        <p:spPr>
          <a:xfrm>
            <a:off x="558800" y="2197100"/>
            <a:ext cx="381000" cy="254000"/>
          </a:xfrm>
          <a:prstGeom prst="rect">
            <a:avLst/>
          </a:prstGeom>
          <a:noFill/>
          <a:ln/>
        </p:spPr>
        <p:txBody>
          <a:bodyPr wrap="square" lIns="0" tIns="0" rIns="0" bIns="0" rtlCol="0" anchor="t"/>
          <a:lstStyle/>
          <a:p>
            <a:pPr marL="0" indent="0" algn="l">
              <a:lnSpc>
                <a:spcPct val="145000"/>
              </a:lnSpc>
              <a:buNone/>
            </a:pPr>
            <a:r>
              <a:rPr lang="en-US" sz="1300" dirty="0">
                <a:solidFill>
                  <a:srgbClr val="A87A2E"/>
                </a:solidFill>
                <a:latin typeface="IBM Plex Mono" pitchFamily="34" charset="0"/>
                <a:ea typeface="IBM Plex Mono" pitchFamily="34" charset="-122"/>
                <a:cs typeface="IBM Plex Mono" pitchFamily="34" charset="-120"/>
              </a:rPr>
              <a:t>03</a:t>
            </a:r>
            <a:endParaRPr lang="en-US" sz="1300" dirty="0"/>
          </a:p>
        </p:txBody>
      </p:sp>
      <p:sp>
        <p:nvSpPr>
          <p:cNvPr id="12" name="Text 10"/>
          <p:cNvSpPr/>
          <p:nvPr/>
        </p:nvSpPr>
        <p:spPr>
          <a:xfrm>
            <a:off x="939800" y="2171700"/>
            <a:ext cx="4902200" cy="571500"/>
          </a:xfrm>
          <a:prstGeom prst="rect">
            <a:avLst/>
          </a:prstGeom>
          <a:noFill/>
          <a:ln/>
        </p:spPr>
        <p:txBody>
          <a:bodyPr wrap="square" lIns="0" tIns="0" rIns="0" bIns="0" rtlCol="0" anchor="t"/>
          <a:lstStyle/>
          <a:p>
            <a:pPr marL="0" indent="0" algn="l">
              <a:lnSpc>
                <a:spcPct val="135000"/>
              </a:lnSpc>
              <a:buNone/>
            </a:pPr>
            <a:r>
              <a:rPr lang="en-US" sz="1700" dirty="0">
                <a:solidFill>
                  <a:srgbClr val="332F2A"/>
                </a:solidFill>
                <a:latin typeface="Libre Franklin" pitchFamily="34" charset="0"/>
                <a:ea typeface="Libre Franklin" pitchFamily="34" charset="-122"/>
                <a:cs typeface="Libre Franklin" pitchFamily="34" charset="-120"/>
              </a:rPr>
              <a:t>Warm-up — build it by asking</a:t>
            </a:r>
            <a:endParaRPr lang="en-US" sz="1700" dirty="0"/>
          </a:p>
        </p:txBody>
      </p:sp>
      <p:sp>
        <p:nvSpPr>
          <p:cNvPr id="13" name="Text 11"/>
          <p:cNvSpPr/>
          <p:nvPr/>
        </p:nvSpPr>
        <p:spPr>
          <a:xfrm>
            <a:off x="6350000" y="2197100"/>
            <a:ext cx="381000" cy="254000"/>
          </a:xfrm>
          <a:prstGeom prst="rect">
            <a:avLst/>
          </a:prstGeom>
          <a:noFill/>
          <a:ln/>
        </p:spPr>
        <p:txBody>
          <a:bodyPr wrap="square" lIns="0" tIns="0" rIns="0" bIns="0" rtlCol="0" anchor="t"/>
          <a:lstStyle/>
          <a:p>
            <a:pPr marL="0" indent="0" algn="l">
              <a:lnSpc>
                <a:spcPct val="145000"/>
              </a:lnSpc>
              <a:buNone/>
            </a:pPr>
            <a:r>
              <a:rPr lang="en-US" sz="1300" dirty="0">
                <a:solidFill>
                  <a:srgbClr val="A87A2E"/>
                </a:solidFill>
                <a:latin typeface="IBM Plex Mono" pitchFamily="34" charset="0"/>
                <a:ea typeface="IBM Plex Mono" pitchFamily="34" charset="-122"/>
                <a:cs typeface="IBM Plex Mono" pitchFamily="34" charset="-120"/>
              </a:rPr>
              <a:t>04</a:t>
            </a:r>
            <a:endParaRPr lang="en-US" sz="1300" dirty="0"/>
          </a:p>
        </p:txBody>
      </p:sp>
      <p:sp>
        <p:nvSpPr>
          <p:cNvPr id="14" name="Text 12"/>
          <p:cNvSpPr/>
          <p:nvPr/>
        </p:nvSpPr>
        <p:spPr>
          <a:xfrm>
            <a:off x="6731000" y="2171700"/>
            <a:ext cx="4902200" cy="571500"/>
          </a:xfrm>
          <a:prstGeom prst="rect">
            <a:avLst/>
          </a:prstGeom>
          <a:noFill/>
          <a:ln/>
        </p:spPr>
        <p:txBody>
          <a:bodyPr wrap="square" lIns="0" tIns="0" rIns="0" bIns="0" rtlCol="0" anchor="t"/>
          <a:lstStyle/>
          <a:p>
            <a:pPr marL="0" indent="0" algn="l">
              <a:lnSpc>
                <a:spcPct val="135000"/>
              </a:lnSpc>
              <a:buNone/>
            </a:pPr>
            <a:r>
              <a:rPr lang="en-US" sz="1700" dirty="0">
                <a:solidFill>
                  <a:srgbClr val="332F2A"/>
                </a:solidFill>
                <a:latin typeface="Libre Franklin" pitchFamily="34" charset="0"/>
                <a:ea typeface="Libre Franklin" pitchFamily="34" charset="-122"/>
                <a:cs typeface="Libre Franklin" pitchFamily="34" charset="-120"/>
              </a:rPr>
              <a:t>The Four Gates</a:t>
            </a:r>
            <a:endParaRPr lang="en-US" sz="1700" dirty="0"/>
          </a:p>
        </p:txBody>
      </p:sp>
      <p:sp>
        <p:nvSpPr>
          <p:cNvPr id="15" name="Text 13"/>
          <p:cNvSpPr/>
          <p:nvPr/>
        </p:nvSpPr>
        <p:spPr>
          <a:xfrm>
            <a:off x="558800" y="2882900"/>
            <a:ext cx="381000" cy="254000"/>
          </a:xfrm>
          <a:prstGeom prst="rect">
            <a:avLst/>
          </a:prstGeom>
          <a:noFill/>
          <a:ln/>
        </p:spPr>
        <p:txBody>
          <a:bodyPr wrap="square" lIns="0" tIns="0" rIns="0" bIns="0" rtlCol="0" anchor="t"/>
          <a:lstStyle/>
          <a:p>
            <a:pPr marL="0" indent="0" algn="l">
              <a:lnSpc>
                <a:spcPct val="145000"/>
              </a:lnSpc>
              <a:buNone/>
            </a:pPr>
            <a:r>
              <a:rPr lang="en-US" sz="1300" dirty="0">
                <a:solidFill>
                  <a:srgbClr val="A87A2E"/>
                </a:solidFill>
                <a:latin typeface="IBM Plex Mono" pitchFamily="34" charset="0"/>
                <a:ea typeface="IBM Plex Mono" pitchFamily="34" charset="-122"/>
                <a:cs typeface="IBM Plex Mono" pitchFamily="34" charset="-120"/>
              </a:rPr>
              <a:t>05</a:t>
            </a:r>
            <a:endParaRPr lang="en-US" sz="1300" dirty="0"/>
          </a:p>
        </p:txBody>
      </p:sp>
      <p:sp>
        <p:nvSpPr>
          <p:cNvPr id="16" name="Text 14"/>
          <p:cNvSpPr/>
          <p:nvPr/>
        </p:nvSpPr>
        <p:spPr>
          <a:xfrm>
            <a:off x="939800" y="2857500"/>
            <a:ext cx="4902200" cy="571500"/>
          </a:xfrm>
          <a:prstGeom prst="rect">
            <a:avLst/>
          </a:prstGeom>
          <a:noFill/>
          <a:ln/>
        </p:spPr>
        <p:txBody>
          <a:bodyPr wrap="square" lIns="0" tIns="0" rIns="0" bIns="0" rtlCol="0" anchor="t"/>
          <a:lstStyle/>
          <a:p>
            <a:pPr marL="0" indent="0" algn="l">
              <a:lnSpc>
                <a:spcPct val="135000"/>
              </a:lnSpc>
              <a:buNone/>
            </a:pPr>
            <a:r>
              <a:rPr lang="en-US" sz="1700" dirty="0">
                <a:solidFill>
                  <a:srgbClr val="332F2A"/>
                </a:solidFill>
                <a:latin typeface="Libre Franklin" pitchFamily="34" charset="0"/>
                <a:ea typeface="Libre Franklin" pitchFamily="34" charset="-122"/>
                <a:cs typeface="Libre Franklin" pitchFamily="34" charset="-120"/>
              </a:rPr>
              <a:t>Lab 1 — the same app, done properly</a:t>
            </a:r>
            <a:endParaRPr lang="en-US" sz="1700" dirty="0"/>
          </a:p>
        </p:txBody>
      </p:sp>
      <p:sp>
        <p:nvSpPr>
          <p:cNvPr id="17" name="Text 15"/>
          <p:cNvSpPr/>
          <p:nvPr/>
        </p:nvSpPr>
        <p:spPr>
          <a:xfrm>
            <a:off x="6350000" y="2882900"/>
            <a:ext cx="381000" cy="254000"/>
          </a:xfrm>
          <a:prstGeom prst="rect">
            <a:avLst/>
          </a:prstGeom>
          <a:noFill/>
          <a:ln/>
        </p:spPr>
        <p:txBody>
          <a:bodyPr wrap="square" lIns="0" tIns="0" rIns="0" bIns="0" rtlCol="0" anchor="t"/>
          <a:lstStyle/>
          <a:p>
            <a:pPr marL="0" indent="0" algn="l">
              <a:lnSpc>
                <a:spcPct val="145000"/>
              </a:lnSpc>
              <a:buNone/>
            </a:pPr>
            <a:r>
              <a:rPr lang="en-US" sz="1300" dirty="0">
                <a:solidFill>
                  <a:srgbClr val="A87A2E"/>
                </a:solidFill>
                <a:latin typeface="IBM Plex Mono" pitchFamily="34" charset="0"/>
                <a:ea typeface="IBM Plex Mono" pitchFamily="34" charset="-122"/>
                <a:cs typeface="IBM Plex Mono" pitchFamily="34" charset="-120"/>
              </a:rPr>
              <a:t>06</a:t>
            </a:r>
            <a:endParaRPr lang="en-US" sz="1300" dirty="0"/>
          </a:p>
        </p:txBody>
      </p:sp>
      <p:sp>
        <p:nvSpPr>
          <p:cNvPr id="18" name="Text 16"/>
          <p:cNvSpPr/>
          <p:nvPr/>
        </p:nvSpPr>
        <p:spPr>
          <a:xfrm>
            <a:off x="6731000" y="2857500"/>
            <a:ext cx="4902200" cy="571500"/>
          </a:xfrm>
          <a:prstGeom prst="rect">
            <a:avLst/>
          </a:prstGeom>
          <a:noFill/>
          <a:ln/>
        </p:spPr>
        <p:txBody>
          <a:bodyPr wrap="square" lIns="0" tIns="0" rIns="0" bIns="0" rtlCol="0" anchor="t"/>
          <a:lstStyle/>
          <a:p>
            <a:pPr marL="0" indent="0" algn="l">
              <a:lnSpc>
                <a:spcPct val="135000"/>
              </a:lnSpc>
              <a:buNone/>
            </a:pPr>
            <a:r>
              <a:rPr lang="en-US" sz="1700" dirty="0">
                <a:solidFill>
                  <a:srgbClr val="332F2A"/>
                </a:solidFill>
                <a:latin typeface="Libre Franklin" pitchFamily="34" charset="0"/>
                <a:ea typeface="Libre Franklin" pitchFamily="34" charset="-122"/>
                <a:cs typeface="Libre Franklin" pitchFamily="34" charset="-120"/>
              </a:rPr>
              <a:t>Read the reference, then ship</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C"/>
        </a:solidFill>
        <a:effectLst/>
      </p:bgPr>
    </p:bg>
    <p:spTree>
      <p:nvGrpSpPr>
        <p:cNvPr id="1" name=""/>
        <p:cNvGrpSpPr/>
        <p:nvPr/>
      </p:nvGrpSpPr>
      <p:grpSpPr>
        <a:xfrm>
          <a:off x="0" y="0"/>
          <a:ext cx="0" cy="0"/>
          <a:chOff x="0" y="0"/>
          <a:chExt cx="0" cy="0"/>
        </a:xfrm>
      </p:grpSpPr>
      <p:sp>
        <p:nvSpPr>
          <p:cNvPr id="2" name="Text 0"/>
          <p:cNvSpPr/>
          <p:nvPr/>
        </p:nvSpPr>
        <p:spPr>
          <a:xfrm>
            <a:off x="558800" y="2286000"/>
            <a:ext cx="11074400" cy="254000"/>
          </a:xfrm>
          <a:prstGeom prst="rect">
            <a:avLst/>
          </a:prstGeom>
          <a:noFill/>
          <a:ln/>
        </p:spPr>
        <p:txBody>
          <a:bodyPr wrap="square" lIns="0" tIns="0" rIns="0" bIns="0" rtlCol="0" anchor="t"/>
          <a:lstStyle/>
          <a:p>
            <a:pPr marL="0" indent="0" algn="l">
              <a:lnSpc>
                <a:spcPct val="145000"/>
              </a:lnSpc>
              <a:buNone/>
            </a:pPr>
            <a:r>
              <a:rPr lang="en-US" sz="1300" kern="0" spc="182" dirty="0">
                <a:solidFill>
                  <a:srgbClr val="A87A2E"/>
                </a:solidFill>
                <a:latin typeface="IBM Plex Mono" pitchFamily="34" charset="0"/>
                <a:ea typeface="IBM Plex Mono" pitchFamily="34" charset="-122"/>
                <a:cs typeface="IBM Plex Mono" pitchFamily="34" charset="-120"/>
              </a:rPr>
              <a:t>SECTION 01</a:t>
            </a:r>
            <a:endParaRPr lang="en-US" sz="1300" dirty="0"/>
          </a:p>
        </p:txBody>
      </p:sp>
      <p:sp>
        <p:nvSpPr>
          <p:cNvPr id="3" name="Text 1"/>
          <p:cNvSpPr/>
          <p:nvPr/>
        </p:nvSpPr>
        <p:spPr>
          <a:xfrm>
            <a:off x="558800" y="2667000"/>
            <a:ext cx="8255000" cy="1206500"/>
          </a:xfrm>
          <a:prstGeom prst="rect">
            <a:avLst/>
          </a:prstGeom>
          <a:noFill/>
          <a:ln/>
        </p:spPr>
        <p:txBody>
          <a:bodyPr wrap="square" lIns="0" tIns="0" rIns="0" bIns="0" rtlCol="0" anchor="t"/>
          <a:lstStyle/>
          <a:p>
            <a:pPr marL="0" indent="0" algn="l">
              <a:lnSpc>
                <a:spcPct val="108000"/>
              </a:lnSpc>
              <a:buNone/>
            </a:pPr>
            <a:r>
              <a:rPr lang="en-US" sz="4000" b="1" dirty="0">
                <a:solidFill>
                  <a:srgbClr val="332F2A"/>
                </a:solidFill>
                <a:latin typeface="Libre Franklin" pitchFamily="34" charset="0"/>
                <a:ea typeface="Libre Franklin" pitchFamily="34" charset="-122"/>
                <a:cs typeface="Libre Franklin" pitchFamily="34" charset="-120"/>
              </a:rPr>
              <a:t>How an agent works</a:t>
            </a:r>
            <a:endParaRPr lang="en-US" sz="4000" dirty="0"/>
          </a:p>
        </p:txBody>
      </p:sp>
      <p:sp>
        <p:nvSpPr>
          <p:cNvPr id="4" name="Text 2"/>
          <p:cNvSpPr/>
          <p:nvPr/>
        </p:nvSpPr>
        <p:spPr>
          <a:xfrm>
            <a:off x="558800" y="4064000"/>
            <a:ext cx="6985000" cy="635000"/>
          </a:xfrm>
          <a:prstGeom prst="rect">
            <a:avLst/>
          </a:prstGeom>
          <a:noFill/>
          <a:ln/>
        </p:spPr>
        <p:txBody>
          <a:bodyPr wrap="square" lIns="0" tIns="0" rIns="0" bIns="0" rtlCol="0" anchor="t"/>
          <a:lstStyle/>
          <a:p>
            <a:pPr marL="0" indent="0" algn="l">
              <a:lnSpc>
                <a:spcPct val="140000"/>
              </a:lnSpc>
              <a:buNone/>
            </a:pPr>
            <a:r>
              <a:rPr lang="en-US" sz="1700" dirty="0">
                <a:solidFill>
                  <a:srgbClr val="77726A"/>
                </a:solidFill>
                <a:latin typeface="Libre Franklin" pitchFamily="34" charset="0"/>
                <a:ea typeface="Libre Franklin" pitchFamily="34" charset="-122"/>
                <a:cs typeface="Libre Franklin" pitchFamily="34" charset="-120"/>
              </a:rPr>
              <a:t>What actually happens between typing a request and a file changing on disk.</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SECTION 01</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What a language model is</a:t>
            </a:r>
            <a:endParaRPr lang="en-US" sz="2800" dirty="0"/>
          </a:p>
        </p:txBody>
      </p:sp>
      <p:sp>
        <p:nvSpPr>
          <p:cNvPr id="4" name="Shape 2"/>
          <p:cNvSpPr/>
          <p:nvPr/>
        </p:nvSpPr>
        <p:spPr>
          <a:xfrm>
            <a:off x="558800" y="1181100"/>
            <a:ext cx="11074400" cy="6350"/>
          </a:xfrm>
          <a:prstGeom prst="rect">
            <a:avLst/>
          </a:prstGeom>
          <a:solidFill>
            <a:srgbClr val="E1DED7"/>
          </a:solidFill>
          <a:ln/>
        </p:spPr>
        <p:txBody>
          <a:bodyPr/>
          <a:lstStyle/>
          <a:p>
            <a:endParaRPr lang="en-TH"/>
          </a:p>
        </p:txBody>
      </p:sp>
      <p:sp>
        <p:nvSpPr>
          <p:cNvPr id="5"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07</a:t>
            </a:r>
            <a:endParaRPr lang="en-US" sz="1200" dirty="0"/>
          </a:p>
        </p:txBody>
      </p:sp>
      <p:pic>
        <p:nvPicPr>
          <p:cNvPr id="7" name="Image 0" descr="figures/fig-language-model.png"/>
          <p:cNvPicPr>
            <a:picLocks noChangeAspect="1"/>
          </p:cNvPicPr>
          <p:nvPr/>
        </p:nvPicPr>
        <p:blipFill>
          <a:blip r:embed="rId3"/>
          <a:srcRect/>
          <a:stretch/>
        </p:blipFill>
        <p:spPr>
          <a:xfrm>
            <a:off x="558800" y="1511300"/>
            <a:ext cx="6134100" cy="4572000"/>
          </a:xfrm>
          <a:prstGeom prst="rect">
            <a:avLst/>
          </a:prstGeom>
        </p:spPr>
      </p:pic>
      <p:sp>
        <p:nvSpPr>
          <p:cNvPr id="8" name="Text 5"/>
          <p:cNvSpPr/>
          <p:nvPr/>
        </p:nvSpPr>
        <p:spPr>
          <a:xfrm>
            <a:off x="7099300" y="1511300"/>
            <a:ext cx="4533900" cy="160020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Trained once, on a very large amount of writing, to do a single thing: given some text, guess what comes next. Everything it appears to do is built on top of that one trick.</a:t>
            </a:r>
            <a:endParaRPr lang="en-US" sz="1600" dirty="0"/>
          </a:p>
        </p:txBody>
      </p:sp>
      <p:sp>
        <p:nvSpPr>
          <p:cNvPr id="9" name="Text 6"/>
          <p:cNvSpPr/>
          <p:nvPr/>
        </p:nvSpPr>
        <p:spPr>
          <a:xfrm>
            <a:off x="7099300" y="3238500"/>
            <a:ext cx="4533900" cy="130556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It consults no database. An answer is reconstructed from patterns, never retrieved — which is the mechanism behind everything on the next three slides.</a:t>
            </a:r>
            <a:endParaRPr lang="en-US" sz="1600" dirty="0"/>
          </a:p>
        </p:txBody>
      </p:sp>
      <p:sp>
        <p:nvSpPr>
          <p:cNvPr id="10" name="Text 7"/>
          <p:cNvSpPr/>
          <p:nvPr/>
        </p:nvSpPr>
        <p:spPr>
          <a:xfrm>
            <a:off x="7099300" y="5956300"/>
            <a:ext cx="45339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Fig. 1 — trained once, then rented by the word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SECTION 01</a:t>
            </a:r>
            <a:endParaRPr lang="en-US" sz="1200" dirty="0"/>
          </a:p>
        </p:txBody>
      </p:sp>
      <p:pic>
        <p:nvPicPr>
          <p:cNvPr id="3" name="Image 0" descr="icons/cline.png"/>
          <p:cNvPicPr>
            <a:picLocks noChangeAspect="1"/>
          </p:cNvPicPr>
          <p:nvPr/>
        </p:nvPicPr>
        <p:blipFill>
          <a:blip r:embed="rId3"/>
          <a:stretch>
            <a:fillRect/>
          </a:stretch>
        </p:blipFill>
        <p:spPr>
          <a:xfrm>
            <a:off x="11087100" y="361950"/>
            <a:ext cx="203200" cy="203200"/>
          </a:xfrm>
          <a:prstGeom prst="rect">
            <a:avLst/>
          </a:prstGeom>
        </p:spPr>
      </p:pic>
      <p:pic>
        <p:nvPicPr>
          <p:cNvPr id="4" name="Image 1" descr="icons/googlegemini.png"/>
          <p:cNvPicPr>
            <a:picLocks noChangeAspect="1"/>
          </p:cNvPicPr>
          <p:nvPr/>
        </p:nvPicPr>
        <p:blipFill>
          <a:blip r:embed="rId4"/>
          <a:stretch>
            <a:fillRect/>
          </a:stretch>
        </p:blipFill>
        <p:spPr>
          <a:xfrm>
            <a:off x="11430000" y="361950"/>
            <a:ext cx="203200" cy="203200"/>
          </a:xfrm>
          <a:prstGeom prst="rect">
            <a:avLst/>
          </a:prstGeom>
        </p:spPr>
      </p:pic>
      <p:sp>
        <p:nvSpPr>
          <p:cNvPr id="5"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Harness and model</a:t>
            </a:r>
            <a:endParaRPr lang="en-US" sz="2800" dirty="0"/>
          </a:p>
        </p:txBody>
      </p:sp>
      <p:sp>
        <p:nvSpPr>
          <p:cNvPr id="6" name="Shape 2"/>
          <p:cNvSpPr/>
          <p:nvPr/>
        </p:nvSpPr>
        <p:spPr>
          <a:xfrm>
            <a:off x="558800" y="1181100"/>
            <a:ext cx="11074400" cy="6350"/>
          </a:xfrm>
          <a:prstGeom prst="rect">
            <a:avLst/>
          </a:prstGeom>
          <a:solidFill>
            <a:srgbClr val="E1DED7"/>
          </a:solidFill>
          <a:ln/>
        </p:spPr>
        <p:txBody>
          <a:bodyPr/>
          <a:lstStyle/>
          <a:p>
            <a:endParaRPr lang="en-TH"/>
          </a:p>
        </p:txBody>
      </p:sp>
      <p:sp>
        <p:nvSpPr>
          <p:cNvPr id="7"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8"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08</a:t>
            </a:r>
            <a:endParaRPr lang="en-US" sz="1200" dirty="0"/>
          </a:p>
        </p:txBody>
      </p:sp>
      <p:pic>
        <p:nvPicPr>
          <p:cNvPr id="9" name="Image 2" descr="figures/fig-harness-model.png"/>
          <p:cNvPicPr>
            <a:picLocks noChangeAspect="1"/>
          </p:cNvPicPr>
          <p:nvPr/>
        </p:nvPicPr>
        <p:blipFill>
          <a:blip r:embed="rId5"/>
          <a:srcRect/>
          <a:stretch/>
        </p:blipFill>
        <p:spPr>
          <a:xfrm>
            <a:off x="558800" y="1511300"/>
            <a:ext cx="6134100" cy="4572000"/>
          </a:xfrm>
          <a:prstGeom prst="rect">
            <a:avLst/>
          </a:prstGeom>
        </p:spPr>
      </p:pic>
      <p:sp>
        <p:nvSpPr>
          <p:cNvPr id="10" name="Text 5"/>
          <p:cNvSpPr/>
          <p:nvPr/>
        </p:nvSpPr>
        <p:spPr>
          <a:xfrm>
            <a:off x="7099300" y="1511300"/>
            <a:ext cx="4533900" cy="160020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A harness is the program that does things. Cline reads your files, writes the edits, runs the commands, and decides when to ask the model what to do next. It has no intelligence of its own.</a:t>
            </a:r>
            <a:endParaRPr lang="en-US" sz="1600" dirty="0"/>
          </a:p>
        </p:txBody>
      </p:sp>
      <p:sp>
        <p:nvSpPr>
          <p:cNvPr id="11" name="Text 6"/>
          <p:cNvSpPr/>
          <p:nvPr/>
        </p:nvSpPr>
        <p:spPr>
          <a:xfrm>
            <a:off x="7099300" y="3238500"/>
            <a:ext cx="4533900" cy="130556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The model is the thing that decides what to say. It runs on someone else’s computer, never sees your disk, and can be swapped for another in three clicks.</a:t>
            </a:r>
            <a:endParaRPr lang="en-US" sz="1600" dirty="0"/>
          </a:p>
        </p:txBody>
      </p:sp>
      <p:sp>
        <p:nvSpPr>
          <p:cNvPr id="12" name="Text 7"/>
          <p:cNvSpPr/>
          <p:nvPr/>
        </p:nvSpPr>
        <p:spPr>
          <a:xfrm>
            <a:off x="7099300" y="5956300"/>
            <a:ext cx="45339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Fig. 2 — the two pieces you are driving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SECTION 01</a:t>
            </a:r>
            <a:endParaRPr lang="en-US" sz="1200" dirty="0"/>
          </a:p>
        </p:txBody>
      </p:sp>
      <p:pic>
        <p:nvPicPr>
          <p:cNvPr id="3" name="Image 0" descr="icons/cline.png"/>
          <p:cNvPicPr>
            <a:picLocks noChangeAspect="1"/>
          </p:cNvPicPr>
          <p:nvPr/>
        </p:nvPicPr>
        <p:blipFill>
          <a:blip r:embed="rId3"/>
          <a:stretch>
            <a:fillRect/>
          </a:stretch>
        </p:blipFill>
        <p:spPr>
          <a:xfrm>
            <a:off x="9715500" y="361950"/>
            <a:ext cx="203200" cy="203200"/>
          </a:xfrm>
          <a:prstGeom prst="rect">
            <a:avLst/>
          </a:prstGeom>
        </p:spPr>
      </p:pic>
      <p:pic>
        <p:nvPicPr>
          <p:cNvPr id="4" name="Image 1" descr="icons/cursor.png"/>
          <p:cNvPicPr>
            <a:picLocks noChangeAspect="1"/>
          </p:cNvPicPr>
          <p:nvPr/>
        </p:nvPicPr>
        <p:blipFill>
          <a:blip r:embed="rId4"/>
          <a:stretch>
            <a:fillRect/>
          </a:stretch>
        </p:blipFill>
        <p:spPr>
          <a:xfrm>
            <a:off x="10058400" y="361950"/>
            <a:ext cx="203200" cy="203200"/>
          </a:xfrm>
          <a:prstGeom prst="rect">
            <a:avLst/>
          </a:prstGeom>
        </p:spPr>
      </p:pic>
      <p:pic>
        <p:nvPicPr>
          <p:cNvPr id="5" name="Image 2" descr="icons/githubcopilot.png"/>
          <p:cNvPicPr>
            <a:picLocks noChangeAspect="1"/>
          </p:cNvPicPr>
          <p:nvPr/>
        </p:nvPicPr>
        <p:blipFill>
          <a:blip r:embed="rId5"/>
          <a:stretch>
            <a:fillRect/>
          </a:stretch>
        </p:blipFill>
        <p:spPr>
          <a:xfrm>
            <a:off x="10401300" y="361950"/>
            <a:ext cx="203200" cy="203200"/>
          </a:xfrm>
          <a:prstGeom prst="rect">
            <a:avLst/>
          </a:prstGeom>
        </p:spPr>
      </p:pic>
      <p:pic>
        <p:nvPicPr>
          <p:cNvPr id="6" name="Image 3" descr="icons/claude.png"/>
          <p:cNvPicPr>
            <a:picLocks noChangeAspect="1"/>
          </p:cNvPicPr>
          <p:nvPr/>
        </p:nvPicPr>
        <p:blipFill>
          <a:blip r:embed="rId6"/>
          <a:stretch>
            <a:fillRect/>
          </a:stretch>
        </p:blipFill>
        <p:spPr>
          <a:xfrm>
            <a:off x="10744200" y="361950"/>
            <a:ext cx="203200" cy="203200"/>
          </a:xfrm>
          <a:prstGeom prst="rect">
            <a:avLst/>
          </a:prstGeom>
        </p:spPr>
      </p:pic>
      <p:pic>
        <p:nvPicPr>
          <p:cNvPr id="7" name="Image 4" descr="icons/googlegemini.png"/>
          <p:cNvPicPr>
            <a:picLocks noChangeAspect="1"/>
          </p:cNvPicPr>
          <p:nvPr/>
        </p:nvPicPr>
        <p:blipFill>
          <a:blip r:embed="rId7"/>
          <a:stretch>
            <a:fillRect/>
          </a:stretch>
        </p:blipFill>
        <p:spPr>
          <a:xfrm>
            <a:off x="11087100" y="361950"/>
            <a:ext cx="203200" cy="203200"/>
          </a:xfrm>
          <a:prstGeom prst="rect">
            <a:avLst/>
          </a:prstGeom>
        </p:spPr>
      </p:pic>
      <p:pic>
        <p:nvPicPr>
          <p:cNvPr id="8" name="Image 5" descr="icons/mistralai.png"/>
          <p:cNvPicPr>
            <a:picLocks noChangeAspect="1"/>
          </p:cNvPicPr>
          <p:nvPr/>
        </p:nvPicPr>
        <p:blipFill>
          <a:blip r:embed="rId8"/>
          <a:stretch>
            <a:fillRect/>
          </a:stretch>
        </p:blipFill>
        <p:spPr>
          <a:xfrm>
            <a:off x="11430000" y="361950"/>
            <a:ext cx="203200" cy="203200"/>
          </a:xfrm>
          <a:prstGeom prst="rect">
            <a:avLst/>
          </a:prstGeom>
        </p:spPr>
      </p:pic>
      <p:sp>
        <p:nvSpPr>
          <p:cNvPr id="9"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The tools people actually use</a:t>
            </a:r>
            <a:endParaRPr lang="en-US" sz="2800" dirty="0"/>
          </a:p>
        </p:txBody>
      </p:sp>
      <p:sp>
        <p:nvSpPr>
          <p:cNvPr id="10" name="Shape 2"/>
          <p:cNvSpPr/>
          <p:nvPr/>
        </p:nvSpPr>
        <p:spPr>
          <a:xfrm>
            <a:off x="558800" y="1181100"/>
            <a:ext cx="11074400" cy="6350"/>
          </a:xfrm>
          <a:prstGeom prst="rect">
            <a:avLst/>
          </a:prstGeom>
          <a:solidFill>
            <a:srgbClr val="E1DED7"/>
          </a:solidFill>
          <a:ln/>
        </p:spPr>
        <p:txBody>
          <a:bodyPr/>
          <a:lstStyle/>
          <a:p>
            <a:endParaRPr lang="en-TH"/>
          </a:p>
        </p:txBody>
      </p:sp>
      <p:sp>
        <p:nvSpPr>
          <p:cNvPr id="11"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12"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09</a:t>
            </a:r>
            <a:endParaRPr lang="en-US" sz="1200" dirty="0"/>
          </a:p>
        </p:txBody>
      </p:sp>
      <p:sp>
        <p:nvSpPr>
          <p:cNvPr id="13" name="Text 5"/>
          <p:cNvSpPr/>
          <p:nvPr/>
        </p:nvSpPr>
        <p:spPr>
          <a:xfrm>
            <a:off x="558800" y="1511300"/>
            <a:ext cx="5283200" cy="254000"/>
          </a:xfrm>
          <a:prstGeom prst="rect">
            <a:avLst/>
          </a:prstGeom>
          <a:noFill/>
          <a:ln/>
        </p:spPr>
        <p:txBody>
          <a:bodyPr wrap="square" lIns="0" tIns="0" rIns="0" bIns="0" rtlCol="0" anchor="t"/>
          <a:lstStyle/>
          <a:p>
            <a:pPr marL="0" indent="0" algn="l">
              <a:lnSpc>
                <a:spcPct val="145000"/>
              </a:lnSpc>
              <a:buNone/>
            </a:pPr>
            <a:r>
              <a:rPr lang="en-US" sz="1300" kern="0" spc="130" dirty="0">
                <a:solidFill>
                  <a:srgbClr val="A87A2E"/>
                </a:solidFill>
                <a:latin typeface="IBM Plex Mono" pitchFamily="34" charset="0"/>
                <a:ea typeface="IBM Plex Mono" pitchFamily="34" charset="-122"/>
                <a:cs typeface="IBM Plex Mono" pitchFamily="34" charset="-120"/>
              </a:rPr>
              <a:t>HARNESSES</a:t>
            </a:r>
            <a:endParaRPr lang="en-US" sz="1300" dirty="0"/>
          </a:p>
        </p:txBody>
      </p:sp>
      <p:sp>
        <p:nvSpPr>
          <p:cNvPr id="14" name="Text 6"/>
          <p:cNvSpPr/>
          <p:nvPr/>
        </p:nvSpPr>
        <p:spPr>
          <a:xfrm>
            <a:off x="558800" y="1917700"/>
            <a:ext cx="5283200" cy="127000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Cline and Roo Code, free inside VS Code. Cursor and Windsurf, whole editors. GitHub Copilot. Claude Code and Gemini CLI, in the terminal. Aider.</a:t>
            </a:r>
            <a:endParaRPr lang="en-US" sz="1600" dirty="0"/>
          </a:p>
        </p:txBody>
      </p:sp>
      <p:sp>
        <p:nvSpPr>
          <p:cNvPr id="15" name="Text 7"/>
          <p:cNvSpPr/>
          <p:nvPr/>
        </p:nvSpPr>
        <p:spPr>
          <a:xfrm>
            <a:off x="558800" y="3274060"/>
            <a:ext cx="5283200" cy="127000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All do the same job: read your files, write the edits, run the commands. We use Cline because it is free and shows you every step it takes.</a:t>
            </a:r>
            <a:endParaRPr lang="en-US" sz="1600" dirty="0"/>
          </a:p>
        </p:txBody>
      </p:sp>
      <p:sp>
        <p:nvSpPr>
          <p:cNvPr id="16" name="Text 8"/>
          <p:cNvSpPr/>
          <p:nvPr/>
        </p:nvSpPr>
        <p:spPr>
          <a:xfrm>
            <a:off x="6350000" y="1511300"/>
            <a:ext cx="5283200" cy="254000"/>
          </a:xfrm>
          <a:prstGeom prst="rect">
            <a:avLst/>
          </a:prstGeom>
          <a:noFill/>
          <a:ln/>
        </p:spPr>
        <p:txBody>
          <a:bodyPr wrap="square" lIns="0" tIns="0" rIns="0" bIns="0" rtlCol="0" anchor="t"/>
          <a:lstStyle/>
          <a:p>
            <a:pPr marL="0" indent="0" algn="l">
              <a:lnSpc>
                <a:spcPct val="145000"/>
              </a:lnSpc>
              <a:buNone/>
            </a:pPr>
            <a:r>
              <a:rPr lang="en-US" sz="1300" kern="0" spc="130" dirty="0">
                <a:solidFill>
                  <a:srgbClr val="A87A2E"/>
                </a:solidFill>
                <a:latin typeface="IBM Plex Mono" pitchFamily="34" charset="0"/>
                <a:ea typeface="IBM Plex Mono" pitchFamily="34" charset="-122"/>
                <a:cs typeface="IBM Plex Mono" pitchFamily="34" charset="-120"/>
              </a:rPr>
              <a:t>MODELS</a:t>
            </a:r>
            <a:endParaRPr lang="en-US" sz="1300" dirty="0"/>
          </a:p>
        </p:txBody>
      </p:sp>
      <p:sp>
        <p:nvSpPr>
          <p:cNvPr id="17" name="Text 9"/>
          <p:cNvSpPr/>
          <p:nvPr/>
        </p:nvSpPr>
        <p:spPr>
          <a:xfrm>
            <a:off x="6350000" y="1917700"/>
            <a:ext cx="5283200" cy="127000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Claude, GPT, Gemini, Mistral, Llama, Qwen, DeepSeek. Some you rent by the word; some you can download and run yourself.</a:t>
            </a:r>
            <a:endParaRPr lang="en-US" sz="1600" dirty="0"/>
          </a:p>
        </p:txBody>
      </p:sp>
      <p:sp>
        <p:nvSpPr>
          <p:cNvPr id="18" name="Text 10"/>
          <p:cNvSpPr/>
          <p:nvPr/>
        </p:nvSpPr>
        <p:spPr>
          <a:xfrm>
            <a:off x="6350000" y="3274060"/>
            <a:ext cx="5283200" cy="127000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Nearly every harness lets you point at any of them. Swapping is a settings change, not a new tool — which is exactly why the split is worth knowing.</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SECTION 01</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The loop the agent runs</a:t>
            </a:r>
            <a:endParaRPr lang="en-US" sz="2800" dirty="0"/>
          </a:p>
        </p:txBody>
      </p:sp>
      <p:sp>
        <p:nvSpPr>
          <p:cNvPr id="4" name="Shape 2"/>
          <p:cNvSpPr/>
          <p:nvPr/>
        </p:nvSpPr>
        <p:spPr>
          <a:xfrm>
            <a:off x="558800" y="1181100"/>
            <a:ext cx="11074400" cy="6350"/>
          </a:xfrm>
          <a:prstGeom prst="rect">
            <a:avLst/>
          </a:prstGeom>
          <a:solidFill>
            <a:srgbClr val="E1DED7"/>
          </a:solidFill>
          <a:ln/>
        </p:spPr>
        <p:txBody>
          <a:bodyPr/>
          <a:lstStyle/>
          <a:p>
            <a:endParaRPr lang="en-TH"/>
          </a:p>
        </p:txBody>
      </p:sp>
      <p:sp>
        <p:nvSpPr>
          <p:cNvPr id="5"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10</a:t>
            </a:r>
            <a:endParaRPr lang="en-US" sz="1200" dirty="0"/>
          </a:p>
        </p:txBody>
      </p:sp>
      <p:pic>
        <p:nvPicPr>
          <p:cNvPr id="7" name="Image 0" descr="figures/fig-agent-loop.png"/>
          <p:cNvPicPr>
            <a:picLocks noChangeAspect="1"/>
          </p:cNvPicPr>
          <p:nvPr/>
        </p:nvPicPr>
        <p:blipFill>
          <a:blip r:embed="rId3"/>
          <a:srcRect/>
          <a:stretch/>
        </p:blipFill>
        <p:spPr>
          <a:xfrm>
            <a:off x="558800" y="1511300"/>
            <a:ext cx="6134100" cy="4572000"/>
          </a:xfrm>
          <a:prstGeom prst="rect">
            <a:avLst/>
          </a:prstGeom>
        </p:spPr>
      </p:pic>
      <p:sp>
        <p:nvSpPr>
          <p:cNvPr id="8" name="Text 5"/>
          <p:cNvSpPr/>
          <p:nvPr/>
        </p:nvSpPr>
        <p:spPr>
          <a:xfrm>
            <a:off x="7099300" y="1511300"/>
            <a:ext cx="4533900" cy="101092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Read, plan, edit, run, observe — then round again. The harness drives this loop until the task is done or you stop it.</a:t>
            </a:r>
            <a:endParaRPr lang="en-US" sz="1600" dirty="0"/>
          </a:p>
        </p:txBody>
      </p:sp>
      <p:sp>
        <p:nvSpPr>
          <p:cNvPr id="9" name="Text 6"/>
          <p:cNvSpPr/>
          <p:nvPr/>
        </p:nvSpPr>
        <p:spPr>
          <a:xfrm>
            <a:off x="7099300" y="2649220"/>
            <a:ext cx="4533900" cy="130556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One sentence from you becomes four to ten laps, and every lap re-sends everything so far. That is where your allowance goes.</a:t>
            </a:r>
            <a:endParaRPr lang="en-US" sz="1600" dirty="0"/>
          </a:p>
        </p:txBody>
      </p:sp>
      <p:sp>
        <p:nvSpPr>
          <p:cNvPr id="10" name="Text 7"/>
          <p:cNvSpPr/>
          <p:nvPr/>
        </p:nvSpPr>
        <p:spPr>
          <a:xfrm>
            <a:off x="7099300" y="5956300"/>
            <a:ext cx="45339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Fig. 3 — one instruction, many laps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C"/>
        </a:solidFill>
        <a:effectLst/>
      </p:bgPr>
    </p:bg>
    <p:spTree>
      <p:nvGrpSpPr>
        <p:cNvPr id="1" name=""/>
        <p:cNvGrpSpPr/>
        <p:nvPr/>
      </p:nvGrpSpPr>
      <p:grpSpPr>
        <a:xfrm>
          <a:off x="0" y="0"/>
          <a:ext cx="0" cy="0"/>
          <a:chOff x="0" y="0"/>
          <a:chExt cx="0" cy="0"/>
        </a:xfrm>
      </p:grpSpPr>
      <p:sp>
        <p:nvSpPr>
          <p:cNvPr id="2" name="Text 0"/>
          <p:cNvSpPr/>
          <p:nvPr/>
        </p:nvSpPr>
        <p:spPr>
          <a:xfrm>
            <a:off x="558800" y="2286000"/>
            <a:ext cx="11074400" cy="254000"/>
          </a:xfrm>
          <a:prstGeom prst="rect">
            <a:avLst/>
          </a:prstGeom>
          <a:noFill/>
          <a:ln/>
        </p:spPr>
        <p:txBody>
          <a:bodyPr wrap="square" lIns="0" tIns="0" rIns="0" bIns="0" rtlCol="0" anchor="t"/>
          <a:lstStyle/>
          <a:p>
            <a:pPr marL="0" indent="0" algn="l">
              <a:lnSpc>
                <a:spcPct val="145000"/>
              </a:lnSpc>
              <a:buNone/>
            </a:pPr>
            <a:r>
              <a:rPr lang="en-US" sz="1300" kern="0" spc="182" dirty="0">
                <a:solidFill>
                  <a:srgbClr val="A87A2E"/>
                </a:solidFill>
                <a:latin typeface="IBM Plex Mono" pitchFamily="34" charset="0"/>
                <a:ea typeface="IBM Plex Mono" pitchFamily="34" charset="-122"/>
                <a:cs typeface="IBM Plex Mono" pitchFamily="34" charset="-120"/>
              </a:rPr>
              <a:t>SECTION 02</a:t>
            </a:r>
            <a:endParaRPr lang="en-US" sz="1300" dirty="0"/>
          </a:p>
        </p:txBody>
      </p:sp>
      <p:sp>
        <p:nvSpPr>
          <p:cNvPr id="3" name="Text 1"/>
          <p:cNvSpPr/>
          <p:nvPr/>
        </p:nvSpPr>
        <p:spPr>
          <a:xfrm>
            <a:off x="558800" y="2667000"/>
            <a:ext cx="8255000" cy="1206500"/>
          </a:xfrm>
          <a:prstGeom prst="rect">
            <a:avLst/>
          </a:prstGeom>
          <a:noFill/>
          <a:ln/>
        </p:spPr>
        <p:txBody>
          <a:bodyPr wrap="square" lIns="0" tIns="0" rIns="0" bIns="0" rtlCol="0" anchor="t"/>
          <a:lstStyle/>
          <a:p>
            <a:pPr marL="0" indent="0" algn="l">
              <a:lnSpc>
                <a:spcPct val="108000"/>
              </a:lnSpc>
              <a:buNone/>
            </a:pPr>
            <a:r>
              <a:rPr lang="en-US" sz="4000" b="1" dirty="0">
                <a:solidFill>
                  <a:srgbClr val="332F2A"/>
                </a:solidFill>
                <a:latin typeface="Libre Franklin" pitchFamily="34" charset="0"/>
                <a:ea typeface="Libre Franklin" pitchFamily="34" charset="-122"/>
                <a:cs typeface="Libre Franklin" pitchFamily="34" charset="-120"/>
              </a:rPr>
              <a:t>What it costs, and why it fails</a:t>
            </a:r>
            <a:endParaRPr lang="en-US" sz="4000" dirty="0"/>
          </a:p>
        </p:txBody>
      </p:sp>
      <p:sp>
        <p:nvSpPr>
          <p:cNvPr id="4" name="Text 2"/>
          <p:cNvSpPr/>
          <p:nvPr/>
        </p:nvSpPr>
        <p:spPr>
          <a:xfrm>
            <a:off x="558800" y="4064000"/>
            <a:ext cx="6985000" cy="635000"/>
          </a:xfrm>
          <a:prstGeom prst="rect">
            <a:avLst/>
          </a:prstGeom>
          <a:noFill/>
          <a:ln/>
        </p:spPr>
        <p:txBody>
          <a:bodyPr wrap="square" lIns="0" tIns="0" rIns="0" bIns="0" rtlCol="0" anchor="t"/>
          <a:lstStyle/>
          <a:p>
            <a:pPr marL="0" indent="0" algn="l">
              <a:lnSpc>
                <a:spcPct val="140000"/>
              </a:lnSpc>
              <a:buNone/>
            </a:pPr>
            <a:r>
              <a:rPr lang="en-US" sz="1700" dirty="0">
                <a:solidFill>
                  <a:srgbClr val="77726A"/>
                </a:solidFill>
                <a:latin typeface="Libre Franklin" pitchFamily="34" charset="0"/>
                <a:ea typeface="Libre Franklin" pitchFamily="34" charset="-122"/>
                <a:cs typeface="Libre Franklin" pitchFamily="34" charset="-120"/>
              </a:rPr>
              <a:t>Three limits you will meet before lunch, and the reason none of them are bugs.</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SECTION 02</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Context and its limits</a:t>
            </a:r>
            <a:endParaRPr lang="en-US" sz="2800" dirty="0"/>
          </a:p>
        </p:txBody>
      </p:sp>
      <p:sp>
        <p:nvSpPr>
          <p:cNvPr id="4" name="Shape 2"/>
          <p:cNvSpPr/>
          <p:nvPr/>
        </p:nvSpPr>
        <p:spPr>
          <a:xfrm>
            <a:off x="558800" y="1181100"/>
            <a:ext cx="11074400" cy="6350"/>
          </a:xfrm>
          <a:prstGeom prst="rect">
            <a:avLst/>
          </a:prstGeom>
          <a:solidFill>
            <a:srgbClr val="E1DED7"/>
          </a:solidFill>
          <a:ln/>
        </p:spPr>
        <p:txBody>
          <a:bodyPr/>
          <a:lstStyle/>
          <a:p>
            <a:endParaRPr lang="en-TH"/>
          </a:p>
        </p:txBody>
      </p:sp>
      <p:sp>
        <p:nvSpPr>
          <p:cNvPr id="5"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12</a:t>
            </a:r>
            <a:endParaRPr lang="en-US" sz="1200" dirty="0"/>
          </a:p>
        </p:txBody>
      </p:sp>
      <p:sp>
        <p:nvSpPr>
          <p:cNvPr id="7" name="Text 5"/>
          <p:cNvSpPr/>
          <p:nvPr/>
        </p:nvSpPr>
        <p:spPr>
          <a:xfrm>
            <a:off x="558800" y="1511300"/>
            <a:ext cx="190500" cy="317500"/>
          </a:xfrm>
          <a:prstGeom prst="rect">
            <a:avLst/>
          </a:prstGeom>
          <a:noFill/>
          <a:ln/>
        </p:spPr>
        <p:txBody>
          <a:bodyPr wrap="square" lIns="0" tIns="0" rIns="0" bIns="0" rtlCol="0" anchor="t"/>
          <a:lstStyle/>
          <a:p>
            <a:pPr marL="0" indent="0" algn="l">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8" name="Text 6"/>
          <p:cNvSpPr/>
          <p:nvPr/>
        </p:nvSpPr>
        <p:spPr>
          <a:xfrm>
            <a:off x="927100" y="1511300"/>
            <a:ext cx="9156700" cy="753110"/>
          </a:xfrm>
          <a:prstGeom prst="rect">
            <a:avLst/>
          </a:prstGeom>
          <a:noFill/>
          <a:ln/>
        </p:spPr>
        <p:txBody>
          <a:bodyPr wrap="square" lIns="0" tIns="0" rIns="0" bIns="0" rtlCol="0" anchor="t"/>
          <a:lstStyle/>
          <a:p>
            <a:pPr marL="0" indent="0" algn="l">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The model has no memory. </a:t>
            </a:r>
            <a:r>
              <a:rPr lang="en-US" sz="1700" dirty="0">
                <a:solidFill>
                  <a:srgbClr val="332F2A"/>
                </a:solidFill>
                <a:latin typeface="Libre Franklin" pitchFamily="34" charset="0"/>
                <a:ea typeface="Libre Franklin" pitchFamily="34" charset="-122"/>
                <a:cs typeface="Libre Franklin" pitchFamily="34" charset="-120"/>
              </a:rPr>
              <a:t>Between one request and the next it retains nothing at all.</a:t>
            </a:r>
            <a:endParaRPr lang="en-US" sz="1700" dirty="0"/>
          </a:p>
        </p:txBody>
      </p:sp>
      <p:sp>
        <p:nvSpPr>
          <p:cNvPr id="9" name="Text 7"/>
          <p:cNvSpPr/>
          <p:nvPr/>
        </p:nvSpPr>
        <p:spPr>
          <a:xfrm>
            <a:off x="558800" y="2391410"/>
            <a:ext cx="190500" cy="317500"/>
          </a:xfrm>
          <a:prstGeom prst="rect">
            <a:avLst/>
          </a:prstGeom>
          <a:noFill/>
          <a:ln/>
        </p:spPr>
        <p:txBody>
          <a:bodyPr wrap="square" lIns="0" tIns="0" rIns="0" bIns="0" rtlCol="0" anchor="t"/>
          <a:lstStyle/>
          <a:p>
            <a:pPr marL="0" indent="0" algn="l">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0" name="Text 8"/>
          <p:cNvSpPr/>
          <p:nvPr/>
        </p:nvSpPr>
        <p:spPr>
          <a:xfrm>
            <a:off x="927100" y="2391410"/>
            <a:ext cx="9156700" cy="753110"/>
          </a:xfrm>
          <a:prstGeom prst="rect">
            <a:avLst/>
          </a:prstGeom>
          <a:noFill/>
          <a:ln/>
        </p:spPr>
        <p:txBody>
          <a:bodyPr wrap="square" lIns="0" tIns="0" rIns="0" bIns="0" rtlCol="0" anchor="t"/>
          <a:lstStyle/>
          <a:p>
            <a:pPr marL="0" indent="0" algn="l">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So everything is re-sent. </a:t>
            </a:r>
            <a:r>
              <a:rPr lang="en-US" sz="1700" dirty="0">
                <a:solidFill>
                  <a:srgbClr val="332F2A"/>
                </a:solidFill>
                <a:latin typeface="Libre Franklin" pitchFamily="34" charset="0"/>
                <a:ea typeface="Libre Franklin" pitchFamily="34" charset="-122"/>
                <a:cs typeface="Libre Franklin" pitchFamily="34" charset="-120"/>
              </a:rPr>
              <a:t>Every request carries the whole conversation and every file read so far.</a:t>
            </a:r>
            <a:endParaRPr lang="en-US" sz="1700" dirty="0"/>
          </a:p>
        </p:txBody>
      </p:sp>
      <p:sp>
        <p:nvSpPr>
          <p:cNvPr id="11" name="Text 9"/>
          <p:cNvSpPr/>
          <p:nvPr/>
        </p:nvSpPr>
        <p:spPr>
          <a:xfrm>
            <a:off x="558800" y="3271520"/>
            <a:ext cx="190500" cy="317500"/>
          </a:xfrm>
          <a:prstGeom prst="rect">
            <a:avLst/>
          </a:prstGeom>
          <a:noFill/>
          <a:ln/>
        </p:spPr>
        <p:txBody>
          <a:bodyPr wrap="square" lIns="0" tIns="0" rIns="0" bIns="0" rtlCol="0" anchor="t"/>
          <a:lstStyle/>
          <a:p>
            <a:pPr marL="0" indent="0" algn="l">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2" name="Text 10"/>
          <p:cNvSpPr/>
          <p:nvPr/>
        </p:nvSpPr>
        <p:spPr>
          <a:xfrm>
            <a:off x="927100" y="3271520"/>
            <a:ext cx="9156700" cy="753110"/>
          </a:xfrm>
          <a:prstGeom prst="rect">
            <a:avLst/>
          </a:prstGeom>
          <a:noFill/>
          <a:ln/>
        </p:spPr>
        <p:txBody>
          <a:bodyPr wrap="square" lIns="0" tIns="0" rIns="0" bIns="0" rtlCol="0" anchor="t"/>
          <a:lstStyle/>
          <a:p>
            <a:pPr marL="0" indent="0" algn="l">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The context window is the ceiling </a:t>
            </a:r>
            <a:r>
              <a:rPr lang="en-US" sz="1700" dirty="0">
                <a:solidFill>
                  <a:srgbClr val="332F2A"/>
                </a:solidFill>
                <a:latin typeface="Libre Franklin" pitchFamily="34" charset="0"/>
                <a:ea typeface="Libre Franklin" pitchFamily="34" charset="-122"/>
                <a:cs typeface="Libre Franklin" pitchFamily="34" charset="-120"/>
              </a:rPr>
              <a:t>on how much can be re-sent at once. Past it, the earliest parts fall away.</a:t>
            </a:r>
            <a:endParaRPr lang="en-US" sz="1700" dirty="0"/>
          </a:p>
        </p:txBody>
      </p:sp>
      <p:sp>
        <p:nvSpPr>
          <p:cNvPr id="13" name="Text 11"/>
          <p:cNvSpPr/>
          <p:nvPr/>
        </p:nvSpPr>
        <p:spPr>
          <a:xfrm>
            <a:off x="558800" y="4151630"/>
            <a:ext cx="190500" cy="317500"/>
          </a:xfrm>
          <a:prstGeom prst="rect">
            <a:avLst/>
          </a:prstGeom>
          <a:noFill/>
          <a:ln/>
        </p:spPr>
        <p:txBody>
          <a:bodyPr wrap="square" lIns="0" tIns="0" rIns="0" bIns="0" rtlCol="0" anchor="t"/>
          <a:lstStyle/>
          <a:p>
            <a:pPr marL="0" indent="0" algn="l">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4" name="Text 12"/>
          <p:cNvSpPr/>
          <p:nvPr/>
        </p:nvSpPr>
        <p:spPr>
          <a:xfrm>
            <a:off x="927100" y="4151630"/>
            <a:ext cx="9156700" cy="753110"/>
          </a:xfrm>
          <a:prstGeom prst="rect">
            <a:avLst/>
          </a:prstGeom>
          <a:noFill/>
          <a:ln/>
        </p:spPr>
        <p:txBody>
          <a:bodyPr wrap="square" lIns="0" tIns="0" rIns="0" bIns="0" rtlCol="0" anchor="t"/>
          <a:lstStyle/>
          <a:p>
            <a:pPr marL="0" indent="0" algn="l">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A long conversation therefore makes an agent worse, not better. Start a new task for each feature.</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SECTION 02</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Your free allowance, and its two failures</a:t>
            </a:r>
            <a:endParaRPr lang="en-US" sz="2800" dirty="0"/>
          </a:p>
        </p:txBody>
      </p:sp>
      <p:sp>
        <p:nvSpPr>
          <p:cNvPr id="4" name="Shape 2"/>
          <p:cNvSpPr/>
          <p:nvPr/>
        </p:nvSpPr>
        <p:spPr>
          <a:xfrm>
            <a:off x="558800" y="1181100"/>
            <a:ext cx="11074400" cy="6350"/>
          </a:xfrm>
          <a:prstGeom prst="rect">
            <a:avLst/>
          </a:prstGeom>
          <a:solidFill>
            <a:srgbClr val="E1DED7"/>
          </a:solidFill>
          <a:ln/>
        </p:spPr>
        <p:txBody>
          <a:bodyPr/>
          <a:lstStyle/>
          <a:p>
            <a:endParaRPr lang="en-TH"/>
          </a:p>
        </p:txBody>
      </p:sp>
      <p:sp>
        <p:nvSpPr>
          <p:cNvPr id="5"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13</a:t>
            </a:r>
            <a:endParaRPr lang="en-US" sz="1200" dirty="0"/>
          </a:p>
        </p:txBody>
      </p:sp>
      <p:sp>
        <p:nvSpPr>
          <p:cNvPr id="7" name="Shape 5"/>
          <p:cNvSpPr/>
          <p:nvPr/>
        </p:nvSpPr>
        <p:spPr>
          <a:xfrm>
            <a:off x="558800" y="1511300"/>
            <a:ext cx="6517030" cy="4572000"/>
          </a:xfrm>
          <a:prstGeom prst="rect">
            <a:avLst/>
          </a:prstGeom>
          <a:solidFill>
            <a:srgbClr val="F5F2EC"/>
          </a:solidFill>
          <a:ln w="6350">
            <a:solidFill>
              <a:srgbClr val="E1DED7"/>
            </a:solidFill>
            <a:prstDash val="solid"/>
          </a:ln>
        </p:spPr>
        <p:txBody>
          <a:bodyPr/>
          <a:lstStyle/>
          <a:p>
            <a:endParaRPr lang="en-TH"/>
          </a:p>
        </p:txBody>
      </p:sp>
      <p:sp>
        <p:nvSpPr>
          <p:cNvPr id="8" name="Text 6"/>
          <p:cNvSpPr/>
          <p:nvPr/>
        </p:nvSpPr>
        <p:spPr>
          <a:xfrm>
            <a:off x="800100" y="1727200"/>
            <a:ext cx="6034430" cy="4140200"/>
          </a:xfrm>
          <a:prstGeom prst="rect">
            <a:avLst/>
          </a:prstGeom>
          <a:noFill/>
          <a:ln/>
        </p:spPr>
        <p:txBody>
          <a:bodyPr wrap="square" lIns="0" tIns="0" rIns="0" bIns="0" rtlCol="0" anchor="t"/>
          <a:lstStyle/>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one instruction from you</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-&gt; 4 to 10 requests</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a 2-hour lab</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 100 to 200 requests</a:t>
            </a:r>
            <a:endParaRPr lang="en-US" sz="1400" dirty="0"/>
          </a:p>
          <a:p>
            <a:pPr marL="0" indent="0">
              <a:lnSpc>
                <a:spcPct val="160000"/>
              </a:lnSpc>
              <a:buNone/>
            </a:pP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Gemini   250 req/day, 10/min</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~6s between steps</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Mistral  25,000 tokens/min</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~3 req/min</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~20s between steps</a:t>
            </a:r>
            <a:endParaRPr lang="en-US" sz="1400" dirty="0"/>
          </a:p>
        </p:txBody>
      </p:sp>
      <p:sp>
        <p:nvSpPr>
          <p:cNvPr id="9" name="Text 7"/>
          <p:cNvSpPr/>
          <p:nvPr/>
        </p:nvSpPr>
        <p:spPr>
          <a:xfrm>
            <a:off x="7431430" y="1511300"/>
            <a:ext cx="4201770" cy="130556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One lab session is roughly one day of your Gemini allowance, and the pauses between steps are the limit working rather than a fault.</a:t>
            </a:r>
            <a:endParaRPr lang="en-US" sz="1600" dirty="0"/>
          </a:p>
        </p:txBody>
      </p:sp>
      <p:sp>
        <p:nvSpPr>
          <p:cNvPr id="10" name="Text 8"/>
          <p:cNvSpPr/>
          <p:nvPr/>
        </p:nvSpPr>
        <p:spPr>
          <a:xfrm>
            <a:off x="7431430" y="2943860"/>
            <a:ext cx="4201770" cy="189484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Two different failures, opposite fixes. 429 “rate limited” means wait about a minute. 503 “high demand” means that model is refusing everyone — switch providers, because waiting will not help.</a:t>
            </a:r>
            <a:endParaRPr lang="en-US" sz="1600" dirty="0"/>
          </a:p>
        </p:txBody>
      </p:sp>
      <p:sp>
        <p:nvSpPr>
          <p:cNvPr id="11" name="Shape 9"/>
          <p:cNvSpPr/>
          <p:nvPr/>
        </p:nvSpPr>
        <p:spPr>
          <a:xfrm>
            <a:off x="7431430" y="5384800"/>
            <a:ext cx="12700" cy="698500"/>
          </a:xfrm>
          <a:prstGeom prst="rect">
            <a:avLst/>
          </a:prstGeom>
          <a:solidFill>
            <a:srgbClr val="A87A2E"/>
          </a:solidFill>
          <a:ln/>
        </p:spPr>
        <p:txBody>
          <a:bodyPr/>
          <a:lstStyle/>
          <a:p>
            <a:endParaRPr lang="en-TH"/>
          </a:p>
        </p:txBody>
      </p:sp>
      <p:sp>
        <p:nvSpPr>
          <p:cNvPr id="12" name="Text 10"/>
          <p:cNvSpPr/>
          <p:nvPr/>
        </p:nvSpPr>
        <p:spPr>
          <a:xfrm>
            <a:off x="7596530" y="5416550"/>
            <a:ext cx="4036670" cy="698500"/>
          </a:xfrm>
          <a:prstGeom prst="rect">
            <a:avLst/>
          </a:prstGeom>
          <a:noFill/>
          <a:ln/>
        </p:spPr>
        <p:txBody>
          <a:bodyPr wrap="square" lIns="0" tIns="0" rIns="0" bIns="0" rtlCol="0" anchor="t"/>
          <a:lstStyle/>
          <a:p>
            <a:pPr marL="0" indent="0" algn="l">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Everything that cuts your request count is also just good engineering.</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SECTION 02</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Why an agent invents things</a:t>
            </a:r>
            <a:endParaRPr lang="en-US" sz="2800" dirty="0"/>
          </a:p>
        </p:txBody>
      </p:sp>
      <p:sp>
        <p:nvSpPr>
          <p:cNvPr id="4" name="Shape 2"/>
          <p:cNvSpPr/>
          <p:nvPr/>
        </p:nvSpPr>
        <p:spPr>
          <a:xfrm>
            <a:off x="558800" y="1181100"/>
            <a:ext cx="11074400" cy="6350"/>
          </a:xfrm>
          <a:prstGeom prst="rect">
            <a:avLst/>
          </a:prstGeom>
          <a:solidFill>
            <a:srgbClr val="E1DED7"/>
          </a:solidFill>
          <a:ln/>
        </p:spPr>
        <p:txBody>
          <a:bodyPr/>
          <a:lstStyle/>
          <a:p>
            <a:endParaRPr lang="en-TH"/>
          </a:p>
        </p:txBody>
      </p:sp>
      <p:sp>
        <p:nvSpPr>
          <p:cNvPr id="5"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14</a:t>
            </a:r>
            <a:endParaRPr lang="en-US" sz="1200" dirty="0"/>
          </a:p>
        </p:txBody>
      </p:sp>
      <p:sp>
        <p:nvSpPr>
          <p:cNvPr id="7" name="Text 5"/>
          <p:cNvSpPr/>
          <p:nvPr/>
        </p:nvSpPr>
        <p:spPr>
          <a:xfrm>
            <a:off x="558800" y="1511300"/>
            <a:ext cx="190500" cy="317500"/>
          </a:xfrm>
          <a:prstGeom prst="rect">
            <a:avLst/>
          </a:prstGeom>
          <a:noFill/>
          <a:ln/>
        </p:spPr>
        <p:txBody>
          <a:bodyPr wrap="square" lIns="0" tIns="0" rIns="0" bIns="0" rtlCol="0" anchor="t"/>
          <a:lstStyle/>
          <a:p>
            <a:pPr marL="0" indent="0" algn="l">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8" name="Text 6"/>
          <p:cNvSpPr/>
          <p:nvPr/>
        </p:nvSpPr>
        <p:spPr>
          <a:xfrm>
            <a:off x="927100" y="1511300"/>
            <a:ext cx="9156700" cy="753110"/>
          </a:xfrm>
          <a:prstGeom prst="rect">
            <a:avLst/>
          </a:prstGeom>
          <a:noFill/>
          <a:ln/>
        </p:spPr>
        <p:txBody>
          <a:bodyPr wrap="square" lIns="0" tIns="0" rIns="0" bIns="0" rtlCol="0" anchor="t"/>
          <a:lstStyle/>
          <a:p>
            <a:pPr marL="0" indent="0" algn="l">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It predicts, it does not look up. </a:t>
            </a:r>
            <a:r>
              <a:rPr lang="en-US" sz="1700" dirty="0">
                <a:solidFill>
                  <a:srgbClr val="332F2A"/>
                </a:solidFill>
                <a:latin typeface="Libre Franklin" pitchFamily="34" charset="0"/>
                <a:ea typeface="Libre Franklin" pitchFamily="34" charset="-122"/>
                <a:cs typeface="Libre Franklin" pitchFamily="34" charset="-120"/>
              </a:rPr>
              <a:t>The reply is the text most likely to follow your request, not a fact retrieved from anywhere.</a:t>
            </a:r>
            <a:endParaRPr lang="en-US" sz="1700" dirty="0"/>
          </a:p>
        </p:txBody>
      </p:sp>
      <p:sp>
        <p:nvSpPr>
          <p:cNvPr id="9" name="Text 7"/>
          <p:cNvSpPr/>
          <p:nvPr/>
        </p:nvSpPr>
        <p:spPr>
          <a:xfrm>
            <a:off x="558800" y="2391410"/>
            <a:ext cx="190500" cy="317500"/>
          </a:xfrm>
          <a:prstGeom prst="rect">
            <a:avLst/>
          </a:prstGeom>
          <a:noFill/>
          <a:ln/>
        </p:spPr>
        <p:txBody>
          <a:bodyPr wrap="square" lIns="0" tIns="0" rIns="0" bIns="0" rtlCol="0" anchor="t"/>
          <a:lstStyle/>
          <a:p>
            <a:pPr marL="0" indent="0" algn="l">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0" name="Text 8"/>
          <p:cNvSpPr/>
          <p:nvPr/>
        </p:nvSpPr>
        <p:spPr>
          <a:xfrm>
            <a:off x="927100" y="2391410"/>
            <a:ext cx="9156700" cy="753110"/>
          </a:xfrm>
          <a:prstGeom prst="rect">
            <a:avLst/>
          </a:prstGeom>
          <a:noFill/>
          <a:ln/>
        </p:spPr>
        <p:txBody>
          <a:bodyPr wrap="square" lIns="0" tIns="0" rIns="0" bIns="0" rtlCol="0" anchor="t"/>
          <a:lstStyle/>
          <a:p>
            <a:pPr marL="0" indent="0" algn="l">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A plausible function looks real. </a:t>
            </a:r>
            <a:r>
              <a:rPr lang="en-US" sz="1700" dirty="0">
                <a:solidFill>
                  <a:srgbClr val="332F2A"/>
                </a:solidFill>
                <a:latin typeface="Libre Franklin" pitchFamily="34" charset="0"/>
                <a:ea typeface="Libre Franklin" pitchFamily="34" charset="-122"/>
                <a:cs typeface="Libre Franklin" pitchFamily="34" charset="-120"/>
              </a:rPr>
              <a:t>A library call that ought to exist looks exactly like one that does.</a:t>
            </a:r>
            <a:endParaRPr lang="en-US" sz="1700" dirty="0"/>
          </a:p>
        </p:txBody>
      </p:sp>
      <p:sp>
        <p:nvSpPr>
          <p:cNvPr id="11" name="Text 9"/>
          <p:cNvSpPr/>
          <p:nvPr/>
        </p:nvSpPr>
        <p:spPr>
          <a:xfrm>
            <a:off x="558800" y="3271520"/>
            <a:ext cx="190500" cy="317500"/>
          </a:xfrm>
          <a:prstGeom prst="rect">
            <a:avLst/>
          </a:prstGeom>
          <a:noFill/>
          <a:ln/>
        </p:spPr>
        <p:txBody>
          <a:bodyPr wrap="square" lIns="0" tIns="0" rIns="0" bIns="0" rtlCol="0" anchor="t"/>
          <a:lstStyle/>
          <a:p>
            <a:pPr marL="0" indent="0" algn="l">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2" name="Text 10"/>
          <p:cNvSpPr/>
          <p:nvPr/>
        </p:nvSpPr>
        <p:spPr>
          <a:xfrm>
            <a:off x="927100" y="3271520"/>
            <a:ext cx="9156700" cy="753110"/>
          </a:xfrm>
          <a:prstGeom prst="rect">
            <a:avLst/>
          </a:prstGeom>
          <a:noFill/>
          <a:ln/>
        </p:spPr>
        <p:txBody>
          <a:bodyPr wrap="square" lIns="0" tIns="0" rIns="0" bIns="0" rtlCol="0" anchor="t"/>
          <a:lstStyle/>
          <a:p>
            <a:pPr marL="0" indent="0" algn="l">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It cannot warn you. </a:t>
            </a:r>
            <a:r>
              <a:rPr lang="en-US" sz="1700" dirty="0">
                <a:solidFill>
                  <a:srgbClr val="332F2A"/>
                </a:solidFill>
                <a:latin typeface="Libre Franklin" pitchFamily="34" charset="0"/>
                <a:ea typeface="Libre Franklin" pitchFamily="34" charset="-122"/>
                <a:cs typeface="Libre Franklin" pitchFamily="34" charset="-120"/>
              </a:rPr>
              <a:t>Not knowing and knowing feel identical from the inside, so both come out equally confident.</a:t>
            </a:r>
            <a:endParaRPr lang="en-US" sz="1700" dirty="0"/>
          </a:p>
        </p:txBody>
      </p:sp>
      <p:sp>
        <p:nvSpPr>
          <p:cNvPr id="13" name="Text 11"/>
          <p:cNvSpPr/>
          <p:nvPr/>
        </p:nvSpPr>
        <p:spPr>
          <a:xfrm>
            <a:off x="558800" y="4151630"/>
            <a:ext cx="190500" cy="317500"/>
          </a:xfrm>
          <a:prstGeom prst="rect">
            <a:avLst/>
          </a:prstGeom>
          <a:noFill/>
          <a:ln/>
        </p:spPr>
        <p:txBody>
          <a:bodyPr wrap="square" lIns="0" tIns="0" rIns="0" bIns="0" rtlCol="0" anchor="t"/>
          <a:lstStyle/>
          <a:p>
            <a:pPr marL="0" indent="0" algn="l">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4" name="Text 12"/>
          <p:cNvSpPr/>
          <p:nvPr/>
        </p:nvSpPr>
        <p:spPr>
          <a:xfrm>
            <a:off x="927100" y="4151630"/>
            <a:ext cx="9156700" cy="753110"/>
          </a:xfrm>
          <a:prstGeom prst="rect">
            <a:avLst/>
          </a:prstGeom>
          <a:noFill/>
          <a:ln/>
        </p:spPr>
        <p:txBody>
          <a:bodyPr wrap="square" lIns="0" tIns="0" rIns="0" bIns="0" rtlCol="0" anchor="t"/>
          <a:lstStyle/>
          <a:p>
            <a:pPr marL="0" indent="0" algn="l">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Which leaves one rule: you check by running something, never by reading something that sounds right.</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2EC"/>
        </a:solidFill>
        <a:effectLst/>
      </p:bgPr>
    </p:bg>
    <p:spTree>
      <p:nvGrpSpPr>
        <p:cNvPr id="1" name=""/>
        <p:cNvGrpSpPr/>
        <p:nvPr/>
      </p:nvGrpSpPr>
      <p:grpSpPr>
        <a:xfrm>
          <a:off x="0" y="0"/>
          <a:ext cx="0" cy="0"/>
          <a:chOff x="0" y="0"/>
          <a:chExt cx="0" cy="0"/>
        </a:xfrm>
      </p:grpSpPr>
      <p:sp>
        <p:nvSpPr>
          <p:cNvPr id="2" name="Text 0"/>
          <p:cNvSpPr/>
          <p:nvPr/>
        </p:nvSpPr>
        <p:spPr>
          <a:xfrm>
            <a:off x="558800" y="2286000"/>
            <a:ext cx="11074400" cy="254000"/>
          </a:xfrm>
          <a:prstGeom prst="rect">
            <a:avLst/>
          </a:prstGeom>
          <a:noFill/>
          <a:ln/>
        </p:spPr>
        <p:txBody>
          <a:bodyPr wrap="square" lIns="0" tIns="0" rIns="0" bIns="0" rtlCol="0" anchor="t"/>
          <a:lstStyle/>
          <a:p>
            <a:pPr marL="0" indent="0" algn="l">
              <a:lnSpc>
                <a:spcPct val="145000"/>
              </a:lnSpc>
              <a:buNone/>
            </a:pPr>
            <a:r>
              <a:rPr lang="en-US" sz="1300" kern="0" spc="182" dirty="0">
                <a:solidFill>
                  <a:srgbClr val="A87A2E"/>
                </a:solidFill>
                <a:latin typeface="IBM Plex Mono" pitchFamily="34" charset="0"/>
                <a:ea typeface="IBM Plex Mono" pitchFamily="34" charset="-122"/>
                <a:cs typeface="IBM Plex Mono" pitchFamily="34" charset="-120"/>
              </a:rPr>
              <a:t>SECTION 03</a:t>
            </a:r>
            <a:endParaRPr lang="en-US" sz="1300" dirty="0"/>
          </a:p>
        </p:txBody>
      </p:sp>
      <p:sp>
        <p:nvSpPr>
          <p:cNvPr id="3" name="Text 1"/>
          <p:cNvSpPr/>
          <p:nvPr/>
        </p:nvSpPr>
        <p:spPr>
          <a:xfrm>
            <a:off x="558800" y="2667000"/>
            <a:ext cx="8255000" cy="1206500"/>
          </a:xfrm>
          <a:prstGeom prst="rect">
            <a:avLst/>
          </a:prstGeom>
          <a:noFill/>
          <a:ln/>
        </p:spPr>
        <p:txBody>
          <a:bodyPr wrap="square" lIns="0" tIns="0" rIns="0" bIns="0" rtlCol="0" anchor="t"/>
          <a:lstStyle/>
          <a:p>
            <a:pPr marL="0" indent="0" algn="l">
              <a:lnSpc>
                <a:spcPct val="108000"/>
              </a:lnSpc>
              <a:buNone/>
            </a:pPr>
            <a:r>
              <a:rPr lang="en-US" sz="4000" b="1" dirty="0">
                <a:solidFill>
                  <a:srgbClr val="332F2A"/>
                </a:solidFill>
                <a:latin typeface="Libre Franklin" pitchFamily="34" charset="0"/>
                <a:ea typeface="Libre Franklin" pitchFamily="34" charset="-122"/>
                <a:cs typeface="Libre Franklin" pitchFamily="34" charset="-120"/>
              </a:rPr>
              <a:t>Warm-up — build it by asking</a:t>
            </a:r>
            <a:endParaRPr lang="en-US" sz="4000" dirty="0"/>
          </a:p>
        </p:txBody>
      </p:sp>
      <p:sp>
        <p:nvSpPr>
          <p:cNvPr id="4" name="Text 2"/>
          <p:cNvSpPr/>
          <p:nvPr/>
        </p:nvSpPr>
        <p:spPr>
          <a:xfrm>
            <a:off x="558800" y="4064000"/>
            <a:ext cx="6985000" cy="635000"/>
          </a:xfrm>
          <a:prstGeom prst="rect">
            <a:avLst/>
          </a:prstGeom>
          <a:noFill/>
          <a:ln/>
        </p:spPr>
        <p:txBody>
          <a:bodyPr wrap="square" lIns="0" tIns="0" rIns="0" bIns="0" rtlCol="0" anchor="t"/>
          <a:lstStyle/>
          <a:p>
            <a:pPr marL="0" indent="0" algn="l">
              <a:lnSpc>
                <a:spcPct val="140000"/>
              </a:lnSpc>
              <a:buNone/>
            </a:pPr>
            <a:r>
              <a:rPr lang="en-US" sz="1700" dirty="0">
                <a:solidFill>
                  <a:srgbClr val="77726A"/>
                </a:solidFill>
                <a:latin typeface="Libre Franklin" pitchFamily="34" charset="0"/>
                <a:ea typeface="Libre Franklin" pitchFamily="34" charset="-122"/>
                <a:cs typeface="Libre Franklin" pitchFamily="34" charset="-120"/>
              </a:rPr>
              <a:t>No plan, no specification. Ask for the whole thing and see what arrives. 25 minutes.</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WORKSHOP 03</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Paste this, then watch</a:t>
            </a:r>
            <a:endParaRPr lang="en-US" sz="2800" dirty="0"/>
          </a:p>
        </p:txBody>
      </p:sp>
      <p:sp>
        <p:nvSpPr>
          <p:cNvPr id="4" name="Shape 2"/>
          <p:cNvSpPr/>
          <p:nvPr/>
        </p:nvSpPr>
        <p:spPr>
          <a:xfrm>
            <a:off x="558800" y="1181100"/>
            <a:ext cx="11074400" cy="6350"/>
          </a:xfrm>
          <a:prstGeom prst="rect">
            <a:avLst/>
          </a:prstGeom>
          <a:solidFill>
            <a:srgbClr val="E1DED7"/>
          </a:solidFill>
          <a:ln/>
        </p:spPr>
        <p:txBody>
          <a:bodyPr/>
          <a:lstStyle/>
          <a:p>
            <a:endParaRPr lang="en-TH"/>
          </a:p>
        </p:txBody>
      </p:sp>
      <p:sp>
        <p:nvSpPr>
          <p:cNvPr id="5"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16</a:t>
            </a:r>
            <a:endParaRPr lang="en-US" sz="1200" dirty="0"/>
          </a:p>
        </p:txBody>
      </p:sp>
      <p:sp>
        <p:nvSpPr>
          <p:cNvPr id="7" name="Shape 5"/>
          <p:cNvSpPr/>
          <p:nvPr/>
        </p:nvSpPr>
        <p:spPr>
          <a:xfrm>
            <a:off x="558800" y="1511300"/>
            <a:ext cx="6517030" cy="4572000"/>
          </a:xfrm>
          <a:prstGeom prst="rect">
            <a:avLst/>
          </a:prstGeom>
          <a:solidFill>
            <a:srgbClr val="F5F2EC"/>
          </a:solidFill>
          <a:ln w="6350">
            <a:solidFill>
              <a:srgbClr val="E1DED7"/>
            </a:solidFill>
            <a:prstDash val="solid"/>
          </a:ln>
        </p:spPr>
        <p:txBody>
          <a:bodyPr/>
          <a:lstStyle/>
          <a:p>
            <a:endParaRPr lang="en-TH"/>
          </a:p>
        </p:txBody>
      </p:sp>
      <p:sp>
        <p:nvSpPr>
          <p:cNvPr id="8" name="Text 6"/>
          <p:cNvSpPr/>
          <p:nvPr/>
        </p:nvSpPr>
        <p:spPr>
          <a:xfrm>
            <a:off x="800100" y="1727200"/>
            <a:ext cx="6034430" cy="4140200"/>
          </a:xfrm>
          <a:prstGeom prst="rect">
            <a:avLst/>
          </a:prstGeom>
          <a:noFill/>
          <a:ln/>
        </p:spPr>
        <p:txBody>
          <a:bodyPr wrap="square" lIns="0" tIns="0" rIns="0" bIns="0" rtlCol="0" anchor="t"/>
          <a:lstStyle/>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Build me a spectrum analyser in</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Streamlit. I set two sine waves</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 frequency and an amplitude</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for each - and it adds them</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together and plots the</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time-domain waveform and the</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frequency spectrum.</a:t>
            </a:r>
            <a:endParaRPr lang="en-US" sz="1400" dirty="0"/>
          </a:p>
        </p:txBody>
      </p:sp>
      <p:sp>
        <p:nvSpPr>
          <p:cNvPr id="9" name="Text 7"/>
          <p:cNvSpPr/>
          <p:nvPr/>
        </p:nvSpPr>
        <p:spPr>
          <a:xfrm>
            <a:off x="7431430" y="1511300"/>
            <a:ext cx="4201770" cy="189484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First run Step 1 in labs/LAB1.md — one command, and it is what lets you compare the two rounds at the end. Then paste this and accept whatever it gives you: do not plan, do not correct it.</a:t>
            </a:r>
            <a:endParaRPr lang="en-US" sz="1600" dirty="0"/>
          </a:p>
        </p:txBody>
      </p:sp>
      <p:sp>
        <p:nvSpPr>
          <p:cNvPr id="10" name="Text 8"/>
          <p:cNvSpPr/>
          <p:nvPr/>
        </p:nvSpPr>
        <p:spPr>
          <a:xfrm>
            <a:off x="7431430" y="3533140"/>
            <a:ext cx="4201770" cy="101092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Set tone A to amplitude 1.0. Does the spike on the chart actually reach 1.0?</a:t>
            </a:r>
            <a:endParaRPr lang="en-US" sz="1600" dirty="0"/>
          </a:p>
        </p:txBody>
      </p:sp>
      <p:sp>
        <p:nvSpPr>
          <p:cNvPr id="11" name="Shape 9"/>
          <p:cNvSpPr/>
          <p:nvPr/>
        </p:nvSpPr>
        <p:spPr>
          <a:xfrm>
            <a:off x="7431430" y="5384800"/>
            <a:ext cx="12700" cy="698500"/>
          </a:xfrm>
          <a:prstGeom prst="rect">
            <a:avLst/>
          </a:prstGeom>
          <a:solidFill>
            <a:srgbClr val="A87A2E"/>
          </a:solidFill>
          <a:ln/>
        </p:spPr>
        <p:txBody>
          <a:bodyPr/>
          <a:lstStyle/>
          <a:p>
            <a:endParaRPr lang="en-TH"/>
          </a:p>
        </p:txBody>
      </p:sp>
      <p:sp>
        <p:nvSpPr>
          <p:cNvPr id="12" name="Text 10"/>
          <p:cNvSpPr/>
          <p:nvPr/>
        </p:nvSpPr>
        <p:spPr>
          <a:xfrm>
            <a:off x="7596530" y="5416550"/>
            <a:ext cx="4036670" cy="698500"/>
          </a:xfrm>
          <a:prstGeom prst="rect">
            <a:avLst/>
          </a:prstGeom>
          <a:noFill/>
          <a:ln/>
        </p:spPr>
        <p:txBody>
          <a:bodyPr wrap="square" lIns="0" tIns="0" rIns="0" bIns="0" rtlCol="0" anchor="t"/>
          <a:lstStyle/>
          <a:p>
            <a:pPr marL="0" indent="0" algn="l">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If a classmate asked whether your app is correct, could you show them why?</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SECTION 04</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The same app, asked for two ways</a:t>
            </a:r>
            <a:endParaRPr lang="en-US" sz="2800" dirty="0"/>
          </a:p>
        </p:txBody>
      </p:sp>
      <p:sp>
        <p:nvSpPr>
          <p:cNvPr id="4" name="Shape 2"/>
          <p:cNvSpPr/>
          <p:nvPr/>
        </p:nvSpPr>
        <p:spPr>
          <a:xfrm>
            <a:off x="558800" y="1181100"/>
            <a:ext cx="11074400" cy="6350"/>
          </a:xfrm>
          <a:prstGeom prst="rect">
            <a:avLst/>
          </a:prstGeom>
          <a:solidFill>
            <a:srgbClr val="E1DED7"/>
          </a:solidFill>
          <a:ln/>
        </p:spPr>
        <p:txBody>
          <a:bodyPr/>
          <a:lstStyle/>
          <a:p>
            <a:endParaRPr lang="en-TH"/>
          </a:p>
        </p:txBody>
      </p:sp>
      <p:sp>
        <p:nvSpPr>
          <p:cNvPr id="5"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17</a:t>
            </a:r>
            <a:endParaRPr lang="en-US" sz="1200" dirty="0"/>
          </a:p>
        </p:txBody>
      </p:sp>
      <p:pic>
        <p:nvPicPr>
          <p:cNvPr id="7" name="Image 0" descr="figures/fig-round1-vs-round2.png"/>
          <p:cNvPicPr>
            <a:picLocks noChangeAspect="1"/>
          </p:cNvPicPr>
          <p:nvPr/>
        </p:nvPicPr>
        <p:blipFill>
          <a:blip r:embed="rId3"/>
          <a:srcRect/>
          <a:stretch/>
        </p:blipFill>
        <p:spPr>
          <a:xfrm>
            <a:off x="558800" y="1511300"/>
            <a:ext cx="6134100" cy="4572000"/>
          </a:xfrm>
          <a:prstGeom prst="rect">
            <a:avLst/>
          </a:prstGeom>
        </p:spPr>
      </p:pic>
      <p:sp>
        <p:nvSpPr>
          <p:cNvPr id="8" name="Text 5"/>
          <p:cNvSpPr/>
          <p:nvPr/>
        </p:nvSpPr>
        <p:spPr>
          <a:xfrm>
            <a:off x="7099300" y="1511300"/>
            <a:ext cx="4533900" cy="160020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Both were built by the same agent, on the same model, within the same hour. The left was one sentence. The right went through four checkpoints where a person decided before it could carry on.</a:t>
            </a:r>
            <a:endParaRPr lang="en-US" sz="1600" dirty="0"/>
          </a:p>
        </p:txBody>
      </p:sp>
      <p:sp>
        <p:nvSpPr>
          <p:cNvPr id="9" name="Text 6"/>
          <p:cNvSpPr/>
          <p:nvPr/>
        </p:nvSpPr>
        <p:spPr>
          <a:xfrm>
            <a:off x="7099300" y="3238500"/>
            <a:ext cx="4533900" cy="130556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The left even drew its own “Expected: 50 Hz” markers. It verified the axis it got right and never checked the one it got wrong.</a:t>
            </a:r>
            <a:endParaRPr lang="en-US" sz="1600" dirty="0"/>
          </a:p>
        </p:txBody>
      </p:sp>
      <p:sp>
        <p:nvSpPr>
          <p:cNvPr id="10" name="Text 7"/>
          <p:cNvSpPr/>
          <p:nvPr/>
        </p:nvSpPr>
        <p:spPr>
          <a:xfrm>
            <a:off x="7099300" y="5956300"/>
            <a:ext cx="45339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Fig. 4 — one measured run, 1 September 2026. Yours will differ.</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2EC"/>
        </a:solidFill>
        <a:effectLst/>
      </p:bgPr>
    </p:bg>
    <p:spTree>
      <p:nvGrpSpPr>
        <p:cNvPr id="1" name=""/>
        <p:cNvGrpSpPr/>
        <p:nvPr/>
      </p:nvGrpSpPr>
      <p:grpSpPr>
        <a:xfrm>
          <a:off x="0" y="0"/>
          <a:ext cx="0" cy="0"/>
          <a:chOff x="0" y="0"/>
          <a:chExt cx="0" cy="0"/>
        </a:xfrm>
      </p:grpSpPr>
      <p:sp>
        <p:nvSpPr>
          <p:cNvPr id="2" name="Text 0"/>
          <p:cNvSpPr/>
          <p:nvPr/>
        </p:nvSpPr>
        <p:spPr>
          <a:xfrm>
            <a:off x="558800" y="2286000"/>
            <a:ext cx="11074400" cy="254000"/>
          </a:xfrm>
          <a:prstGeom prst="rect">
            <a:avLst/>
          </a:prstGeom>
          <a:noFill/>
          <a:ln/>
        </p:spPr>
        <p:txBody>
          <a:bodyPr wrap="square" lIns="0" tIns="0" rIns="0" bIns="0" rtlCol="0" anchor="t"/>
          <a:lstStyle/>
          <a:p>
            <a:pPr marL="0" indent="0" algn="l">
              <a:lnSpc>
                <a:spcPct val="145000"/>
              </a:lnSpc>
              <a:buNone/>
            </a:pPr>
            <a:r>
              <a:rPr lang="en-US" sz="1300" kern="0" spc="182" dirty="0">
                <a:solidFill>
                  <a:srgbClr val="A87A2E"/>
                </a:solidFill>
                <a:latin typeface="IBM Plex Mono" pitchFamily="34" charset="0"/>
                <a:ea typeface="IBM Plex Mono" pitchFamily="34" charset="-122"/>
                <a:cs typeface="IBM Plex Mono" pitchFamily="34" charset="-120"/>
              </a:rPr>
              <a:t>SECTION 04</a:t>
            </a:r>
            <a:endParaRPr lang="en-US" sz="1300" dirty="0"/>
          </a:p>
        </p:txBody>
      </p:sp>
      <p:sp>
        <p:nvSpPr>
          <p:cNvPr id="3" name="Text 1"/>
          <p:cNvSpPr/>
          <p:nvPr/>
        </p:nvSpPr>
        <p:spPr>
          <a:xfrm>
            <a:off x="558800" y="2667000"/>
            <a:ext cx="8255000" cy="1206500"/>
          </a:xfrm>
          <a:prstGeom prst="rect">
            <a:avLst/>
          </a:prstGeom>
          <a:noFill/>
          <a:ln/>
        </p:spPr>
        <p:txBody>
          <a:bodyPr wrap="square" lIns="0" tIns="0" rIns="0" bIns="0" rtlCol="0" anchor="t"/>
          <a:lstStyle/>
          <a:p>
            <a:pPr marL="0" indent="0" algn="l">
              <a:lnSpc>
                <a:spcPct val="108000"/>
              </a:lnSpc>
              <a:buNone/>
            </a:pPr>
            <a:r>
              <a:rPr lang="en-US" sz="4000" b="1" dirty="0">
                <a:solidFill>
                  <a:srgbClr val="332F2A"/>
                </a:solidFill>
                <a:latin typeface="Libre Franklin" pitchFamily="34" charset="0"/>
                <a:ea typeface="Libre Franklin" pitchFamily="34" charset="-122"/>
                <a:cs typeface="Libre Franklin" pitchFamily="34" charset="-120"/>
              </a:rPr>
              <a:t>The Four Gates</a:t>
            </a:r>
            <a:endParaRPr lang="en-US" sz="4000" dirty="0"/>
          </a:p>
        </p:txBody>
      </p:sp>
      <p:sp>
        <p:nvSpPr>
          <p:cNvPr id="4" name="Text 2"/>
          <p:cNvSpPr/>
          <p:nvPr/>
        </p:nvSpPr>
        <p:spPr>
          <a:xfrm>
            <a:off x="558800" y="4064000"/>
            <a:ext cx="6985000" cy="635000"/>
          </a:xfrm>
          <a:prstGeom prst="rect">
            <a:avLst/>
          </a:prstGeom>
          <a:noFill/>
          <a:ln/>
        </p:spPr>
        <p:txBody>
          <a:bodyPr wrap="square" lIns="0" tIns="0" rIns="0" bIns="0" rtlCol="0" anchor="t"/>
          <a:lstStyle/>
          <a:p>
            <a:pPr marL="0" indent="0" algn="l">
              <a:lnSpc>
                <a:spcPct val="140000"/>
              </a:lnSpc>
              <a:buNone/>
            </a:pPr>
            <a:r>
              <a:rPr lang="en-US" sz="1700" dirty="0">
                <a:solidFill>
                  <a:srgbClr val="77726A"/>
                </a:solidFill>
                <a:latin typeface="Libre Franklin" pitchFamily="34" charset="0"/>
                <a:ea typeface="Libre Franklin" pitchFamily="34" charset="-122"/>
                <a:cs typeface="Libre Franklin" pitchFamily="34" charset="-120"/>
              </a:rPr>
              <a:t>The same request, routed through four points where a person decides.</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SECTION 04</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Two routes to the same app</a:t>
            </a:r>
            <a:endParaRPr lang="en-US" sz="2800" dirty="0"/>
          </a:p>
        </p:txBody>
      </p:sp>
      <p:sp>
        <p:nvSpPr>
          <p:cNvPr id="4" name="Shape 2"/>
          <p:cNvSpPr/>
          <p:nvPr/>
        </p:nvSpPr>
        <p:spPr>
          <a:xfrm>
            <a:off x="558800" y="1181100"/>
            <a:ext cx="11074400" cy="6350"/>
          </a:xfrm>
          <a:prstGeom prst="rect">
            <a:avLst/>
          </a:prstGeom>
          <a:solidFill>
            <a:srgbClr val="E1DED7"/>
          </a:solidFill>
          <a:ln/>
        </p:spPr>
        <p:txBody>
          <a:bodyPr/>
          <a:lstStyle/>
          <a:p>
            <a:endParaRPr lang="en-TH"/>
          </a:p>
        </p:txBody>
      </p:sp>
      <p:sp>
        <p:nvSpPr>
          <p:cNvPr id="5"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19</a:t>
            </a:r>
            <a:endParaRPr lang="en-US" sz="1200" dirty="0"/>
          </a:p>
        </p:txBody>
      </p:sp>
      <p:sp>
        <p:nvSpPr>
          <p:cNvPr id="7" name="Text 5"/>
          <p:cNvSpPr/>
          <p:nvPr/>
        </p:nvSpPr>
        <p:spPr>
          <a:xfrm>
            <a:off x="558800" y="1511300"/>
            <a:ext cx="5283200" cy="254000"/>
          </a:xfrm>
          <a:prstGeom prst="rect">
            <a:avLst/>
          </a:prstGeom>
          <a:noFill/>
          <a:ln/>
        </p:spPr>
        <p:txBody>
          <a:bodyPr wrap="square" lIns="0" tIns="0" rIns="0" bIns="0" rtlCol="0" anchor="t"/>
          <a:lstStyle/>
          <a:p>
            <a:pPr marL="0" indent="0" algn="l">
              <a:lnSpc>
                <a:spcPct val="145000"/>
              </a:lnSpc>
              <a:buNone/>
            </a:pPr>
            <a:r>
              <a:rPr lang="en-US" sz="1300" kern="0" spc="130" dirty="0">
                <a:solidFill>
                  <a:srgbClr val="A87A2E"/>
                </a:solidFill>
                <a:latin typeface="IBM Plex Mono" pitchFamily="34" charset="0"/>
                <a:ea typeface="IBM Plex Mono" pitchFamily="34" charset="-122"/>
                <a:cs typeface="IBM Plex Mono" pitchFamily="34" charset="-120"/>
              </a:rPr>
              <a:t>ASKING DIRECTLY</a:t>
            </a:r>
            <a:endParaRPr lang="en-US" sz="1300" dirty="0"/>
          </a:p>
        </p:txBody>
      </p:sp>
      <p:sp>
        <p:nvSpPr>
          <p:cNvPr id="8" name="Text 6"/>
          <p:cNvSpPr/>
          <p:nvPr/>
        </p:nvSpPr>
        <p:spPr>
          <a:xfrm>
            <a:off x="558800" y="1917700"/>
            <a:ext cx="5283200" cy="127000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Faster to something on screen, and right often enough that it feels like it works.</a:t>
            </a:r>
            <a:endParaRPr lang="en-US" sz="1600" dirty="0"/>
          </a:p>
        </p:txBody>
      </p:sp>
      <p:sp>
        <p:nvSpPr>
          <p:cNvPr id="9" name="Text 7"/>
          <p:cNvSpPr/>
          <p:nvPr/>
        </p:nvSpPr>
        <p:spPr>
          <a:xfrm>
            <a:off x="558800" y="3162300"/>
            <a:ext cx="5283200" cy="127000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You cannot say what it should do, so you cannot say whether it does it. Nothing is checkable.</a:t>
            </a:r>
            <a:endParaRPr lang="en-US" sz="1600" dirty="0"/>
          </a:p>
        </p:txBody>
      </p:sp>
      <p:sp>
        <p:nvSpPr>
          <p:cNvPr id="10" name="Text 8"/>
          <p:cNvSpPr/>
          <p:nvPr/>
        </p:nvSpPr>
        <p:spPr>
          <a:xfrm>
            <a:off x="6350000" y="1511300"/>
            <a:ext cx="5283200" cy="254000"/>
          </a:xfrm>
          <a:prstGeom prst="rect">
            <a:avLst/>
          </a:prstGeom>
          <a:noFill/>
          <a:ln/>
        </p:spPr>
        <p:txBody>
          <a:bodyPr wrap="square" lIns="0" tIns="0" rIns="0" bIns="0" rtlCol="0" anchor="t"/>
          <a:lstStyle/>
          <a:p>
            <a:pPr marL="0" indent="0" algn="l">
              <a:lnSpc>
                <a:spcPct val="145000"/>
              </a:lnSpc>
              <a:buNone/>
            </a:pPr>
            <a:r>
              <a:rPr lang="en-US" sz="1300" kern="0" spc="130" dirty="0">
                <a:solidFill>
                  <a:srgbClr val="A87A2E"/>
                </a:solidFill>
                <a:latin typeface="IBM Plex Mono" pitchFamily="34" charset="0"/>
                <a:ea typeface="IBM Plex Mono" pitchFamily="34" charset="-122"/>
                <a:cs typeface="IBM Plex Mono" pitchFamily="34" charset="-120"/>
              </a:rPr>
              <a:t>THROUGH THE GATES</a:t>
            </a:r>
            <a:endParaRPr lang="en-US" sz="1300" dirty="0"/>
          </a:p>
        </p:txBody>
      </p:sp>
      <p:sp>
        <p:nvSpPr>
          <p:cNvPr id="11" name="Text 9"/>
          <p:cNvSpPr/>
          <p:nvPr/>
        </p:nvSpPr>
        <p:spPr>
          <a:xfrm>
            <a:off x="6350000" y="1917700"/>
            <a:ext cx="5283200" cy="127000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Slower to the first screen, and you decide four times along the way instead of once at the end.</a:t>
            </a:r>
            <a:endParaRPr lang="en-US" sz="1600" dirty="0"/>
          </a:p>
        </p:txBody>
      </p:sp>
      <p:sp>
        <p:nvSpPr>
          <p:cNvPr id="12" name="Text 10"/>
          <p:cNvSpPr/>
          <p:nvPr/>
        </p:nvSpPr>
        <p:spPr>
          <a:xfrm>
            <a:off x="6350000" y="3162300"/>
            <a:ext cx="5283200" cy="127000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Fewer requests too, because the agent stops guessing what you meant and backtracking.</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SECTION 04</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Four gates, four decisions</a:t>
            </a:r>
            <a:endParaRPr lang="en-US" sz="2800" dirty="0"/>
          </a:p>
        </p:txBody>
      </p:sp>
      <p:sp>
        <p:nvSpPr>
          <p:cNvPr id="4" name="Shape 2"/>
          <p:cNvSpPr/>
          <p:nvPr/>
        </p:nvSpPr>
        <p:spPr>
          <a:xfrm>
            <a:off x="558800" y="1181100"/>
            <a:ext cx="11074400" cy="6350"/>
          </a:xfrm>
          <a:prstGeom prst="rect">
            <a:avLst/>
          </a:prstGeom>
          <a:solidFill>
            <a:srgbClr val="E1DED7"/>
          </a:solidFill>
          <a:ln/>
        </p:spPr>
        <p:txBody>
          <a:bodyPr/>
          <a:lstStyle/>
          <a:p>
            <a:endParaRPr lang="en-TH"/>
          </a:p>
        </p:txBody>
      </p:sp>
      <p:sp>
        <p:nvSpPr>
          <p:cNvPr id="5"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20</a:t>
            </a:r>
            <a:endParaRPr lang="en-US" sz="1200" dirty="0"/>
          </a:p>
        </p:txBody>
      </p:sp>
      <p:pic>
        <p:nvPicPr>
          <p:cNvPr id="7" name="Image 0" descr="figures/fig-four-gates.png"/>
          <p:cNvPicPr>
            <a:picLocks noChangeAspect="1"/>
          </p:cNvPicPr>
          <p:nvPr/>
        </p:nvPicPr>
        <p:blipFill>
          <a:blip r:embed="rId3"/>
          <a:srcRect/>
          <a:stretch/>
        </p:blipFill>
        <p:spPr>
          <a:xfrm>
            <a:off x="558800" y="1511300"/>
            <a:ext cx="6134100" cy="4572000"/>
          </a:xfrm>
          <a:prstGeom prst="rect">
            <a:avLst/>
          </a:prstGeom>
        </p:spPr>
      </p:pic>
      <p:sp>
        <p:nvSpPr>
          <p:cNvPr id="8" name="Text 5"/>
          <p:cNvSpPr/>
          <p:nvPr/>
        </p:nvSpPr>
        <p:spPr>
          <a:xfrm>
            <a:off x="7099300" y="1511300"/>
            <a:ext cx="4533900" cy="101092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A gate is where the agent stops and a person decides. You write the intent; the agent drafts the spec and the plan.</a:t>
            </a:r>
            <a:endParaRPr lang="en-US" sz="1600" dirty="0"/>
          </a:p>
        </p:txBody>
      </p:sp>
      <p:sp>
        <p:nvSpPr>
          <p:cNvPr id="9" name="Text 6"/>
          <p:cNvSpPr/>
          <p:nvPr/>
        </p:nvSpPr>
        <p:spPr>
          <a:xfrm>
            <a:off x="7099300" y="2649220"/>
            <a:ext cx="4533900" cy="130556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You approve each before anything moves. Build then runs one task at a time — tests pass, you read the diff, and only then does the next task start.</a:t>
            </a:r>
            <a:endParaRPr lang="en-US" sz="1600" dirty="0"/>
          </a:p>
        </p:txBody>
      </p:sp>
      <p:sp>
        <p:nvSpPr>
          <p:cNvPr id="10" name="Text 7"/>
          <p:cNvSpPr/>
          <p:nvPr/>
        </p:nvSpPr>
        <p:spPr>
          <a:xfrm>
            <a:off x="7099300" y="5956300"/>
            <a:ext cx="45339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Fig. 5 — the agent proposes, you approve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SECTION 04</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What you actually type</a:t>
            </a:r>
            <a:endParaRPr lang="en-US" sz="2800" dirty="0"/>
          </a:p>
        </p:txBody>
      </p:sp>
      <p:sp>
        <p:nvSpPr>
          <p:cNvPr id="4" name="Shape 2"/>
          <p:cNvSpPr/>
          <p:nvPr/>
        </p:nvSpPr>
        <p:spPr>
          <a:xfrm>
            <a:off x="558800" y="1181100"/>
            <a:ext cx="11074400" cy="6350"/>
          </a:xfrm>
          <a:prstGeom prst="rect">
            <a:avLst/>
          </a:prstGeom>
          <a:solidFill>
            <a:srgbClr val="E1DED7"/>
          </a:solidFill>
          <a:ln/>
        </p:spPr>
        <p:txBody>
          <a:bodyPr/>
          <a:lstStyle/>
          <a:p>
            <a:endParaRPr lang="en-TH"/>
          </a:p>
        </p:txBody>
      </p:sp>
      <p:sp>
        <p:nvSpPr>
          <p:cNvPr id="5"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21</a:t>
            </a:r>
            <a:endParaRPr lang="en-US" sz="1200" dirty="0"/>
          </a:p>
        </p:txBody>
      </p:sp>
      <p:sp>
        <p:nvSpPr>
          <p:cNvPr id="7" name="Shape 5"/>
          <p:cNvSpPr/>
          <p:nvPr/>
        </p:nvSpPr>
        <p:spPr>
          <a:xfrm>
            <a:off x="558800" y="1511300"/>
            <a:ext cx="6517030" cy="4572000"/>
          </a:xfrm>
          <a:prstGeom prst="rect">
            <a:avLst/>
          </a:prstGeom>
          <a:solidFill>
            <a:srgbClr val="F5F2EC"/>
          </a:solidFill>
          <a:ln w="6350">
            <a:solidFill>
              <a:srgbClr val="E1DED7"/>
            </a:solidFill>
            <a:prstDash val="solid"/>
          </a:ln>
        </p:spPr>
        <p:txBody>
          <a:bodyPr/>
          <a:lstStyle/>
          <a:p>
            <a:endParaRPr lang="en-TH"/>
          </a:p>
        </p:txBody>
      </p:sp>
      <p:sp>
        <p:nvSpPr>
          <p:cNvPr id="8" name="Text 6"/>
          <p:cNvSpPr/>
          <p:nvPr/>
        </p:nvSpPr>
        <p:spPr>
          <a:xfrm>
            <a:off x="800100" y="1727200"/>
            <a:ext cx="6034430" cy="4140200"/>
          </a:xfrm>
          <a:prstGeom prst="rect">
            <a:avLst/>
          </a:prstGeom>
          <a:noFill/>
          <a:ln/>
        </p:spPr>
        <p:txBody>
          <a:bodyPr wrap="square" lIns="0" tIns="0" rIns="0" bIns="0" rtlCol="0" anchor="t"/>
          <a:lstStyle/>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Read tests/test_spectrum.py.</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Those tests are the acceptance</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criteria. aidlc/intent.md says</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what we are building.</a:t>
            </a:r>
            <a:endParaRPr lang="en-US" sz="1400" dirty="0"/>
          </a:p>
          <a:p>
            <a:pPr marL="0" indent="0">
              <a:lnSpc>
                <a:spcPct val="160000"/>
              </a:lnSpc>
              <a:buNone/>
            </a:pP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Use your file-writing tool to</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WRITE aidlc/requirements.md ...</a:t>
            </a:r>
            <a:endParaRPr lang="en-US" sz="1400" dirty="0"/>
          </a:p>
          <a:p>
            <a:pPr marL="0" indent="0">
              <a:lnSpc>
                <a:spcPct val="160000"/>
              </a:lnSpc>
              <a:buNone/>
            </a:pP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Write the file now. Do not ask</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permission first. Do not print</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the table in your reply instead</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of writing it.</a:t>
            </a:r>
            <a:endParaRPr lang="en-US" sz="1400" dirty="0"/>
          </a:p>
        </p:txBody>
      </p:sp>
      <p:sp>
        <p:nvSpPr>
          <p:cNvPr id="9" name="Text 7"/>
          <p:cNvSpPr/>
          <p:nvPr/>
        </p:nvSpPr>
        <p:spPr>
          <a:xfrm>
            <a:off x="7431430" y="1511300"/>
            <a:ext cx="4201770" cy="160020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All four gate prompts are in labs/PROMPTS.md. Copy them exactly today; improvise next week, once you have seen what a good one looks like.</a:t>
            </a:r>
            <a:endParaRPr lang="en-US" sz="1600" dirty="0"/>
          </a:p>
        </p:txBody>
      </p:sp>
      <p:sp>
        <p:nvSpPr>
          <p:cNvPr id="10" name="Text 8"/>
          <p:cNvSpPr/>
          <p:nvPr/>
        </p:nvSpPr>
        <p:spPr>
          <a:xfrm>
            <a:off x="7431430" y="3238500"/>
            <a:ext cx="4201770" cy="160020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Every sentence in that last paragraph fixes a failure we watched happen: it asked permission and stopped, or it printed the table in the chat and called that done.</a:t>
            </a:r>
            <a:endParaRPr lang="en-US" sz="1600" dirty="0"/>
          </a:p>
        </p:txBody>
      </p:sp>
      <p:sp>
        <p:nvSpPr>
          <p:cNvPr id="11" name="Shape 9"/>
          <p:cNvSpPr/>
          <p:nvPr/>
        </p:nvSpPr>
        <p:spPr>
          <a:xfrm>
            <a:off x="7431430" y="5384800"/>
            <a:ext cx="12700" cy="698500"/>
          </a:xfrm>
          <a:prstGeom prst="rect">
            <a:avLst/>
          </a:prstGeom>
          <a:solidFill>
            <a:srgbClr val="A87A2E"/>
          </a:solidFill>
          <a:ln/>
        </p:spPr>
        <p:txBody>
          <a:bodyPr/>
          <a:lstStyle/>
          <a:p>
            <a:endParaRPr lang="en-TH"/>
          </a:p>
        </p:txBody>
      </p:sp>
      <p:sp>
        <p:nvSpPr>
          <p:cNvPr id="12" name="Text 10"/>
          <p:cNvSpPr/>
          <p:nvPr/>
        </p:nvSpPr>
        <p:spPr>
          <a:xfrm>
            <a:off x="7596530" y="5416550"/>
            <a:ext cx="4036670" cy="698500"/>
          </a:xfrm>
          <a:prstGeom prst="rect">
            <a:avLst/>
          </a:prstGeom>
          <a:noFill/>
          <a:ln/>
        </p:spPr>
        <p:txBody>
          <a:bodyPr wrap="square" lIns="0" tIns="0" rIns="0" bIns="0" rtlCol="0" anchor="t"/>
          <a:lstStyle/>
          <a:p>
            <a:pPr marL="0" indent="0" algn="l">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Name the tool. Say where the output goes. Then forbid the near-miss.</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SECTION 04</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Gate 1 — Intent, and you write it</a:t>
            </a:r>
            <a:endParaRPr lang="en-US" sz="2800" dirty="0"/>
          </a:p>
        </p:txBody>
      </p:sp>
      <p:sp>
        <p:nvSpPr>
          <p:cNvPr id="4" name="Shape 2"/>
          <p:cNvSpPr/>
          <p:nvPr/>
        </p:nvSpPr>
        <p:spPr>
          <a:xfrm>
            <a:off x="558800" y="1181100"/>
            <a:ext cx="11074400" cy="6350"/>
          </a:xfrm>
          <a:prstGeom prst="rect">
            <a:avLst/>
          </a:prstGeom>
          <a:solidFill>
            <a:srgbClr val="E1DED7"/>
          </a:solidFill>
          <a:ln/>
        </p:spPr>
        <p:txBody>
          <a:bodyPr/>
          <a:lstStyle/>
          <a:p>
            <a:endParaRPr lang="en-TH"/>
          </a:p>
        </p:txBody>
      </p:sp>
      <p:sp>
        <p:nvSpPr>
          <p:cNvPr id="5"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22</a:t>
            </a:r>
            <a:endParaRPr lang="en-US" sz="1200" dirty="0"/>
          </a:p>
        </p:txBody>
      </p:sp>
      <p:sp>
        <p:nvSpPr>
          <p:cNvPr id="7" name="Shape 5"/>
          <p:cNvSpPr/>
          <p:nvPr/>
        </p:nvSpPr>
        <p:spPr>
          <a:xfrm>
            <a:off x="558800" y="1511300"/>
            <a:ext cx="6517030" cy="4572000"/>
          </a:xfrm>
          <a:prstGeom prst="rect">
            <a:avLst/>
          </a:prstGeom>
          <a:solidFill>
            <a:srgbClr val="F5F2EC"/>
          </a:solidFill>
          <a:ln w="6350">
            <a:solidFill>
              <a:srgbClr val="E1DED7"/>
            </a:solidFill>
            <a:prstDash val="solid"/>
          </a:ln>
        </p:spPr>
        <p:txBody>
          <a:bodyPr/>
          <a:lstStyle/>
          <a:p>
            <a:endParaRPr lang="en-TH"/>
          </a:p>
        </p:txBody>
      </p:sp>
      <p:sp>
        <p:nvSpPr>
          <p:cNvPr id="8" name="Text 6"/>
          <p:cNvSpPr/>
          <p:nvPr/>
        </p:nvSpPr>
        <p:spPr>
          <a:xfrm>
            <a:off x="800100" y="1727200"/>
            <a:ext cx="6034430" cy="4140200"/>
          </a:xfrm>
          <a:prstGeom prst="rect">
            <a:avLst/>
          </a:prstGeom>
          <a:noFill/>
          <a:ln/>
        </p:spPr>
        <p:txBody>
          <a:bodyPr wrap="square" lIns="0" tIns="0" rIns="0" bIns="0" rtlCol="0" anchor="t"/>
          <a:lstStyle/>
          <a:p>
            <a:pPr marL="0" indent="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&gt;INTENT&lt;</a:t>
            </a:r>
            <a:r>
              <a:rPr lang="en-US" sz="1400" dirty="0">
                <a:solidFill>
                  <a:srgbClr val="332F2A"/>
                </a:solidFill>
                <a:latin typeface="IBM Plex Mono" pitchFamily="34" charset="0"/>
                <a:ea typeface="IBM Plex Mono" pitchFamily="34" charset="-122"/>
                <a:cs typeface="IBM Plex Mono" pitchFamily="34" charset="-120"/>
              </a:rPr>
              <a:t>  spec  plan  build  ship</a:t>
            </a:r>
            <a:endParaRPr lang="en-US" sz="1400" dirty="0"/>
          </a:p>
          <a:p>
            <a:pPr marL="0" indent="0">
              <a:lnSpc>
                <a:spcPct val="160000"/>
              </a:lnSpc>
              <a:buNone/>
            </a:pPr>
            <a:endParaRPr lang="en-US" sz="1400" dirty="0"/>
          </a:p>
          <a:p>
            <a:pPr marL="0" indent="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READS</a:t>
            </a:r>
            <a:r>
              <a:rPr lang="en-US" sz="1400" dirty="0">
                <a:solidFill>
                  <a:srgbClr val="332F2A"/>
                </a:solidFill>
                <a:latin typeface="IBM Plex Mono" pitchFamily="34" charset="0"/>
                <a:ea typeface="IBM Plex Mono" pitchFamily="34" charset="-122"/>
                <a:cs typeface="IBM Plex Mono" pitchFamily="34" charset="-120"/>
              </a:rPr>
              <a:t>   nothing. This one is</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yours.</a:t>
            </a:r>
            <a:endParaRPr lang="en-US" sz="1400" dirty="0"/>
          </a:p>
          <a:p>
            <a:pPr marL="0" indent="0">
              <a:lnSpc>
                <a:spcPct val="160000"/>
              </a:lnSpc>
              <a:buNone/>
            </a:pPr>
            <a:endParaRPr lang="en-US" sz="1400" dirty="0"/>
          </a:p>
          <a:p>
            <a:pPr marL="0" indent="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YOU ANSWER</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Who is this for?</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What problem does it solve?</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What does “done” look like?</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What is NOT included?</a:t>
            </a:r>
            <a:endParaRPr lang="en-US" sz="1400" dirty="0"/>
          </a:p>
          <a:p>
            <a:pPr marL="0" indent="0">
              <a:lnSpc>
                <a:spcPct val="160000"/>
              </a:lnSpc>
              <a:buNone/>
            </a:pPr>
            <a:endParaRPr lang="en-US" sz="1400" dirty="0"/>
          </a:p>
          <a:p>
            <a:pPr marL="0" indent="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WRITES</a:t>
            </a:r>
            <a:r>
              <a:rPr lang="en-US" sz="1400" dirty="0">
                <a:solidFill>
                  <a:srgbClr val="332F2A"/>
                </a:solidFill>
                <a:latin typeface="IBM Plex Mono" pitchFamily="34" charset="0"/>
                <a:ea typeface="IBM Plex Mono" pitchFamily="34" charset="-122"/>
                <a:cs typeface="IBM Plex Mono" pitchFamily="34" charset="-120"/>
              </a:rPr>
              <a:t>  aidlc/intent.md</a:t>
            </a:r>
            <a:endParaRPr lang="en-US" sz="1400" dirty="0"/>
          </a:p>
        </p:txBody>
      </p:sp>
      <p:sp>
        <p:nvSpPr>
          <p:cNvPr id="9" name="Text 7"/>
          <p:cNvSpPr/>
          <p:nvPr/>
        </p:nvSpPr>
        <p:spPr>
          <a:xfrm>
            <a:off x="7431430" y="1511300"/>
            <a:ext cx="4201770" cy="160020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The first box on the diagram, and the only one an agent cannot do for you. It has no prompt because nobody can tell you who your app is for.</a:t>
            </a:r>
            <a:endParaRPr lang="en-US" sz="1600" dirty="0"/>
          </a:p>
        </p:txBody>
      </p:sp>
      <p:sp>
        <p:nvSpPr>
          <p:cNvPr id="10" name="Text 8"/>
          <p:cNvSpPr/>
          <p:nvPr/>
        </p:nvSpPr>
        <p:spPr>
          <a:xfrm>
            <a:off x="7431430" y="3238500"/>
            <a:ext cx="4201770" cy="130556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The fourth question is the one that earns its keep. Nothing told the Round 1 agent where to stop, so it invented scope.</a:t>
            </a:r>
            <a:endParaRPr lang="en-US" sz="1600" dirty="0"/>
          </a:p>
        </p:txBody>
      </p:sp>
      <p:sp>
        <p:nvSpPr>
          <p:cNvPr id="11" name="Shape 9"/>
          <p:cNvSpPr/>
          <p:nvPr/>
        </p:nvSpPr>
        <p:spPr>
          <a:xfrm>
            <a:off x="7431430" y="5384800"/>
            <a:ext cx="12700" cy="698500"/>
          </a:xfrm>
          <a:prstGeom prst="rect">
            <a:avLst/>
          </a:prstGeom>
          <a:solidFill>
            <a:srgbClr val="A87A2E"/>
          </a:solidFill>
          <a:ln/>
        </p:spPr>
        <p:txBody>
          <a:bodyPr/>
          <a:lstStyle/>
          <a:p>
            <a:endParaRPr lang="en-TH"/>
          </a:p>
        </p:txBody>
      </p:sp>
      <p:sp>
        <p:nvSpPr>
          <p:cNvPr id="12" name="Text 10"/>
          <p:cNvSpPr/>
          <p:nvPr/>
        </p:nvSpPr>
        <p:spPr>
          <a:xfrm>
            <a:off x="7596530" y="5416550"/>
            <a:ext cx="4036670" cy="698500"/>
          </a:xfrm>
          <a:prstGeom prst="rect">
            <a:avLst/>
          </a:prstGeom>
          <a:noFill/>
          <a:ln/>
        </p:spPr>
        <p:txBody>
          <a:bodyPr wrap="square" lIns="0" tIns="0" rIns="0" bIns="0" rtlCol="0" anchor="t"/>
          <a:lstStyle/>
          <a:p>
            <a:pPr marL="0" indent="0" algn="l">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A vague intent does not produce a vague app. It produces a confident, wrong one.</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SECTION 04</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Gate 2 — Spec, and you approve it</a:t>
            </a:r>
            <a:endParaRPr lang="en-US" sz="2800" dirty="0"/>
          </a:p>
        </p:txBody>
      </p:sp>
      <p:sp>
        <p:nvSpPr>
          <p:cNvPr id="4" name="Shape 2"/>
          <p:cNvSpPr/>
          <p:nvPr/>
        </p:nvSpPr>
        <p:spPr>
          <a:xfrm>
            <a:off x="558800" y="1181100"/>
            <a:ext cx="11074400" cy="6350"/>
          </a:xfrm>
          <a:prstGeom prst="rect">
            <a:avLst/>
          </a:prstGeom>
          <a:solidFill>
            <a:srgbClr val="E1DED7"/>
          </a:solidFill>
          <a:ln/>
        </p:spPr>
        <p:txBody>
          <a:bodyPr/>
          <a:lstStyle/>
          <a:p>
            <a:endParaRPr lang="en-TH"/>
          </a:p>
        </p:txBody>
      </p:sp>
      <p:sp>
        <p:nvSpPr>
          <p:cNvPr id="5"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23</a:t>
            </a:r>
            <a:endParaRPr lang="en-US" sz="1200" dirty="0"/>
          </a:p>
        </p:txBody>
      </p:sp>
      <p:sp>
        <p:nvSpPr>
          <p:cNvPr id="7" name="Shape 5"/>
          <p:cNvSpPr/>
          <p:nvPr/>
        </p:nvSpPr>
        <p:spPr>
          <a:xfrm>
            <a:off x="558800" y="1511300"/>
            <a:ext cx="6517030" cy="4572000"/>
          </a:xfrm>
          <a:prstGeom prst="rect">
            <a:avLst/>
          </a:prstGeom>
          <a:solidFill>
            <a:srgbClr val="F5F2EC"/>
          </a:solidFill>
          <a:ln w="6350">
            <a:solidFill>
              <a:srgbClr val="E1DED7"/>
            </a:solidFill>
            <a:prstDash val="solid"/>
          </a:ln>
        </p:spPr>
        <p:txBody>
          <a:bodyPr/>
          <a:lstStyle/>
          <a:p>
            <a:endParaRPr lang="en-TH"/>
          </a:p>
        </p:txBody>
      </p:sp>
      <p:sp>
        <p:nvSpPr>
          <p:cNvPr id="8" name="Text 6"/>
          <p:cNvSpPr/>
          <p:nvPr/>
        </p:nvSpPr>
        <p:spPr>
          <a:xfrm>
            <a:off x="800100" y="1727200"/>
            <a:ext cx="6034430" cy="4140200"/>
          </a:xfrm>
          <a:prstGeom prst="rect">
            <a:avLst/>
          </a:prstGeom>
          <a:noFill/>
          <a:ln/>
        </p:spPr>
        <p:txBody>
          <a:bodyPr wrap="square" lIns="0" tIns="0" rIns="0" bIns="0" rtlCol="0" anchor="t"/>
          <a:lstStyle/>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intent  </a:t>
            </a:r>
            <a:r>
              <a:rPr lang="en-US" sz="1400" b="1" dirty="0">
                <a:solidFill>
                  <a:srgbClr val="332F2A"/>
                </a:solidFill>
                <a:latin typeface="IBM Plex Mono" pitchFamily="34" charset="0"/>
                <a:ea typeface="IBM Plex Mono" pitchFamily="34" charset="-122"/>
                <a:cs typeface="IBM Plex Mono" pitchFamily="34" charset="-120"/>
              </a:rPr>
              <a:t>&gt;SPEC&lt;</a:t>
            </a:r>
            <a:r>
              <a:rPr lang="en-US" sz="1400" dirty="0">
                <a:solidFill>
                  <a:srgbClr val="332F2A"/>
                </a:solidFill>
                <a:latin typeface="IBM Plex Mono" pitchFamily="34" charset="0"/>
                <a:ea typeface="IBM Plex Mono" pitchFamily="34" charset="-122"/>
                <a:cs typeface="IBM Plex Mono" pitchFamily="34" charset="-120"/>
              </a:rPr>
              <a:t>  plan  build  ship</a:t>
            </a:r>
            <a:endParaRPr lang="en-US" sz="1400" dirty="0"/>
          </a:p>
          <a:p>
            <a:pPr marL="0" indent="0">
              <a:lnSpc>
                <a:spcPct val="160000"/>
              </a:lnSpc>
              <a:buNone/>
            </a:pPr>
            <a:endParaRPr lang="en-US" sz="1400" dirty="0"/>
          </a:p>
          <a:p>
            <a:pPr marL="0" indent="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READS</a:t>
            </a:r>
            <a:r>
              <a:rPr lang="en-US" sz="1400" dirty="0">
                <a:solidFill>
                  <a:srgbClr val="332F2A"/>
                </a:solidFill>
                <a:latin typeface="IBM Plex Mono" pitchFamily="34" charset="0"/>
                <a:ea typeface="IBM Plex Mono" pitchFamily="34" charset="-122"/>
                <a:cs typeface="IBM Plex Mono" pitchFamily="34" charset="-120"/>
              </a:rPr>
              <a:t>   aidlc/intent.md</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tests/test_spectrum.py</a:t>
            </a:r>
            <a:endParaRPr lang="en-US" sz="1400" dirty="0"/>
          </a:p>
          <a:p>
            <a:pPr marL="0" indent="0">
              <a:lnSpc>
                <a:spcPct val="160000"/>
              </a:lnSpc>
              <a:buNone/>
            </a:pPr>
            <a:endParaRPr lang="en-US" sz="1400" dirty="0"/>
          </a:p>
          <a:p>
            <a:pPr marL="0" indent="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PROMPT</a:t>
            </a:r>
            <a:r>
              <a:rPr lang="en-US" sz="1400" dirty="0">
                <a:solidFill>
                  <a:srgbClr val="332F2A"/>
                </a:solidFill>
                <a:latin typeface="IBM Plex Mono" pitchFamily="34" charset="0"/>
                <a:ea typeface="IBM Plex Mono" pitchFamily="34" charset="-122"/>
                <a:cs typeface="IBM Plex Mono" pitchFamily="34" charset="-120"/>
              </a:rPr>
              <a:t>  “Read intent.md, then</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the tests. WRITE a table.</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Every done bullet gets a</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row. pytest &lt;name&gt;, or</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EYES: &lt;what to look at&gt;.”</a:t>
            </a:r>
            <a:endParaRPr lang="en-US" sz="1400" dirty="0"/>
          </a:p>
          <a:p>
            <a:pPr marL="0" indent="0">
              <a:lnSpc>
                <a:spcPct val="160000"/>
              </a:lnSpc>
              <a:buNone/>
            </a:pPr>
            <a:endParaRPr lang="en-US" sz="1400" dirty="0"/>
          </a:p>
          <a:p>
            <a:pPr marL="0" indent="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WRITES</a:t>
            </a:r>
            <a:r>
              <a:rPr lang="en-US" sz="1400" dirty="0">
                <a:solidFill>
                  <a:srgbClr val="332F2A"/>
                </a:solidFill>
                <a:latin typeface="IBM Plex Mono" pitchFamily="34" charset="0"/>
                <a:ea typeface="IBM Plex Mono" pitchFamily="34" charset="-122"/>
                <a:cs typeface="IBM Plex Mono" pitchFamily="34" charset="-120"/>
              </a:rPr>
              <a:t>  aidlc/requirements.md</a:t>
            </a:r>
            <a:endParaRPr lang="en-US" sz="1400" dirty="0"/>
          </a:p>
        </p:txBody>
      </p:sp>
      <p:sp>
        <p:nvSpPr>
          <p:cNvPr id="9" name="Text 7"/>
          <p:cNvSpPr/>
          <p:nvPr/>
        </p:nvSpPr>
        <p:spPr>
          <a:xfrm>
            <a:off x="7431430" y="1511300"/>
            <a:ext cx="4201770" cy="160020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Notice what it reads: the intent YOU wrote at Gate 1, plus the tests. Each gate consumes what the last one produced — that chain is the whole method.</a:t>
            </a:r>
            <a:endParaRPr lang="en-US" sz="1600" dirty="0"/>
          </a:p>
        </p:txBody>
      </p:sp>
      <p:sp>
        <p:nvSpPr>
          <p:cNvPr id="10" name="Text 8"/>
          <p:cNvSpPr/>
          <p:nvPr/>
        </p:nvSpPr>
        <p:spPr>
          <a:xfrm>
            <a:off x="7431430" y="3238500"/>
            <a:ext cx="4201770" cy="160020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Two kinds of check, and you need both. A test for the maths; a person's eyes for the screen, because no test in this repository ever opens a page.</a:t>
            </a:r>
            <a:endParaRPr lang="en-US" sz="1600" dirty="0"/>
          </a:p>
        </p:txBody>
      </p:sp>
      <p:sp>
        <p:nvSpPr>
          <p:cNvPr id="11" name="Shape 9"/>
          <p:cNvSpPr/>
          <p:nvPr/>
        </p:nvSpPr>
        <p:spPr>
          <a:xfrm>
            <a:off x="7431430" y="5384800"/>
            <a:ext cx="12700" cy="698500"/>
          </a:xfrm>
          <a:prstGeom prst="rect">
            <a:avLst/>
          </a:prstGeom>
          <a:solidFill>
            <a:srgbClr val="A87A2E"/>
          </a:solidFill>
          <a:ln/>
        </p:spPr>
        <p:txBody>
          <a:bodyPr/>
          <a:lstStyle/>
          <a:p>
            <a:endParaRPr lang="en-TH"/>
          </a:p>
        </p:txBody>
      </p:sp>
      <p:sp>
        <p:nvSpPr>
          <p:cNvPr id="12" name="Text 10"/>
          <p:cNvSpPr/>
          <p:nvPr/>
        </p:nvSpPr>
        <p:spPr>
          <a:xfrm>
            <a:off x="7596530" y="5416550"/>
            <a:ext cx="4036670" cy="698500"/>
          </a:xfrm>
          <a:prstGeom prst="rect">
            <a:avLst/>
          </a:prstGeom>
          <a:noFill/>
          <a:ln/>
        </p:spPr>
        <p:txBody>
          <a:bodyPr wrap="square" lIns="0" tIns="0" rIns="0" bIns="0" rtlCol="0" anchor="t"/>
          <a:lstStyle/>
          <a:p>
            <a:pPr marL="0" indent="0" algn="l">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Approve it only when every done bullet from your intent has a row that could fail.</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SECTION 04</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Gate 3 — Plan, one file per task</a:t>
            </a:r>
            <a:endParaRPr lang="en-US" sz="2800" dirty="0"/>
          </a:p>
        </p:txBody>
      </p:sp>
      <p:sp>
        <p:nvSpPr>
          <p:cNvPr id="4" name="Shape 2"/>
          <p:cNvSpPr/>
          <p:nvPr/>
        </p:nvSpPr>
        <p:spPr>
          <a:xfrm>
            <a:off x="558800" y="1181100"/>
            <a:ext cx="11074400" cy="6350"/>
          </a:xfrm>
          <a:prstGeom prst="rect">
            <a:avLst/>
          </a:prstGeom>
          <a:solidFill>
            <a:srgbClr val="E1DED7"/>
          </a:solidFill>
          <a:ln/>
        </p:spPr>
        <p:txBody>
          <a:bodyPr/>
          <a:lstStyle/>
          <a:p>
            <a:endParaRPr lang="en-TH"/>
          </a:p>
        </p:txBody>
      </p:sp>
      <p:sp>
        <p:nvSpPr>
          <p:cNvPr id="5"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24</a:t>
            </a:r>
            <a:endParaRPr lang="en-US" sz="1200" dirty="0"/>
          </a:p>
        </p:txBody>
      </p:sp>
      <p:sp>
        <p:nvSpPr>
          <p:cNvPr id="7" name="Shape 5"/>
          <p:cNvSpPr/>
          <p:nvPr/>
        </p:nvSpPr>
        <p:spPr>
          <a:xfrm>
            <a:off x="558800" y="1511300"/>
            <a:ext cx="6517030" cy="4572000"/>
          </a:xfrm>
          <a:prstGeom prst="rect">
            <a:avLst/>
          </a:prstGeom>
          <a:solidFill>
            <a:srgbClr val="F5F2EC"/>
          </a:solidFill>
          <a:ln w="6350">
            <a:solidFill>
              <a:srgbClr val="E1DED7"/>
            </a:solidFill>
            <a:prstDash val="solid"/>
          </a:ln>
        </p:spPr>
        <p:txBody>
          <a:bodyPr/>
          <a:lstStyle/>
          <a:p>
            <a:endParaRPr lang="en-TH"/>
          </a:p>
        </p:txBody>
      </p:sp>
      <p:sp>
        <p:nvSpPr>
          <p:cNvPr id="8" name="Text 6"/>
          <p:cNvSpPr/>
          <p:nvPr/>
        </p:nvSpPr>
        <p:spPr>
          <a:xfrm>
            <a:off x="800100" y="1727200"/>
            <a:ext cx="6034430" cy="4140200"/>
          </a:xfrm>
          <a:prstGeom prst="rect">
            <a:avLst/>
          </a:prstGeom>
          <a:noFill/>
          <a:ln/>
        </p:spPr>
        <p:txBody>
          <a:bodyPr wrap="square" lIns="0" tIns="0" rIns="0" bIns="0" rtlCol="0" anchor="t"/>
          <a:lstStyle/>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intent  spec  </a:t>
            </a:r>
            <a:r>
              <a:rPr lang="en-US" sz="1400" b="1" dirty="0">
                <a:solidFill>
                  <a:srgbClr val="332F2A"/>
                </a:solidFill>
                <a:latin typeface="IBM Plex Mono" pitchFamily="34" charset="0"/>
                <a:ea typeface="IBM Plex Mono" pitchFamily="34" charset="-122"/>
                <a:cs typeface="IBM Plex Mono" pitchFamily="34" charset="-120"/>
              </a:rPr>
              <a:t>&gt;PLAN&lt;</a:t>
            </a:r>
            <a:r>
              <a:rPr lang="en-US" sz="1400" dirty="0">
                <a:solidFill>
                  <a:srgbClr val="332F2A"/>
                </a:solidFill>
                <a:latin typeface="IBM Plex Mono" pitchFamily="34" charset="0"/>
                <a:ea typeface="IBM Plex Mono" pitchFamily="34" charset="-122"/>
                <a:cs typeface="IBM Plex Mono" pitchFamily="34" charset="-120"/>
              </a:rPr>
              <a:t>  build  ship</a:t>
            </a:r>
            <a:endParaRPr lang="en-US" sz="1400" dirty="0"/>
          </a:p>
          <a:p>
            <a:pPr marL="0" indent="0">
              <a:lnSpc>
                <a:spcPct val="160000"/>
              </a:lnSpc>
              <a:buNone/>
            </a:pPr>
            <a:endParaRPr lang="en-US" sz="1400" dirty="0"/>
          </a:p>
          <a:p>
            <a:pPr marL="0" indent="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READS</a:t>
            </a:r>
            <a:r>
              <a:rPr lang="en-US" sz="1400" dirty="0">
                <a:solidFill>
                  <a:srgbClr val="332F2A"/>
                </a:solidFill>
                <a:latin typeface="IBM Plex Mono" pitchFamily="34" charset="0"/>
                <a:ea typeface="IBM Plex Mono" pitchFamily="34" charset="-122"/>
                <a:cs typeface="IBM Plex Mono" pitchFamily="34" charset="-120"/>
              </a:rPr>
              <a:t>   aidlc/requirements.md</a:t>
            </a:r>
            <a:endParaRPr lang="en-US" sz="1400" dirty="0"/>
          </a:p>
          <a:p>
            <a:pPr marL="0" indent="0">
              <a:lnSpc>
                <a:spcPct val="160000"/>
              </a:lnSpc>
              <a:buNone/>
            </a:pPr>
            <a:endParaRPr lang="en-US" sz="1400" dirty="0"/>
          </a:p>
          <a:p>
            <a:pPr marL="0" indent="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PROMPT</a:t>
            </a:r>
            <a:r>
              <a:rPr lang="en-US" sz="1400" dirty="0">
                <a:solidFill>
                  <a:srgbClr val="332F2A"/>
                </a:solidFill>
                <a:latin typeface="IBM Plex Mono" pitchFamily="34" charset="0"/>
                <a:ea typeface="IBM Plex Mono" pitchFamily="34" charset="-122"/>
                <a:cs typeface="IBM Plex Mono" pitchFamily="34" charset="-120"/>
              </a:rPr>
              <a:t>  “requirements.md is</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approved. WRITE design.md</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and tasks.md. Two tasks,</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one file each, and a</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Done when for both.”</a:t>
            </a:r>
            <a:endParaRPr lang="en-US" sz="1400" dirty="0"/>
          </a:p>
          <a:p>
            <a:pPr marL="0" indent="0">
              <a:lnSpc>
                <a:spcPct val="160000"/>
              </a:lnSpc>
              <a:buNone/>
            </a:pPr>
            <a:endParaRPr lang="en-US" sz="1400" dirty="0"/>
          </a:p>
          <a:p>
            <a:pPr marL="0" indent="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WRITES</a:t>
            </a:r>
            <a:r>
              <a:rPr lang="en-US" sz="1400" dirty="0">
                <a:solidFill>
                  <a:srgbClr val="332F2A"/>
                </a:solidFill>
                <a:latin typeface="IBM Plex Mono" pitchFamily="34" charset="0"/>
                <a:ea typeface="IBM Plex Mono" pitchFamily="34" charset="-122"/>
                <a:cs typeface="IBM Plex Mono" pitchFamily="34" charset="-120"/>
              </a:rPr>
              <a:t>  aidlc/design.md</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aidlc/tasks.md</a:t>
            </a:r>
            <a:endParaRPr lang="en-US" sz="1400" dirty="0"/>
          </a:p>
        </p:txBody>
      </p:sp>
      <p:sp>
        <p:nvSpPr>
          <p:cNvPr id="9" name="Text 7"/>
          <p:cNvSpPr/>
          <p:nvPr/>
        </p:nvSpPr>
        <p:spPr>
          <a:xfrm>
            <a:off x="7431430" y="1511300"/>
            <a:ext cx="4201770" cy="130556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It reads the spec you just approved, and nothing else. Approve a plan here, not code — no code exists yet.</a:t>
            </a:r>
            <a:endParaRPr lang="en-US" sz="1600" dirty="0"/>
          </a:p>
        </p:txBody>
      </p:sp>
      <p:sp>
        <p:nvSpPr>
          <p:cNvPr id="10" name="Text 8"/>
          <p:cNvSpPr/>
          <p:nvPr/>
        </p:nvSpPr>
        <p:spPr>
          <a:xfrm>
            <a:off x="7431430" y="2943860"/>
            <a:ext cx="4201770" cy="160020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Every task names the ONE file it may touch, and the one criterion that says it is finished. A task with no Done when can never be wrong, so it will be.</a:t>
            </a:r>
            <a:endParaRPr lang="en-US" sz="1600" dirty="0"/>
          </a:p>
        </p:txBody>
      </p:sp>
      <p:sp>
        <p:nvSpPr>
          <p:cNvPr id="11" name="Shape 9"/>
          <p:cNvSpPr/>
          <p:nvPr/>
        </p:nvSpPr>
        <p:spPr>
          <a:xfrm>
            <a:off x="7431430" y="5384800"/>
            <a:ext cx="12700" cy="698500"/>
          </a:xfrm>
          <a:prstGeom prst="rect">
            <a:avLst/>
          </a:prstGeom>
          <a:solidFill>
            <a:srgbClr val="A87A2E"/>
          </a:solidFill>
          <a:ln/>
        </p:spPr>
        <p:txBody>
          <a:bodyPr/>
          <a:lstStyle/>
          <a:p>
            <a:endParaRPr lang="en-TH"/>
          </a:p>
        </p:txBody>
      </p:sp>
      <p:sp>
        <p:nvSpPr>
          <p:cNvPr id="12" name="Text 10"/>
          <p:cNvSpPr/>
          <p:nvPr/>
        </p:nvSpPr>
        <p:spPr>
          <a:xfrm>
            <a:off x="7596530" y="5416550"/>
            <a:ext cx="4036670" cy="698500"/>
          </a:xfrm>
          <a:prstGeom prst="rect">
            <a:avLst/>
          </a:prstGeom>
          <a:noFill/>
          <a:ln/>
        </p:spPr>
        <p:txBody>
          <a:bodyPr wrap="square" lIns="0" tIns="0" rIns="0" bIns="0" rtlCol="0" anchor="t"/>
          <a:lstStyle/>
          <a:p>
            <a:pPr marL="0" indent="0" algn="l">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One task, one owner, one file, one check that could fail.</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SECTION 04</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Gate 4 — Build, one task at a time</a:t>
            </a:r>
            <a:endParaRPr lang="en-US" sz="2800" dirty="0"/>
          </a:p>
        </p:txBody>
      </p:sp>
      <p:sp>
        <p:nvSpPr>
          <p:cNvPr id="4" name="Shape 2"/>
          <p:cNvSpPr/>
          <p:nvPr/>
        </p:nvSpPr>
        <p:spPr>
          <a:xfrm>
            <a:off x="558800" y="1181100"/>
            <a:ext cx="11074400" cy="6350"/>
          </a:xfrm>
          <a:prstGeom prst="rect">
            <a:avLst/>
          </a:prstGeom>
          <a:solidFill>
            <a:srgbClr val="E1DED7"/>
          </a:solidFill>
          <a:ln/>
        </p:spPr>
        <p:txBody>
          <a:bodyPr/>
          <a:lstStyle/>
          <a:p>
            <a:endParaRPr lang="en-TH"/>
          </a:p>
        </p:txBody>
      </p:sp>
      <p:sp>
        <p:nvSpPr>
          <p:cNvPr id="5"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25</a:t>
            </a:r>
            <a:endParaRPr lang="en-US" sz="1200" dirty="0"/>
          </a:p>
        </p:txBody>
      </p:sp>
      <p:sp>
        <p:nvSpPr>
          <p:cNvPr id="7" name="Shape 5"/>
          <p:cNvSpPr/>
          <p:nvPr/>
        </p:nvSpPr>
        <p:spPr>
          <a:xfrm>
            <a:off x="558800" y="1511300"/>
            <a:ext cx="6517030" cy="4572000"/>
          </a:xfrm>
          <a:prstGeom prst="rect">
            <a:avLst/>
          </a:prstGeom>
          <a:solidFill>
            <a:srgbClr val="F5F2EC"/>
          </a:solidFill>
          <a:ln w="6350">
            <a:solidFill>
              <a:srgbClr val="E1DED7"/>
            </a:solidFill>
            <a:prstDash val="solid"/>
          </a:ln>
        </p:spPr>
        <p:txBody>
          <a:bodyPr/>
          <a:lstStyle/>
          <a:p>
            <a:endParaRPr lang="en-TH"/>
          </a:p>
        </p:txBody>
      </p:sp>
      <p:sp>
        <p:nvSpPr>
          <p:cNvPr id="8" name="Text 6"/>
          <p:cNvSpPr/>
          <p:nvPr/>
        </p:nvSpPr>
        <p:spPr>
          <a:xfrm>
            <a:off x="800100" y="1727200"/>
            <a:ext cx="6034430" cy="4140200"/>
          </a:xfrm>
          <a:prstGeom prst="rect">
            <a:avLst/>
          </a:prstGeom>
          <a:noFill/>
          <a:ln/>
        </p:spPr>
        <p:txBody>
          <a:bodyPr wrap="square" lIns="0" tIns="0" rIns="0" bIns="0" rtlCol="0" anchor="t"/>
          <a:lstStyle/>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intent  spec  plan  </a:t>
            </a:r>
            <a:r>
              <a:rPr lang="en-US" sz="1400" b="1" dirty="0">
                <a:solidFill>
                  <a:srgbClr val="332F2A"/>
                </a:solidFill>
                <a:latin typeface="IBM Plex Mono" pitchFamily="34" charset="0"/>
                <a:ea typeface="IBM Plex Mono" pitchFamily="34" charset="-122"/>
                <a:cs typeface="IBM Plex Mono" pitchFamily="34" charset="-120"/>
              </a:rPr>
              <a:t>&gt;BUILD&lt;</a:t>
            </a:r>
            <a:r>
              <a:rPr lang="en-US" sz="1400" dirty="0">
                <a:solidFill>
                  <a:srgbClr val="332F2A"/>
                </a:solidFill>
                <a:latin typeface="IBM Plex Mono" pitchFamily="34" charset="0"/>
                <a:ea typeface="IBM Plex Mono" pitchFamily="34" charset="-122"/>
                <a:cs typeface="IBM Plex Mono" pitchFamily="34" charset="-120"/>
              </a:rPr>
              <a:t>  ship</a:t>
            </a:r>
            <a:endParaRPr lang="en-US" sz="1400" dirty="0"/>
          </a:p>
          <a:p>
            <a:pPr marL="0" indent="0">
              <a:lnSpc>
                <a:spcPct val="160000"/>
              </a:lnSpc>
              <a:buNone/>
            </a:pPr>
            <a:endParaRPr lang="en-US" sz="1400" dirty="0"/>
          </a:p>
          <a:p>
            <a:pPr marL="0" indent="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READS</a:t>
            </a:r>
            <a:r>
              <a:rPr lang="en-US" sz="1400" dirty="0">
                <a:solidFill>
                  <a:srgbClr val="332F2A"/>
                </a:solidFill>
                <a:latin typeface="IBM Plex Mono" pitchFamily="34" charset="0"/>
                <a:ea typeface="IBM Plex Mono" pitchFamily="34" charset="-122"/>
                <a:cs typeface="IBM Plex Mono" pitchFamily="34" charset="-120"/>
              </a:rPr>
              <a:t>   aidlc/design.md</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aidlc/tasks.md</a:t>
            </a:r>
            <a:endParaRPr lang="en-US" sz="1400" dirty="0"/>
          </a:p>
          <a:p>
            <a:pPr marL="0" indent="0">
              <a:lnSpc>
                <a:spcPct val="160000"/>
              </a:lnSpc>
              <a:buNone/>
            </a:pPr>
            <a:endParaRPr lang="en-US" sz="1400" dirty="0"/>
          </a:p>
          <a:p>
            <a:pPr marL="0" indent="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PROMPT</a:t>
            </a:r>
            <a:r>
              <a:rPr lang="en-US" sz="1400" dirty="0">
                <a:solidFill>
                  <a:srgbClr val="332F2A"/>
                </a:solidFill>
                <a:latin typeface="IBM Plex Mono" pitchFamily="34" charset="0"/>
                <a:ea typeface="IBM Plex Mono" pitchFamily="34" charset="-122"/>
                <a:cs typeface="IBM Plex Mono" pitchFamily="34" charset="-120"/>
              </a:rPr>
              <a:t>  “design.md and tasks.md</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are approved. Implement</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task 1 only. OVERWRITE</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core/spectrum.py.”</a:t>
            </a:r>
            <a:endParaRPr lang="en-US" sz="1400" dirty="0"/>
          </a:p>
          <a:p>
            <a:pPr marL="0" indent="0">
              <a:lnSpc>
                <a:spcPct val="160000"/>
              </a:lnSpc>
              <a:buNone/>
            </a:pPr>
            <a:endParaRPr lang="en-US" sz="1400" dirty="0"/>
          </a:p>
          <a:p>
            <a:pPr marL="0" indent="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WRITES</a:t>
            </a:r>
            <a:r>
              <a:rPr lang="en-US" sz="1400" dirty="0">
                <a:solidFill>
                  <a:srgbClr val="332F2A"/>
                </a:solidFill>
                <a:latin typeface="IBM Plex Mono" pitchFamily="34" charset="0"/>
                <a:ea typeface="IBM Plex Mono" pitchFamily="34" charset="-122"/>
                <a:cs typeface="IBM Plex Mono" pitchFamily="34" charset="-120"/>
              </a:rPr>
              <a:t>  core/spectrum.py</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7 spectrum tests pass</a:t>
            </a:r>
            <a:endParaRPr lang="en-US" sz="1400" dirty="0"/>
          </a:p>
        </p:txBody>
      </p:sp>
      <p:sp>
        <p:nvSpPr>
          <p:cNvPr id="9" name="Text 7"/>
          <p:cNvSpPr/>
          <p:nvPr/>
        </p:nvSpPr>
        <p:spPr>
          <a:xfrm>
            <a:off x="7431430" y="1511300"/>
            <a:ext cx="4201770" cy="160020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The only box that produces code instead of a document, and it still reads the two documents before it. One task, one file, tests run, diff read, commit.</a:t>
            </a:r>
            <a:endParaRPr lang="en-US" sz="1600" dirty="0"/>
          </a:p>
        </p:txBody>
      </p:sp>
      <p:sp>
        <p:nvSpPr>
          <p:cNvPr id="10" name="Text 8"/>
          <p:cNvSpPr/>
          <p:nvPr/>
        </p:nvSpPr>
        <p:spPr>
          <a:xfrm>
            <a:off x="7431430" y="3238500"/>
            <a:ext cx="4201770" cy="130556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The gates do not make the agent correct. They make it wrong out loud, early, in a place you are looking.</a:t>
            </a:r>
            <a:endParaRPr lang="en-US" sz="1600" dirty="0"/>
          </a:p>
        </p:txBody>
      </p:sp>
      <p:sp>
        <p:nvSpPr>
          <p:cNvPr id="11" name="Shape 9"/>
          <p:cNvSpPr/>
          <p:nvPr/>
        </p:nvSpPr>
        <p:spPr>
          <a:xfrm>
            <a:off x="7431430" y="5384800"/>
            <a:ext cx="12700" cy="698500"/>
          </a:xfrm>
          <a:prstGeom prst="rect">
            <a:avLst/>
          </a:prstGeom>
          <a:solidFill>
            <a:srgbClr val="A87A2E"/>
          </a:solidFill>
          <a:ln/>
        </p:spPr>
        <p:txBody>
          <a:bodyPr/>
          <a:lstStyle/>
          <a:p>
            <a:endParaRPr lang="en-TH"/>
          </a:p>
        </p:txBody>
      </p:sp>
      <p:sp>
        <p:nvSpPr>
          <p:cNvPr id="12" name="Text 10"/>
          <p:cNvSpPr/>
          <p:nvPr/>
        </p:nvSpPr>
        <p:spPr>
          <a:xfrm>
            <a:off x="7596530" y="5416550"/>
            <a:ext cx="4036670" cy="698500"/>
          </a:xfrm>
          <a:prstGeom prst="rect">
            <a:avLst/>
          </a:prstGeom>
          <a:noFill/>
          <a:ln/>
        </p:spPr>
        <p:txBody>
          <a:bodyPr wrap="square" lIns="0" tIns="0" rIns="0" bIns="0" rtlCol="0" anchor="t"/>
          <a:lstStyle/>
          <a:p>
            <a:pPr marL="0" indent="0" algn="l">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Green tests and a diff you have actually read. Then the next task.</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SECTION 04</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One command turns them on</a:t>
            </a:r>
            <a:endParaRPr lang="en-US" sz="2800" dirty="0"/>
          </a:p>
        </p:txBody>
      </p:sp>
      <p:sp>
        <p:nvSpPr>
          <p:cNvPr id="4" name="Shape 2"/>
          <p:cNvSpPr/>
          <p:nvPr/>
        </p:nvSpPr>
        <p:spPr>
          <a:xfrm>
            <a:off x="558800" y="1181100"/>
            <a:ext cx="11074400" cy="6350"/>
          </a:xfrm>
          <a:prstGeom prst="rect">
            <a:avLst/>
          </a:prstGeom>
          <a:solidFill>
            <a:srgbClr val="E1DED7"/>
          </a:solidFill>
          <a:ln/>
        </p:spPr>
        <p:txBody>
          <a:bodyPr/>
          <a:lstStyle/>
          <a:p>
            <a:endParaRPr lang="en-TH"/>
          </a:p>
        </p:txBody>
      </p:sp>
      <p:sp>
        <p:nvSpPr>
          <p:cNvPr id="5"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26</a:t>
            </a:r>
            <a:endParaRPr lang="en-US" sz="1200" dirty="0"/>
          </a:p>
        </p:txBody>
      </p:sp>
      <p:sp>
        <p:nvSpPr>
          <p:cNvPr id="7" name="Shape 5"/>
          <p:cNvSpPr/>
          <p:nvPr/>
        </p:nvSpPr>
        <p:spPr>
          <a:xfrm>
            <a:off x="558800" y="1511300"/>
            <a:ext cx="6517030" cy="4572000"/>
          </a:xfrm>
          <a:prstGeom prst="rect">
            <a:avLst/>
          </a:prstGeom>
          <a:solidFill>
            <a:srgbClr val="F5F2EC"/>
          </a:solidFill>
          <a:ln w="6350">
            <a:solidFill>
              <a:srgbClr val="E1DED7"/>
            </a:solidFill>
            <a:prstDash val="solid"/>
          </a:ln>
        </p:spPr>
        <p:txBody>
          <a:bodyPr/>
          <a:lstStyle/>
          <a:p>
            <a:endParaRPr lang="en-TH"/>
          </a:p>
        </p:txBody>
      </p:sp>
      <p:sp>
        <p:nvSpPr>
          <p:cNvPr id="8" name="Text 6"/>
          <p:cNvSpPr/>
          <p:nvPr/>
        </p:nvSpPr>
        <p:spPr>
          <a:xfrm>
            <a:off x="800100" y="1727200"/>
            <a:ext cx="6034430" cy="4140200"/>
          </a:xfrm>
          <a:prstGeom prst="rect">
            <a:avLst/>
          </a:prstGeom>
          <a:noFill/>
          <a:ln/>
        </p:spPr>
        <p:txBody>
          <a:bodyPr wrap="square" lIns="0" tIns="0" rIns="0" bIns="0" rtlCol="0" anchor="t"/>
          <a:lstStyle/>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cp .clinerules.gates .clinerules</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git add .clinerules &amp;&amp; git commit</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-m "turn the gates on"</a:t>
            </a:r>
            <a:endParaRPr lang="en-US" sz="1400" dirty="0"/>
          </a:p>
          <a:p>
            <a:pPr marL="0" indent="0">
              <a:lnSpc>
                <a:spcPct val="160000"/>
              </a:lnSpc>
              <a:buNone/>
            </a:pP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then START A NEW CLINE TASK</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rules load when a task begins</a:t>
            </a:r>
            <a:endParaRPr lang="en-US" sz="1400" dirty="0"/>
          </a:p>
          <a:p>
            <a:pPr marL="0" indent="0">
              <a:lnSpc>
                <a:spcPct val="160000"/>
              </a:lnSpc>
              <a:buNone/>
            </a:pP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.clinerules</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Gate 2 - Spec. Draft the</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requirements, then STOP and</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ask for approval.</a:t>
            </a:r>
            <a:endParaRPr lang="en-US" sz="1400" dirty="0"/>
          </a:p>
        </p:txBody>
      </p:sp>
      <p:sp>
        <p:nvSpPr>
          <p:cNvPr id="9" name="Text 7"/>
          <p:cNvSpPr/>
          <p:nvPr/>
        </p:nvSpPr>
        <p:spPr>
          <a:xfrm>
            <a:off x="7431430" y="1511300"/>
            <a:ext cx="4201770" cy="160020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In Round 1 your agent had no process rules, which is why it went straight to code. This file is the difference, and it was in your repository the whole time.</a:t>
            </a:r>
            <a:endParaRPr lang="en-US" sz="1600" dirty="0"/>
          </a:p>
        </p:txBody>
      </p:sp>
      <p:sp>
        <p:nvSpPr>
          <p:cNvPr id="10" name="Text 8"/>
          <p:cNvSpPr/>
          <p:nvPr/>
        </p:nvSpPr>
        <p:spPr>
          <a:xfrm>
            <a:off x="7431430" y="3238500"/>
            <a:ext cx="4201770" cy="101092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Same agent, same model, same request. Copy it into place, start a new task, and watch it refuse you.</a:t>
            </a:r>
            <a:endParaRPr lang="en-US" sz="1600" dirty="0"/>
          </a:p>
        </p:txBody>
      </p:sp>
      <p:sp>
        <p:nvSpPr>
          <p:cNvPr id="11" name="Shape 9"/>
          <p:cNvSpPr/>
          <p:nvPr/>
        </p:nvSpPr>
        <p:spPr>
          <a:xfrm>
            <a:off x="7431430" y="5384800"/>
            <a:ext cx="12700" cy="698500"/>
          </a:xfrm>
          <a:prstGeom prst="rect">
            <a:avLst/>
          </a:prstGeom>
          <a:solidFill>
            <a:srgbClr val="A87A2E"/>
          </a:solidFill>
          <a:ln/>
        </p:spPr>
        <p:txBody>
          <a:bodyPr/>
          <a:lstStyle/>
          <a:p>
            <a:endParaRPr lang="en-TH"/>
          </a:p>
        </p:txBody>
      </p:sp>
      <p:sp>
        <p:nvSpPr>
          <p:cNvPr id="12" name="Text 10"/>
          <p:cNvSpPr/>
          <p:nvPr/>
        </p:nvSpPr>
        <p:spPr>
          <a:xfrm>
            <a:off x="7596530" y="5416550"/>
            <a:ext cx="4036670" cy="698500"/>
          </a:xfrm>
          <a:prstGeom prst="rect">
            <a:avLst/>
          </a:prstGeom>
          <a:noFill/>
          <a:ln/>
        </p:spPr>
        <p:txBody>
          <a:bodyPr wrap="square" lIns="0" tIns="0" rIns="0" bIns="0" rtlCol="0" anchor="t"/>
          <a:lstStyle/>
          <a:p>
            <a:pPr marL="0" indent="0" algn="l">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Plain English, in a plain file. By Session 2 you will be editing it.</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SECTION 04</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You have seen these gates before</a:t>
            </a:r>
            <a:endParaRPr lang="en-US" sz="2800" dirty="0"/>
          </a:p>
        </p:txBody>
      </p:sp>
      <p:sp>
        <p:nvSpPr>
          <p:cNvPr id="4" name="Shape 2"/>
          <p:cNvSpPr/>
          <p:nvPr/>
        </p:nvSpPr>
        <p:spPr>
          <a:xfrm>
            <a:off x="558800" y="1181100"/>
            <a:ext cx="11074400" cy="6350"/>
          </a:xfrm>
          <a:prstGeom prst="rect">
            <a:avLst/>
          </a:prstGeom>
          <a:solidFill>
            <a:srgbClr val="E1DED7"/>
          </a:solidFill>
          <a:ln/>
        </p:spPr>
        <p:txBody>
          <a:bodyPr/>
          <a:lstStyle/>
          <a:p>
            <a:endParaRPr lang="en-TH"/>
          </a:p>
        </p:txBody>
      </p:sp>
      <p:sp>
        <p:nvSpPr>
          <p:cNvPr id="5"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27</a:t>
            </a:r>
            <a:endParaRPr lang="en-US" sz="1200" dirty="0"/>
          </a:p>
        </p:txBody>
      </p:sp>
      <p:sp>
        <p:nvSpPr>
          <p:cNvPr id="7" name="Text 5"/>
          <p:cNvSpPr/>
          <p:nvPr/>
        </p:nvSpPr>
        <p:spPr>
          <a:xfrm>
            <a:off x="558800" y="1511300"/>
            <a:ext cx="5283200" cy="254000"/>
          </a:xfrm>
          <a:prstGeom prst="rect">
            <a:avLst/>
          </a:prstGeom>
          <a:noFill/>
          <a:ln/>
        </p:spPr>
        <p:txBody>
          <a:bodyPr wrap="square" lIns="0" tIns="0" rIns="0" bIns="0" rtlCol="0" anchor="t"/>
          <a:lstStyle/>
          <a:p>
            <a:pPr marL="0" indent="0" algn="l">
              <a:lnSpc>
                <a:spcPct val="145000"/>
              </a:lnSpc>
              <a:buNone/>
            </a:pPr>
            <a:r>
              <a:rPr lang="en-US" sz="1300" kern="0" spc="130" dirty="0">
                <a:solidFill>
                  <a:srgbClr val="A87A2E"/>
                </a:solidFill>
                <a:latin typeface="IBM Plex Mono" pitchFamily="34" charset="0"/>
                <a:ea typeface="IBM Plex Mono" pitchFamily="34" charset="-122"/>
                <a:cs typeface="IBM Plex Mono" pitchFamily="34" charset="-120"/>
              </a:rPr>
              <a:t>THE GATES YOU RUN</a:t>
            </a:r>
            <a:endParaRPr lang="en-US" sz="1300" dirty="0"/>
          </a:p>
        </p:txBody>
      </p:sp>
      <p:sp>
        <p:nvSpPr>
          <p:cNvPr id="8" name="Text 6"/>
          <p:cNvSpPr/>
          <p:nvPr/>
        </p:nvSpPr>
        <p:spPr>
          <a:xfrm>
            <a:off x="558800" y="1917700"/>
            <a:ext cx="5283200" cy="127000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Intent, then spec, then plan, then build one task at a time, then ship.</a:t>
            </a:r>
            <a:endParaRPr lang="en-US" sz="1600" dirty="0"/>
          </a:p>
        </p:txBody>
      </p:sp>
      <p:sp>
        <p:nvSpPr>
          <p:cNvPr id="9" name="Text 7"/>
          <p:cNvSpPr/>
          <p:nvPr/>
        </p:nvSpPr>
        <p:spPr>
          <a:xfrm>
            <a:off x="558800" y="3162300"/>
            <a:ext cx="5283200" cy="127000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Five steps that fit in a two-hour lab and produce four short documents.</a:t>
            </a:r>
            <a:endParaRPr lang="en-US" sz="1600" dirty="0"/>
          </a:p>
        </p:txBody>
      </p:sp>
      <p:sp>
        <p:nvSpPr>
          <p:cNvPr id="10" name="Text 8"/>
          <p:cNvSpPr/>
          <p:nvPr/>
        </p:nvSpPr>
        <p:spPr>
          <a:xfrm>
            <a:off x="6350000" y="1511300"/>
            <a:ext cx="5283200" cy="254000"/>
          </a:xfrm>
          <a:prstGeom prst="rect">
            <a:avLst/>
          </a:prstGeom>
          <a:noFill/>
          <a:ln/>
        </p:spPr>
        <p:txBody>
          <a:bodyPr wrap="square" lIns="0" tIns="0" rIns="0" bIns="0" rtlCol="0" anchor="t"/>
          <a:lstStyle/>
          <a:p>
            <a:pPr marL="0" indent="0" algn="l">
              <a:lnSpc>
                <a:spcPct val="145000"/>
              </a:lnSpc>
              <a:buNone/>
            </a:pPr>
            <a:r>
              <a:rPr lang="en-US" sz="1300" kern="0" spc="130" dirty="0">
                <a:solidFill>
                  <a:srgbClr val="A87A2E"/>
                </a:solidFill>
                <a:latin typeface="IBM Plex Mono" pitchFamily="34" charset="0"/>
                <a:ea typeface="IBM Plex Mono" pitchFamily="34" charset="-122"/>
                <a:cs typeface="IBM Plex Mono" pitchFamily="34" charset="-120"/>
              </a:rPr>
              <a:t>WHAT IT IS CALLED ELSEWHERE</a:t>
            </a:r>
            <a:endParaRPr lang="en-US" sz="1300" dirty="0"/>
          </a:p>
        </p:txBody>
      </p:sp>
      <p:sp>
        <p:nvSpPr>
          <p:cNvPr id="11" name="Text 9"/>
          <p:cNvSpPr/>
          <p:nvPr/>
        </p:nvSpPr>
        <p:spPr>
          <a:xfrm>
            <a:off x="6350000" y="1917700"/>
            <a:ext cx="5283200" cy="127000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Requirements, design, implementation, testing, deployment — the software lifecycle, taught since the 1970s.</a:t>
            </a:r>
            <a:endParaRPr lang="en-US" sz="1600" dirty="0"/>
          </a:p>
        </p:txBody>
      </p:sp>
      <p:sp>
        <p:nvSpPr>
          <p:cNvPr id="12" name="Text 10"/>
          <p:cNvSpPr/>
          <p:nvPr/>
        </p:nvSpPr>
        <p:spPr>
          <a:xfrm>
            <a:off x="6350000" y="3162300"/>
            <a:ext cx="5283200" cy="127000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The agent needs these written down for the same reason a team of people does. Neither can read your mind.</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SECTION 04</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The words used in industry</a:t>
            </a:r>
            <a:endParaRPr lang="en-US" sz="2800" dirty="0"/>
          </a:p>
        </p:txBody>
      </p:sp>
      <p:sp>
        <p:nvSpPr>
          <p:cNvPr id="4" name="Shape 2"/>
          <p:cNvSpPr/>
          <p:nvPr/>
        </p:nvSpPr>
        <p:spPr>
          <a:xfrm>
            <a:off x="558800" y="1181100"/>
            <a:ext cx="11074400" cy="6350"/>
          </a:xfrm>
          <a:prstGeom prst="rect">
            <a:avLst/>
          </a:prstGeom>
          <a:solidFill>
            <a:srgbClr val="E1DED7"/>
          </a:solidFill>
          <a:ln/>
        </p:spPr>
        <p:txBody>
          <a:bodyPr/>
          <a:lstStyle/>
          <a:p>
            <a:endParaRPr lang="en-TH"/>
          </a:p>
        </p:txBody>
      </p:sp>
      <p:sp>
        <p:nvSpPr>
          <p:cNvPr id="5"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28</a:t>
            </a:r>
            <a:endParaRPr lang="en-US" sz="1200" dirty="0"/>
          </a:p>
        </p:txBody>
      </p:sp>
      <p:sp>
        <p:nvSpPr>
          <p:cNvPr id="7" name="Text 5"/>
          <p:cNvSpPr/>
          <p:nvPr/>
        </p:nvSpPr>
        <p:spPr>
          <a:xfrm>
            <a:off x="558800" y="1511300"/>
            <a:ext cx="190500" cy="317500"/>
          </a:xfrm>
          <a:prstGeom prst="rect">
            <a:avLst/>
          </a:prstGeom>
          <a:noFill/>
          <a:ln/>
        </p:spPr>
        <p:txBody>
          <a:bodyPr wrap="square" lIns="0" tIns="0" rIns="0" bIns="0" rtlCol="0" anchor="t"/>
          <a:lstStyle/>
          <a:p>
            <a:pPr marL="0" indent="0" algn="l">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8" name="Text 6"/>
          <p:cNvSpPr/>
          <p:nvPr/>
        </p:nvSpPr>
        <p:spPr>
          <a:xfrm>
            <a:off x="927100" y="1511300"/>
            <a:ext cx="9156700" cy="753110"/>
          </a:xfrm>
          <a:prstGeom prst="rect">
            <a:avLst/>
          </a:prstGeom>
          <a:noFill/>
          <a:ln/>
        </p:spPr>
        <p:txBody>
          <a:bodyPr wrap="square" lIns="0" tIns="0" rIns="0" bIns="0" rtlCol="0" anchor="t"/>
          <a:lstStyle/>
          <a:p>
            <a:pPr marL="0" indent="0" algn="l">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Intent. </a:t>
            </a:r>
            <a:r>
              <a:rPr lang="en-US" sz="1700" dirty="0">
                <a:solidFill>
                  <a:srgbClr val="332F2A"/>
                </a:solidFill>
                <a:latin typeface="Libre Franklin" pitchFamily="34" charset="0"/>
                <a:ea typeface="Libre Franklin" pitchFamily="34" charset="-122"/>
                <a:cs typeface="Libre Franklin" pitchFamily="34" charset="-120"/>
              </a:rPr>
              <a:t>The business goal, before anyone has decided how to build it. Your Gate 1.</a:t>
            </a:r>
            <a:endParaRPr lang="en-US" sz="1700" dirty="0"/>
          </a:p>
        </p:txBody>
      </p:sp>
      <p:sp>
        <p:nvSpPr>
          <p:cNvPr id="9" name="Text 7"/>
          <p:cNvSpPr/>
          <p:nvPr/>
        </p:nvSpPr>
        <p:spPr>
          <a:xfrm>
            <a:off x="558800" y="2391410"/>
            <a:ext cx="190500" cy="317500"/>
          </a:xfrm>
          <a:prstGeom prst="rect">
            <a:avLst/>
          </a:prstGeom>
          <a:noFill/>
          <a:ln/>
        </p:spPr>
        <p:txBody>
          <a:bodyPr wrap="square" lIns="0" tIns="0" rIns="0" bIns="0" rtlCol="0" anchor="t"/>
          <a:lstStyle/>
          <a:p>
            <a:pPr marL="0" indent="0" algn="l">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0" name="Text 8"/>
          <p:cNvSpPr/>
          <p:nvPr/>
        </p:nvSpPr>
        <p:spPr>
          <a:xfrm>
            <a:off x="927100" y="2391410"/>
            <a:ext cx="9156700" cy="753110"/>
          </a:xfrm>
          <a:prstGeom prst="rect">
            <a:avLst/>
          </a:prstGeom>
          <a:noFill/>
          <a:ln/>
        </p:spPr>
        <p:txBody>
          <a:bodyPr wrap="square" lIns="0" tIns="0" rIns="0" bIns="0" rtlCol="0" anchor="t"/>
          <a:lstStyle/>
          <a:p>
            <a:pPr marL="0" indent="0" algn="l">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Units. </a:t>
            </a:r>
            <a:r>
              <a:rPr lang="en-US" sz="1700" dirty="0">
                <a:solidFill>
                  <a:srgbClr val="332F2A"/>
                </a:solidFill>
                <a:latin typeface="Libre Franklin" pitchFamily="34" charset="0"/>
                <a:ea typeface="Libre Franklin" pitchFamily="34" charset="-122"/>
                <a:cs typeface="Libre Franklin" pitchFamily="34" charset="-120"/>
              </a:rPr>
              <a:t>The independent pieces an intent breaks into. Next week each of you owns one.</a:t>
            </a:r>
            <a:endParaRPr lang="en-US" sz="1700" dirty="0"/>
          </a:p>
        </p:txBody>
      </p:sp>
      <p:sp>
        <p:nvSpPr>
          <p:cNvPr id="11" name="Text 9"/>
          <p:cNvSpPr/>
          <p:nvPr/>
        </p:nvSpPr>
        <p:spPr>
          <a:xfrm>
            <a:off x="558800" y="3271520"/>
            <a:ext cx="190500" cy="317500"/>
          </a:xfrm>
          <a:prstGeom prst="rect">
            <a:avLst/>
          </a:prstGeom>
          <a:noFill/>
          <a:ln/>
        </p:spPr>
        <p:txBody>
          <a:bodyPr wrap="square" lIns="0" tIns="0" rIns="0" bIns="0" rtlCol="0" anchor="t"/>
          <a:lstStyle/>
          <a:p>
            <a:pPr marL="0" indent="0" algn="l">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2" name="Text 10"/>
          <p:cNvSpPr/>
          <p:nvPr/>
        </p:nvSpPr>
        <p:spPr>
          <a:xfrm>
            <a:off x="927100" y="3271520"/>
            <a:ext cx="9156700" cy="753110"/>
          </a:xfrm>
          <a:prstGeom prst="rect">
            <a:avLst/>
          </a:prstGeom>
          <a:noFill/>
          <a:ln/>
        </p:spPr>
        <p:txBody>
          <a:bodyPr wrap="square" lIns="0" tIns="0" rIns="0" bIns="0" rtlCol="0" anchor="t"/>
          <a:lstStyle/>
          <a:p>
            <a:pPr marL="0" indent="0" algn="l">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Bolts. </a:t>
            </a:r>
            <a:r>
              <a:rPr lang="en-US" sz="1700" dirty="0">
                <a:solidFill>
                  <a:srgbClr val="332F2A"/>
                </a:solidFill>
                <a:latin typeface="Libre Franklin" pitchFamily="34" charset="0"/>
                <a:ea typeface="Libre Franklin" pitchFamily="34" charset="-122"/>
                <a:cs typeface="Libre Franklin" pitchFamily="34" charset="-120"/>
              </a:rPr>
              <a:t>Build cycles measured in hours rather than the two to six weeks of a sprint.</a:t>
            </a:r>
            <a:endParaRPr lang="en-US" sz="1700" dirty="0"/>
          </a:p>
        </p:txBody>
      </p:sp>
      <p:sp>
        <p:nvSpPr>
          <p:cNvPr id="13" name="Text 11"/>
          <p:cNvSpPr/>
          <p:nvPr/>
        </p:nvSpPr>
        <p:spPr>
          <a:xfrm>
            <a:off x="558800" y="4151630"/>
            <a:ext cx="190500" cy="317500"/>
          </a:xfrm>
          <a:prstGeom prst="rect">
            <a:avLst/>
          </a:prstGeom>
          <a:noFill/>
          <a:ln/>
        </p:spPr>
        <p:txBody>
          <a:bodyPr wrap="square" lIns="0" tIns="0" rIns="0" bIns="0" rtlCol="0" anchor="t"/>
          <a:lstStyle/>
          <a:p>
            <a:pPr marL="0" indent="0" algn="l">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4" name="Text 12"/>
          <p:cNvSpPr/>
          <p:nvPr/>
        </p:nvSpPr>
        <p:spPr>
          <a:xfrm>
            <a:off x="927100" y="4151630"/>
            <a:ext cx="9156700" cy="753110"/>
          </a:xfrm>
          <a:prstGeom prst="rect">
            <a:avLst/>
          </a:prstGeom>
          <a:noFill/>
          <a:ln/>
        </p:spPr>
        <p:txBody>
          <a:bodyPr wrap="square" lIns="0" tIns="0" rIns="0" bIns="0" rtlCol="0" anchor="t"/>
          <a:lstStyle/>
          <a:p>
            <a:pPr marL="0" indent="0" algn="l">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From AI-DLC, published by AWS in 2025. Its one rule: the AI proposes, and a human approves.</a:t>
            </a:r>
            <a:endParaRPr lang="en-US" sz="1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2EC"/>
        </a:solidFill>
        <a:effectLst/>
      </p:bgPr>
    </p:bg>
    <p:spTree>
      <p:nvGrpSpPr>
        <p:cNvPr id="1" name=""/>
        <p:cNvGrpSpPr/>
        <p:nvPr/>
      </p:nvGrpSpPr>
      <p:grpSpPr>
        <a:xfrm>
          <a:off x="0" y="0"/>
          <a:ext cx="0" cy="0"/>
          <a:chOff x="0" y="0"/>
          <a:chExt cx="0" cy="0"/>
        </a:xfrm>
      </p:grpSpPr>
      <p:sp>
        <p:nvSpPr>
          <p:cNvPr id="2" name="Text 0"/>
          <p:cNvSpPr/>
          <p:nvPr/>
        </p:nvSpPr>
        <p:spPr>
          <a:xfrm>
            <a:off x="558800" y="2286000"/>
            <a:ext cx="11074400" cy="254000"/>
          </a:xfrm>
          <a:prstGeom prst="rect">
            <a:avLst/>
          </a:prstGeom>
          <a:noFill/>
          <a:ln/>
        </p:spPr>
        <p:txBody>
          <a:bodyPr wrap="square" lIns="0" tIns="0" rIns="0" bIns="0" rtlCol="0" anchor="t"/>
          <a:lstStyle/>
          <a:p>
            <a:pPr marL="0" indent="0" algn="l">
              <a:lnSpc>
                <a:spcPct val="145000"/>
              </a:lnSpc>
              <a:buNone/>
            </a:pPr>
            <a:r>
              <a:rPr lang="en-US" sz="1300" kern="0" spc="182" dirty="0">
                <a:solidFill>
                  <a:srgbClr val="A87A2E"/>
                </a:solidFill>
                <a:latin typeface="IBM Plex Mono" pitchFamily="34" charset="0"/>
                <a:ea typeface="IBM Plex Mono" pitchFamily="34" charset="-122"/>
                <a:cs typeface="IBM Plex Mono" pitchFamily="34" charset="-120"/>
              </a:rPr>
              <a:t>SECTION 05</a:t>
            </a:r>
            <a:endParaRPr lang="en-US" sz="1300" dirty="0"/>
          </a:p>
        </p:txBody>
      </p:sp>
      <p:sp>
        <p:nvSpPr>
          <p:cNvPr id="3" name="Text 1"/>
          <p:cNvSpPr/>
          <p:nvPr/>
        </p:nvSpPr>
        <p:spPr>
          <a:xfrm>
            <a:off x="558800" y="2667000"/>
            <a:ext cx="8255000" cy="1206500"/>
          </a:xfrm>
          <a:prstGeom prst="rect">
            <a:avLst/>
          </a:prstGeom>
          <a:noFill/>
          <a:ln/>
        </p:spPr>
        <p:txBody>
          <a:bodyPr wrap="square" lIns="0" tIns="0" rIns="0" bIns="0" rtlCol="0" anchor="t"/>
          <a:lstStyle/>
          <a:p>
            <a:pPr marL="0" indent="0" algn="l">
              <a:lnSpc>
                <a:spcPct val="108000"/>
              </a:lnSpc>
              <a:buNone/>
            </a:pPr>
            <a:r>
              <a:rPr lang="en-US" sz="4000" b="1" dirty="0">
                <a:solidFill>
                  <a:srgbClr val="332F2A"/>
                </a:solidFill>
                <a:latin typeface="Libre Franklin" pitchFamily="34" charset="0"/>
                <a:ea typeface="Libre Franklin" pitchFamily="34" charset="-122"/>
                <a:cs typeface="Libre Franklin" pitchFamily="34" charset="-120"/>
              </a:rPr>
              <a:t>Lab 1 — the same app, done properly</a:t>
            </a:r>
            <a:endParaRPr lang="en-US" sz="4000" dirty="0"/>
          </a:p>
        </p:txBody>
      </p:sp>
      <p:sp>
        <p:nvSpPr>
          <p:cNvPr id="4" name="Text 2"/>
          <p:cNvSpPr/>
          <p:nvPr/>
        </p:nvSpPr>
        <p:spPr>
          <a:xfrm>
            <a:off x="558800" y="4064000"/>
            <a:ext cx="6985000" cy="635000"/>
          </a:xfrm>
          <a:prstGeom prst="rect">
            <a:avLst/>
          </a:prstGeom>
          <a:noFill/>
          <a:ln/>
        </p:spPr>
        <p:txBody>
          <a:bodyPr wrap="square" lIns="0" tIns="0" rIns="0" bIns="0" rtlCol="0" anchor="t"/>
          <a:lstStyle/>
          <a:p>
            <a:pPr marL="0" indent="0" algn="l">
              <a:lnSpc>
                <a:spcPct val="140000"/>
              </a:lnSpc>
              <a:buNone/>
            </a:pPr>
            <a:r>
              <a:rPr lang="en-US" sz="1700" dirty="0">
                <a:solidFill>
                  <a:srgbClr val="77726A"/>
                </a:solidFill>
                <a:latin typeface="Libre Franklin" pitchFamily="34" charset="0"/>
                <a:ea typeface="Libre Franklin" pitchFamily="34" charset="-122"/>
                <a:cs typeface="Libre Franklin" pitchFamily="34" charset="-120"/>
              </a:rPr>
              <a:t>Delete the warm-up and build it again through the gates. Instructions in labs/LAB1.md. 70 minutes.</a:t>
            </a:r>
            <a:endParaRPr lang="en-US" sz="1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WORKSHOP 05</a:t>
            </a:r>
            <a:endParaRPr lang="en-US" sz="1200" dirty="0"/>
          </a:p>
        </p:txBody>
      </p:sp>
      <p:pic>
        <p:nvPicPr>
          <p:cNvPr id="3" name="Image 0" descr="icons/python.png"/>
          <p:cNvPicPr>
            <a:picLocks noChangeAspect="1"/>
          </p:cNvPicPr>
          <p:nvPr/>
        </p:nvPicPr>
        <p:blipFill>
          <a:blip r:embed="rId3"/>
          <a:stretch>
            <a:fillRect/>
          </a:stretch>
        </p:blipFill>
        <p:spPr>
          <a:xfrm>
            <a:off x="11087100" y="361950"/>
            <a:ext cx="203200" cy="203200"/>
          </a:xfrm>
          <a:prstGeom prst="rect">
            <a:avLst/>
          </a:prstGeom>
        </p:spPr>
      </p:pic>
      <p:pic>
        <p:nvPicPr>
          <p:cNvPr id="4" name="Image 1" descr="icons/pytest.png"/>
          <p:cNvPicPr>
            <a:picLocks noChangeAspect="1"/>
          </p:cNvPicPr>
          <p:nvPr/>
        </p:nvPicPr>
        <p:blipFill>
          <a:blip r:embed="rId4"/>
          <a:stretch>
            <a:fillRect/>
          </a:stretch>
        </p:blipFill>
        <p:spPr>
          <a:xfrm>
            <a:off x="11430000" y="361950"/>
            <a:ext cx="203200" cy="203200"/>
          </a:xfrm>
          <a:prstGeom prst="rect">
            <a:avLst/>
          </a:prstGeom>
        </p:spPr>
      </p:pic>
      <p:sp>
        <p:nvSpPr>
          <p:cNvPr id="5"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What is already in your repository</a:t>
            </a:r>
            <a:endParaRPr lang="en-US" sz="2800" dirty="0"/>
          </a:p>
        </p:txBody>
      </p:sp>
      <p:sp>
        <p:nvSpPr>
          <p:cNvPr id="6" name="Shape 2"/>
          <p:cNvSpPr/>
          <p:nvPr/>
        </p:nvSpPr>
        <p:spPr>
          <a:xfrm>
            <a:off x="558800" y="1181100"/>
            <a:ext cx="11074400" cy="6350"/>
          </a:xfrm>
          <a:prstGeom prst="rect">
            <a:avLst/>
          </a:prstGeom>
          <a:solidFill>
            <a:srgbClr val="E1DED7"/>
          </a:solidFill>
          <a:ln/>
        </p:spPr>
        <p:txBody>
          <a:bodyPr/>
          <a:lstStyle/>
          <a:p>
            <a:endParaRPr lang="en-TH"/>
          </a:p>
        </p:txBody>
      </p:sp>
      <p:sp>
        <p:nvSpPr>
          <p:cNvPr id="7"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8"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30</a:t>
            </a:r>
            <a:endParaRPr lang="en-US" sz="1200" dirty="0"/>
          </a:p>
        </p:txBody>
      </p:sp>
      <p:sp>
        <p:nvSpPr>
          <p:cNvPr id="9" name="Shape 5"/>
          <p:cNvSpPr/>
          <p:nvPr/>
        </p:nvSpPr>
        <p:spPr>
          <a:xfrm>
            <a:off x="558800" y="1511300"/>
            <a:ext cx="6517030" cy="4572000"/>
          </a:xfrm>
          <a:prstGeom prst="rect">
            <a:avLst/>
          </a:prstGeom>
          <a:solidFill>
            <a:srgbClr val="F5F2EC"/>
          </a:solidFill>
          <a:ln w="6350">
            <a:solidFill>
              <a:srgbClr val="E1DED7"/>
            </a:solidFill>
            <a:prstDash val="solid"/>
          </a:ln>
        </p:spPr>
        <p:txBody>
          <a:bodyPr/>
          <a:lstStyle/>
          <a:p>
            <a:endParaRPr lang="en-TH"/>
          </a:p>
        </p:txBody>
      </p:sp>
      <p:sp>
        <p:nvSpPr>
          <p:cNvPr id="10" name="Text 6"/>
          <p:cNvSpPr/>
          <p:nvPr/>
        </p:nvSpPr>
        <p:spPr>
          <a:xfrm>
            <a:off x="800100" y="1727200"/>
            <a:ext cx="6034430" cy="4140200"/>
          </a:xfrm>
          <a:prstGeom prst="rect">
            <a:avLst/>
          </a:prstGeom>
          <a:noFill/>
          <a:ln/>
        </p:spPr>
        <p:txBody>
          <a:bodyPr wrap="square" lIns="0" tIns="0" rIns="0" bIns="0" rtlCol="0" anchor="t"/>
          <a:lstStyle/>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app.py             run this</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pages/             ONE FILE per feature</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core/spectrum.py   &lt;- you build this</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core/llm.py        AI slot, empty till S3</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tests/             &lt;- your specification</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aidlc/             the four gate documents</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.clinerules        rules your agent obeys</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.clinerules.gates  the strict version</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.env               your keys. never commit</a:t>
            </a:r>
            <a:endParaRPr lang="en-US" sz="1400" dirty="0"/>
          </a:p>
        </p:txBody>
      </p:sp>
      <p:sp>
        <p:nvSpPr>
          <p:cNvPr id="11" name="Text 7"/>
          <p:cNvSpPr/>
          <p:nvPr/>
        </p:nvSpPr>
        <p:spPr>
          <a:xfrm>
            <a:off x="7431430" y="1511300"/>
            <a:ext cx="4201770" cy="189484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Three minutes reading this saves you twenty later. The one to open now is .clinerules — plain English in a plain file, and your agent obeys it before every single request.</a:t>
            </a:r>
            <a:endParaRPr lang="en-US" sz="1600" dirty="0"/>
          </a:p>
        </p:txBody>
      </p:sp>
      <p:sp>
        <p:nvSpPr>
          <p:cNvPr id="12" name="Text 8"/>
          <p:cNvSpPr/>
          <p:nvPr/>
        </p:nvSpPr>
        <p:spPr>
          <a:xfrm>
            <a:off x="7431430" y="3533140"/>
            <a:ext cx="4201770" cy="130556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Leave tests/ shut for the moment. You meet it at Gate 2, which is the point where it does the most good.</a:t>
            </a:r>
            <a:endParaRPr lang="en-US" sz="1600" dirty="0"/>
          </a:p>
        </p:txBody>
      </p:sp>
      <p:sp>
        <p:nvSpPr>
          <p:cNvPr id="13" name="Shape 9"/>
          <p:cNvSpPr/>
          <p:nvPr/>
        </p:nvSpPr>
        <p:spPr>
          <a:xfrm>
            <a:off x="7431430" y="5384800"/>
            <a:ext cx="12700" cy="698500"/>
          </a:xfrm>
          <a:prstGeom prst="rect">
            <a:avLst/>
          </a:prstGeom>
          <a:solidFill>
            <a:srgbClr val="A87A2E"/>
          </a:solidFill>
          <a:ln/>
        </p:spPr>
        <p:txBody>
          <a:bodyPr/>
          <a:lstStyle/>
          <a:p>
            <a:endParaRPr lang="en-TH"/>
          </a:p>
        </p:txBody>
      </p:sp>
      <p:sp>
        <p:nvSpPr>
          <p:cNvPr id="14" name="Text 10"/>
          <p:cNvSpPr/>
          <p:nvPr/>
        </p:nvSpPr>
        <p:spPr>
          <a:xfrm>
            <a:off x="7596530" y="5416550"/>
            <a:ext cx="4036670" cy="698500"/>
          </a:xfrm>
          <a:prstGeom prst="rect">
            <a:avLst/>
          </a:prstGeom>
          <a:noFill/>
          <a:ln/>
        </p:spPr>
        <p:txBody>
          <a:bodyPr wrap="square" lIns="0" tIns="0" rIns="0" bIns="0" rtlCol="0" anchor="t"/>
          <a:lstStyle/>
          <a:p>
            <a:pPr marL="0" indent="0" algn="l">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One feature, one file. In Session 2 that is what lets four people build at once.</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WORKSHOP 05</a:t>
            </a:r>
            <a:endParaRPr lang="en-US" sz="1200" dirty="0"/>
          </a:p>
        </p:txBody>
      </p:sp>
      <p:pic>
        <p:nvPicPr>
          <p:cNvPr id="3" name="Image 0" descr="icons/streamlit.png"/>
          <p:cNvPicPr>
            <a:picLocks noChangeAspect="1"/>
          </p:cNvPicPr>
          <p:nvPr/>
        </p:nvPicPr>
        <p:blipFill>
          <a:blip r:embed="rId3"/>
          <a:stretch>
            <a:fillRect/>
          </a:stretch>
        </p:blipFill>
        <p:spPr>
          <a:xfrm>
            <a:off x="11430000" y="361950"/>
            <a:ext cx="203200" cy="203200"/>
          </a:xfrm>
          <a:prstGeom prst="rect">
            <a:avLst/>
          </a:prstGeom>
        </p:spPr>
      </p:pic>
      <p:sp>
        <p:nvSpPr>
          <p:cNvPr id="4"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What you are building</a:t>
            </a:r>
            <a:endParaRPr lang="en-US" sz="2800" dirty="0"/>
          </a:p>
        </p:txBody>
      </p:sp>
      <p:sp>
        <p:nvSpPr>
          <p:cNvPr id="5" name="Shape 2"/>
          <p:cNvSpPr/>
          <p:nvPr/>
        </p:nvSpPr>
        <p:spPr>
          <a:xfrm>
            <a:off x="558800" y="1181100"/>
            <a:ext cx="11074400" cy="6350"/>
          </a:xfrm>
          <a:prstGeom prst="rect">
            <a:avLst/>
          </a:prstGeom>
          <a:solidFill>
            <a:srgbClr val="E1DED7"/>
          </a:solidFill>
          <a:ln/>
        </p:spPr>
        <p:txBody>
          <a:bodyPr/>
          <a:lstStyle/>
          <a:p>
            <a:endParaRPr lang="en-TH"/>
          </a:p>
        </p:txBody>
      </p:sp>
      <p:sp>
        <p:nvSpPr>
          <p:cNvPr id="6"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7"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31</a:t>
            </a:r>
            <a:endParaRPr lang="en-US" sz="1200" dirty="0"/>
          </a:p>
        </p:txBody>
      </p:sp>
      <p:pic>
        <p:nvPicPr>
          <p:cNvPr id="8" name="Image 1" descr="figures/fig-spectrum.png"/>
          <p:cNvPicPr>
            <a:picLocks noChangeAspect="1"/>
          </p:cNvPicPr>
          <p:nvPr/>
        </p:nvPicPr>
        <p:blipFill>
          <a:blip r:embed="rId4"/>
          <a:srcRect/>
          <a:stretch/>
        </p:blipFill>
        <p:spPr>
          <a:xfrm>
            <a:off x="558800" y="1511300"/>
            <a:ext cx="6134100" cy="4572000"/>
          </a:xfrm>
          <a:prstGeom prst="rect">
            <a:avLst/>
          </a:prstGeom>
        </p:spPr>
      </p:pic>
      <p:sp>
        <p:nvSpPr>
          <p:cNvPr id="9" name="Text 5"/>
          <p:cNvSpPr/>
          <p:nvPr/>
        </p:nvSpPr>
        <p:spPr>
          <a:xfrm>
            <a:off x="7099300" y="1511300"/>
            <a:ext cx="4533900" cy="130556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Two sine waves in, and a chart that finds them again: spikes at exactly the frequencies you chose, at exactly the heights you set.</a:t>
            </a:r>
            <a:endParaRPr lang="en-US" sz="1600" dirty="0"/>
          </a:p>
        </p:txBody>
      </p:sp>
      <p:sp>
        <p:nvSpPr>
          <p:cNvPr id="10" name="Text 6"/>
          <p:cNvSpPr/>
          <p:nvPr/>
        </p:nvSpPr>
        <p:spPr>
          <a:xfrm>
            <a:off x="7099300" y="2943860"/>
            <a:ext cx="4533900" cy="130556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The heights are the check. A spectrum can put every spike in the right place and still be wrong by a factor of five hundred.</a:t>
            </a:r>
            <a:endParaRPr lang="en-US" sz="1600" dirty="0"/>
          </a:p>
        </p:txBody>
      </p:sp>
      <p:sp>
        <p:nvSpPr>
          <p:cNvPr id="11" name="Text 7"/>
          <p:cNvSpPr/>
          <p:nvPr/>
        </p:nvSpPr>
        <p:spPr>
          <a:xfrm>
            <a:off x="7099300" y="5956300"/>
            <a:ext cx="45339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Fig. 6 — output of pages/2_Spectrum_Analyzer.py</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WORKSHOP 05</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What goes in, what must come out</a:t>
            </a:r>
            <a:endParaRPr lang="en-US" sz="2800" dirty="0"/>
          </a:p>
        </p:txBody>
      </p:sp>
      <p:sp>
        <p:nvSpPr>
          <p:cNvPr id="4" name="Shape 2"/>
          <p:cNvSpPr/>
          <p:nvPr/>
        </p:nvSpPr>
        <p:spPr>
          <a:xfrm>
            <a:off x="558800" y="1181100"/>
            <a:ext cx="11074400" cy="6350"/>
          </a:xfrm>
          <a:prstGeom prst="rect">
            <a:avLst/>
          </a:prstGeom>
          <a:solidFill>
            <a:srgbClr val="E1DED7"/>
          </a:solidFill>
          <a:ln/>
        </p:spPr>
        <p:txBody>
          <a:bodyPr/>
          <a:lstStyle/>
          <a:p>
            <a:endParaRPr lang="en-TH"/>
          </a:p>
        </p:txBody>
      </p:sp>
      <p:sp>
        <p:nvSpPr>
          <p:cNvPr id="5"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32</a:t>
            </a:r>
            <a:endParaRPr lang="en-US" sz="1200" dirty="0"/>
          </a:p>
        </p:txBody>
      </p:sp>
      <p:sp>
        <p:nvSpPr>
          <p:cNvPr id="7" name="Text 5"/>
          <p:cNvSpPr/>
          <p:nvPr/>
        </p:nvSpPr>
        <p:spPr>
          <a:xfrm>
            <a:off x="558800" y="1511300"/>
            <a:ext cx="5283200" cy="254000"/>
          </a:xfrm>
          <a:prstGeom prst="rect">
            <a:avLst/>
          </a:prstGeom>
          <a:noFill/>
          <a:ln/>
        </p:spPr>
        <p:txBody>
          <a:bodyPr wrap="square" lIns="0" tIns="0" rIns="0" bIns="0" rtlCol="0" anchor="t"/>
          <a:lstStyle/>
          <a:p>
            <a:pPr marL="0" indent="0" algn="l">
              <a:lnSpc>
                <a:spcPct val="145000"/>
              </a:lnSpc>
              <a:buNone/>
            </a:pPr>
            <a:r>
              <a:rPr lang="en-US" sz="1300" kern="0" spc="130" dirty="0">
                <a:solidFill>
                  <a:srgbClr val="A87A2E"/>
                </a:solidFill>
                <a:latin typeface="IBM Plex Mono" pitchFamily="34" charset="0"/>
                <a:ea typeface="IBM Plex Mono" pitchFamily="34" charset="-122"/>
                <a:cs typeface="IBM Plex Mono" pitchFamily="34" charset="-120"/>
              </a:rPr>
              <a:t>INPUT</a:t>
            </a:r>
            <a:endParaRPr lang="en-US" sz="1300" dirty="0"/>
          </a:p>
        </p:txBody>
      </p:sp>
      <p:sp>
        <p:nvSpPr>
          <p:cNvPr id="8" name="Text 6"/>
          <p:cNvSpPr/>
          <p:nvPr/>
        </p:nvSpPr>
        <p:spPr>
          <a:xfrm>
            <a:off x="558800" y="1917700"/>
            <a:ext cx="5283200" cy="127000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Two tones, each with a frequency in hertz and an amplitude. A sampling rate in samples per second, and a duration.</a:t>
            </a:r>
            <a:endParaRPr lang="en-US" sz="1600" dirty="0"/>
          </a:p>
        </p:txBody>
      </p:sp>
      <p:sp>
        <p:nvSpPr>
          <p:cNvPr id="9" name="Text 7"/>
          <p:cNvSpPr/>
          <p:nvPr/>
        </p:nvSpPr>
        <p:spPr>
          <a:xfrm>
            <a:off x="558800" y="3162300"/>
            <a:ext cx="5283200" cy="127000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These must work: 50 Hz at 1.0 and 120 Hz at 0.5, sampled at 1000 for one second. They are the numbers the tests use.</a:t>
            </a:r>
            <a:endParaRPr lang="en-US" sz="1600" dirty="0"/>
          </a:p>
        </p:txBody>
      </p:sp>
      <p:sp>
        <p:nvSpPr>
          <p:cNvPr id="10" name="Text 8"/>
          <p:cNvSpPr/>
          <p:nvPr/>
        </p:nvSpPr>
        <p:spPr>
          <a:xfrm>
            <a:off x="6350000" y="1511300"/>
            <a:ext cx="5283200" cy="254000"/>
          </a:xfrm>
          <a:prstGeom prst="rect">
            <a:avLst/>
          </a:prstGeom>
          <a:noFill/>
          <a:ln/>
        </p:spPr>
        <p:txBody>
          <a:bodyPr wrap="square" lIns="0" tIns="0" rIns="0" bIns="0" rtlCol="0" anchor="t"/>
          <a:lstStyle/>
          <a:p>
            <a:pPr marL="0" indent="0" algn="l">
              <a:lnSpc>
                <a:spcPct val="145000"/>
              </a:lnSpc>
              <a:buNone/>
            </a:pPr>
            <a:r>
              <a:rPr lang="en-US" sz="1300" kern="0" spc="130" dirty="0">
                <a:solidFill>
                  <a:srgbClr val="A87A2E"/>
                </a:solidFill>
                <a:latin typeface="IBM Plex Mono" pitchFamily="34" charset="0"/>
                <a:ea typeface="IBM Plex Mono" pitchFamily="34" charset="-122"/>
                <a:cs typeface="IBM Plex Mono" pitchFamily="34" charset="-120"/>
              </a:rPr>
              <a:t>OUTPUT</a:t>
            </a:r>
            <a:endParaRPr lang="en-US" sz="1300" dirty="0"/>
          </a:p>
        </p:txBody>
      </p:sp>
      <p:sp>
        <p:nvSpPr>
          <p:cNvPr id="11" name="Text 9"/>
          <p:cNvSpPr/>
          <p:nvPr/>
        </p:nvSpPr>
        <p:spPr>
          <a:xfrm>
            <a:off x="6350000" y="1917700"/>
            <a:ext cx="5283200" cy="127000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The combined waveform against time, and beside it the spectrum: one spike per tone, at the right frequency and at the right height.</a:t>
            </a:r>
            <a:endParaRPr lang="en-US" sz="1600" dirty="0"/>
          </a:p>
        </p:txBody>
      </p:sp>
      <p:sp>
        <p:nvSpPr>
          <p:cNvPr id="12" name="Text 10"/>
          <p:cNvSpPr/>
          <p:nvPr/>
        </p:nvSpPr>
        <p:spPr>
          <a:xfrm>
            <a:off x="6350000" y="3162300"/>
            <a:ext cx="5283200" cy="127000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Plus the strongest frequency printed as a number. Seven tests in tests/test_spectrum.py decide whether any of it is right.</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WORKSHOP 05</a:t>
            </a:r>
            <a:endParaRPr lang="en-US" sz="1200" dirty="0"/>
          </a:p>
        </p:txBody>
      </p:sp>
      <p:pic>
        <p:nvPicPr>
          <p:cNvPr id="3" name="Image 0" descr="icons/pytest.png"/>
          <p:cNvPicPr>
            <a:picLocks noChangeAspect="1"/>
          </p:cNvPicPr>
          <p:nvPr/>
        </p:nvPicPr>
        <p:blipFill>
          <a:blip r:embed="rId3"/>
          <a:stretch>
            <a:fillRect/>
          </a:stretch>
        </p:blipFill>
        <p:spPr>
          <a:xfrm>
            <a:off x="11430000" y="361950"/>
            <a:ext cx="203200" cy="203200"/>
          </a:xfrm>
          <a:prstGeom prst="rect">
            <a:avLst/>
          </a:prstGeom>
        </p:spPr>
      </p:pic>
      <p:sp>
        <p:nvSpPr>
          <p:cNvPr id="4"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Your customer wrote the tests</a:t>
            </a:r>
            <a:endParaRPr lang="en-US" sz="2800" dirty="0"/>
          </a:p>
        </p:txBody>
      </p:sp>
      <p:sp>
        <p:nvSpPr>
          <p:cNvPr id="5" name="Shape 2"/>
          <p:cNvSpPr/>
          <p:nvPr/>
        </p:nvSpPr>
        <p:spPr>
          <a:xfrm>
            <a:off x="558800" y="1181100"/>
            <a:ext cx="11074400" cy="6350"/>
          </a:xfrm>
          <a:prstGeom prst="rect">
            <a:avLst/>
          </a:prstGeom>
          <a:solidFill>
            <a:srgbClr val="E1DED7"/>
          </a:solidFill>
          <a:ln/>
        </p:spPr>
        <p:txBody>
          <a:bodyPr/>
          <a:lstStyle/>
          <a:p>
            <a:endParaRPr lang="en-TH"/>
          </a:p>
        </p:txBody>
      </p:sp>
      <p:sp>
        <p:nvSpPr>
          <p:cNvPr id="6"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7"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33</a:t>
            </a:r>
            <a:endParaRPr lang="en-US" sz="1200" dirty="0"/>
          </a:p>
        </p:txBody>
      </p:sp>
      <p:sp>
        <p:nvSpPr>
          <p:cNvPr id="8" name="Shape 5"/>
          <p:cNvSpPr/>
          <p:nvPr/>
        </p:nvSpPr>
        <p:spPr>
          <a:xfrm>
            <a:off x="558800" y="1511300"/>
            <a:ext cx="6517030" cy="4572000"/>
          </a:xfrm>
          <a:prstGeom prst="rect">
            <a:avLst/>
          </a:prstGeom>
          <a:solidFill>
            <a:srgbClr val="F5F2EC"/>
          </a:solidFill>
          <a:ln w="6350">
            <a:solidFill>
              <a:srgbClr val="E1DED7"/>
            </a:solidFill>
            <a:prstDash val="solid"/>
          </a:ln>
        </p:spPr>
        <p:txBody>
          <a:bodyPr/>
          <a:lstStyle/>
          <a:p>
            <a:endParaRPr lang="en-TH"/>
          </a:p>
        </p:txBody>
      </p:sp>
      <p:sp>
        <p:nvSpPr>
          <p:cNvPr id="9" name="Text 6"/>
          <p:cNvSpPr/>
          <p:nvPr/>
        </p:nvSpPr>
        <p:spPr>
          <a:xfrm>
            <a:off x="800100" y="1727200"/>
            <a:ext cx="6034430" cy="4140200"/>
          </a:xfrm>
          <a:prstGeom prst="rect">
            <a:avLst/>
          </a:prstGeom>
          <a:noFill/>
          <a:ln/>
        </p:spPr>
        <p:txBody>
          <a:bodyPr wrap="square" lIns="0" tIns="0" rIns="0" bIns="0" rtlCol="0" anchor="t"/>
          <a:lstStyle/>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tests/test_spectrum.py</a:t>
            </a:r>
            <a:endParaRPr lang="en-US" sz="1400" dirty="0"/>
          </a:p>
          <a:p>
            <a:pPr marL="0" indent="0">
              <a:lnSpc>
                <a:spcPct val="160000"/>
              </a:lnSpc>
              <a:buNone/>
            </a:pP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def test_a_one_volt_sine_shows</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_an_amplitude_of_one():</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_, sig = make_signal(</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[(50.0, 1.0)], FS, DURATION)</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f, mag = spectrum(sig, FS)</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assert mag[argmax(mag)] == approx(</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1.0, abs=0.001)</a:t>
            </a:r>
            <a:endParaRPr lang="en-US" sz="1400" dirty="0"/>
          </a:p>
        </p:txBody>
      </p:sp>
      <p:sp>
        <p:nvSpPr>
          <p:cNvPr id="10" name="Text 7"/>
          <p:cNvSpPr/>
          <p:nvPr/>
        </p:nvSpPr>
        <p:spPr>
          <a:xfrm>
            <a:off x="7431430" y="1511300"/>
            <a:ext cx="4201770" cy="101092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Seven tests are already in your repository. Your app is finished when they pass.</a:t>
            </a:r>
            <a:endParaRPr lang="en-US" sz="1600" dirty="0"/>
          </a:p>
        </p:txBody>
      </p:sp>
      <p:sp>
        <p:nvSpPr>
          <p:cNvPr id="11" name="Text 8"/>
          <p:cNvSpPr/>
          <p:nvPr/>
        </p:nvSpPr>
        <p:spPr>
          <a:xfrm>
            <a:off x="7431430" y="2649220"/>
            <a:ext cx="4201770" cy="130556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Before you read them, write down in your own words how you would check the chart is right. Then compare.</a:t>
            </a:r>
            <a:endParaRPr lang="en-US" sz="1600" dirty="0"/>
          </a:p>
        </p:txBody>
      </p:sp>
      <p:sp>
        <p:nvSpPr>
          <p:cNvPr id="12" name="Shape 9"/>
          <p:cNvSpPr/>
          <p:nvPr/>
        </p:nvSpPr>
        <p:spPr>
          <a:xfrm>
            <a:off x="7431430" y="5384800"/>
            <a:ext cx="12700" cy="698500"/>
          </a:xfrm>
          <a:prstGeom prst="rect">
            <a:avLst/>
          </a:prstGeom>
          <a:solidFill>
            <a:srgbClr val="A87A2E"/>
          </a:solidFill>
          <a:ln/>
        </p:spPr>
        <p:txBody>
          <a:bodyPr/>
          <a:lstStyle/>
          <a:p>
            <a:endParaRPr lang="en-TH"/>
          </a:p>
        </p:txBody>
      </p:sp>
      <p:sp>
        <p:nvSpPr>
          <p:cNvPr id="13" name="Text 10"/>
          <p:cNvSpPr/>
          <p:nvPr/>
        </p:nvSpPr>
        <p:spPr>
          <a:xfrm>
            <a:off x="7596530" y="5416550"/>
            <a:ext cx="4036670" cy="698500"/>
          </a:xfrm>
          <a:prstGeom prst="rect">
            <a:avLst/>
          </a:prstGeom>
          <a:noFill/>
          <a:ln/>
        </p:spPr>
        <p:txBody>
          <a:bodyPr wrap="square" lIns="0" tIns="0" rIns="0" bIns="0" rtlCol="0" anchor="t"/>
          <a:lstStyle/>
          <a:p>
            <a:pPr marL="0" indent="0" algn="l">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A spectrum can have every peak in exactly the right place and still be wrong by a factor of five hundred.</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WORKSHOP 05</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Round 2 — where each gate leaves you</a:t>
            </a:r>
            <a:endParaRPr lang="en-US" sz="2800" dirty="0"/>
          </a:p>
        </p:txBody>
      </p:sp>
      <p:sp>
        <p:nvSpPr>
          <p:cNvPr id="4" name="Shape 2"/>
          <p:cNvSpPr/>
          <p:nvPr/>
        </p:nvSpPr>
        <p:spPr>
          <a:xfrm>
            <a:off x="558800" y="1181100"/>
            <a:ext cx="11074400" cy="6350"/>
          </a:xfrm>
          <a:prstGeom prst="rect">
            <a:avLst/>
          </a:prstGeom>
          <a:solidFill>
            <a:srgbClr val="E1DED7"/>
          </a:solidFill>
          <a:ln/>
        </p:spPr>
        <p:txBody>
          <a:bodyPr/>
          <a:lstStyle/>
          <a:p>
            <a:endParaRPr lang="en-TH"/>
          </a:p>
        </p:txBody>
      </p:sp>
      <p:sp>
        <p:nvSpPr>
          <p:cNvPr id="5"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34</a:t>
            </a:r>
            <a:endParaRPr lang="en-US" sz="1200" dirty="0"/>
          </a:p>
        </p:txBody>
      </p:sp>
      <p:sp>
        <p:nvSpPr>
          <p:cNvPr id="7" name="Shape 5"/>
          <p:cNvSpPr/>
          <p:nvPr/>
        </p:nvSpPr>
        <p:spPr>
          <a:xfrm>
            <a:off x="558800" y="1511300"/>
            <a:ext cx="6517030" cy="4572000"/>
          </a:xfrm>
          <a:prstGeom prst="rect">
            <a:avLst/>
          </a:prstGeom>
          <a:solidFill>
            <a:srgbClr val="F5F2EC"/>
          </a:solidFill>
          <a:ln w="6350">
            <a:solidFill>
              <a:srgbClr val="E1DED7"/>
            </a:solidFill>
            <a:prstDash val="solid"/>
          </a:ln>
        </p:spPr>
        <p:txBody>
          <a:bodyPr/>
          <a:lstStyle/>
          <a:p>
            <a:endParaRPr lang="en-TH"/>
          </a:p>
        </p:txBody>
      </p:sp>
      <p:sp>
        <p:nvSpPr>
          <p:cNvPr id="8" name="Text 6"/>
          <p:cNvSpPr/>
          <p:nvPr/>
        </p:nvSpPr>
        <p:spPr>
          <a:xfrm>
            <a:off x="800100" y="1727200"/>
            <a:ext cx="6034430" cy="4140200"/>
          </a:xfrm>
          <a:prstGeom prst="rect">
            <a:avLst/>
          </a:prstGeom>
          <a:noFill/>
          <a:ln/>
        </p:spPr>
        <p:txBody>
          <a:bodyPr wrap="square" lIns="0" tIns="0" rIns="0" bIns="0" rtlCol="0" anchor="t"/>
          <a:lstStyle/>
          <a:p>
            <a:pPr marL="0" indent="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GATES 1-3 write documents.</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The seven failures do not move.</a:t>
            </a:r>
            <a:endParaRPr lang="en-US" sz="1400" dirty="0"/>
          </a:p>
          <a:p>
            <a:pPr marL="0" indent="0">
              <a:lnSpc>
                <a:spcPct val="160000"/>
              </a:lnSpc>
              <a:buNone/>
            </a:pP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gate 1   aidlc/intent.md</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gate 2   aidlc/requirements.md</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gate 3   aidlc/design.md, tasks.md</a:t>
            </a:r>
            <a:endParaRPr lang="en-US" sz="1400" dirty="0"/>
          </a:p>
          <a:p>
            <a:pPr marL="0" indent="0">
              <a:lnSpc>
                <a:spcPct val="160000"/>
              </a:lnSpc>
              <a:buNone/>
            </a:pPr>
            <a:endParaRPr lang="en-US" sz="1400" dirty="0"/>
          </a:p>
          <a:p>
            <a:pPr marL="0" indent="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GATE 4 writes code.</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Now pytest goes 7 failed -&gt; 29 pass.</a:t>
            </a:r>
            <a:endParaRPr lang="en-US" sz="1400" dirty="0"/>
          </a:p>
          <a:p>
            <a:pPr marL="0" indent="0">
              <a:lnSpc>
                <a:spcPct val="160000"/>
              </a:lnSpc>
              <a:buNone/>
            </a:pP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gate 4a  core/spectrum.py</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gate 4b  the Streamlit page</a:t>
            </a:r>
            <a:endParaRPr lang="en-US" sz="1400" dirty="0"/>
          </a:p>
        </p:txBody>
      </p:sp>
      <p:sp>
        <p:nvSpPr>
          <p:cNvPr id="9" name="Text 7"/>
          <p:cNvSpPr/>
          <p:nvPr/>
        </p:nvSpPr>
        <p:spPr>
          <a:xfrm>
            <a:off x="7431430" y="1511300"/>
            <a:ext cx="4201770" cy="130556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Every line of this happens on main. You do not change branch again — what changes is which files exist, and what pytest says.</a:t>
            </a:r>
            <a:endParaRPr lang="en-US" sz="1600" dirty="0"/>
          </a:p>
        </p:txBody>
      </p:sp>
      <p:sp>
        <p:nvSpPr>
          <p:cNvPr id="10" name="Text 8"/>
          <p:cNvSpPr/>
          <p:nvPr/>
        </p:nvSpPr>
        <p:spPr>
          <a:xfrm>
            <a:off x="7431430" y="2943860"/>
            <a:ext cx="4201770" cy="130556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Nothing turns green until Gate 4. Three gates of documents with the number refusing to move is the design, not a fault.</a:t>
            </a:r>
            <a:endParaRPr lang="en-US" sz="1600" dirty="0"/>
          </a:p>
        </p:txBody>
      </p:sp>
      <p:sp>
        <p:nvSpPr>
          <p:cNvPr id="11" name="Shape 9"/>
          <p:cNvSpPr/>
          <p:nvPr/>
        </p:nvSpPr>
        <p:spPr>
          <a:xfrm>
            <a:off x="7431430" y="5384800"/>
            <a:ext cx="12700" cy="698500"/>
          </a:xfrm>
          <a:prstGeom prst="rect">
            <a:avLst/>
          </a:prstGeom>
          <a:solidFill>
            <a:srgbClr val="A87A2E"/>
          </a:solidFill>
          <a:ln/>
        </p:spPr>
        <p:txBody>
          <a:bodyPr/>
          <a:lstStyle/>
          <a:p>
            <a:endParaRPr lang="en-TH"/>
          </a:p>
        </p:txBody>
      </p:sp>
      <p:sp>
        <p:nvSpPr>
          <p:cNvPr id="12" name="Text 10"/>
          <p:cNvSpPr/>
          <p:nvPr/>
        </p:nvSpPr>
        <p:spPr>
          <a:xfrm>
            <a:off x="7596530" y="5416550"/>
            <a:ext cx="4036670" cy="698500"/>
          </a:xfrm>
          <a:prstGeom prst="rect">
            <a:avLst/>
          </a:prstGeom>
          <a:noFill/>
          <a:ln/>
        </p:spPr>
        <p:txBody>
          <a:bodyPr wrap="square" lIns="0" tIns="0" rIns="0" bIns="0" rtlCol="0" anchor="t"/>
          <a:lstStyle/>
          <a:p>
            <a:pPr marL="0" indent="0" algn="l">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Lost? git branch --show-current, git status --short, pytest. Those three put you back on this list.</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WORKSHOP 05</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Gate 1 — do this</a:t>
            </a:r>
            <a:endParaRPr lang="en-US" sz="2800" dirty="0"/>
          </a:p>
        </p:txBody>
      </p:sp>
      <p:sp>
        <p:nvSpPr>
          <p:cNvPr id="4" name="Shape 2"/>
          <p:cNvSpPr/>
          <p:nvPr/>
        </p:nvSpPr>
        <p:spPr>
          <a:xfrm>
            <a:off x="558800" y="1181100"/>
            <a:ext cx="11074400" cy="6350"/>
          </a:xfrm>
          <a:prstGeom prst="rect">
            <a:avLst/>
          </a:prstGeom>
          <a:solidFill>
            <a:srgbClr val="E1DED7"/>
          </a:solidFill>
          <a:ln/>
        </p:spPr>
        <p:txBody>
          <a:bodyPr/>
          <a:lstStyle/>
          <a:p>
            <a:endParaRPr lang="en-TH"/>
          </a:p>
        </p:txBody>
      </p:sp>
      <p:sp>
        <p:nvSpPr>
          <p:cNvPr id="5"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35</a:t>
            </a:r>
            <a:endParaRPr lang="en-US" sz="1200" dirty="0"/>
          </a:p>
        </p:txBody>
      </p:sp>
      <p:sp>
        <p:nvSpPr>
          <p:cNvPr id="7" name="Shape 5"/>
          <p:cNvSpPr/>
          <p:nvPr/>
        </p:nvSpPr>
        <p:spPr>
          <a:xfrm>
            <a:off x="558800" y="1511300"/>
            <a:ext cx="6517030" cy="4572000"/>
          </a:xfrm>
          <a:prstGeom prst="rect">
            <a:avLst/>
          </a:prstGeom>
          <a:solidFill>
            <a:srgbClr val="F5F2EC"/>
          </a:solidFill>
          <a:ln w="6350">
            <a:solidFill>
              <a:srgbClr val="E1DED7"/>
            </a:solidFill>
            <a:prstDash val="solid"/>
          </a:ln>
        </p:spPr>
        <p:txBody>
          <a:bodyPr/>
          <a:lstStyle/>
          <a:p>
            <a:endParaRPr lang="en-TH"/>
          </a:p>
        </p:txBody>
      </p:sp>
      <p:sp>
        <p:nvSpPr>
          <p:cNvPr id="8" name="Text 6"/>
          <p:cNvSpPr/>
          <p:nvPr/>
        </p:nvSpPr>
        <p:spPr>
          <a:xfrm>
            <a:off x="800100" y="1727200"/>
            <a:ext cx="6034430" cy="4140200"/>
          </a:xfrm>
          <a:prstGeom prst="rect">
            <a:avLst/>
          </a:prstGeom>
          <a:noFill/>
          <a:ln/>
        </p:spPr>
        <p:txBody>
          <a:bodyPr wrap="square" lIns="0" tIns="0" rIns="0" bIns="0" rtlCol="0" anchor="t"/>
          <a:lstStyle/>
          <a:p>
            <a:pPr marL="0" indent="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GATE 1 — INTENT</a:t>
            </a:r>
            <a:r>
              <a:rPr lang="en-US" sz="1400" dirty="0">
                <a:solidFill>
                  <a:srgbClr val="332F2A"/>
                </a:solidFill>
                <a:latin typeface="IBM Plex Mono" pitchFamily="34" charset="0"/>
                <a:ea typeface="IBM Plex Mono" pitchFamily="34" charset="-122"/>
                <a:cs typeface="IBM Plex Mono" pitchFamily="34" charset="-120"/>
              </a:rPr>
              <a:t>    you write this one</a:t>
            </a:r>
            <a:endParaRPr lang="en-US" sz="1400" dirty="0"/>
          </a:p>
          <a:p>
            <a:pPr marL="0" indent="0">
              <a:lnSpc>
                <a:spcPct val="160000"/>
              </a:lnSpc>
              <a:buNone/>
            </a:pPr>
            <a:endParaRPr lang="en-US" sz="1400" dirty="0"/>
          </a:p>
          <a:p>
            <a:pPr marL="0" indent="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DO</a:t>
            </a:r>
            <a:r>
              <a:rPr lang="en-US" sz="1400" dirty="0">
                <a:solidFill>
                  <a:srgbClr val="332F2A"/>
                </a:solidFill>
                <a:latin typeface="IBM Plex Mono" pitchFamily="34" charset="0"/>
                <a:ea typeface="IBM Plex Mono" pitchFamily="34" charset="-122"/>
                <a:cs typeface="IBM Plex Mono" pitchFamily="34" charset="-120"/>
              </a:rPr>
              <a:t>     open aidlc/intent.md</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answer the four questions</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replace every PLACEHOLDER</a:t>
            </a:r>
            <a:endParaRPr lang="en-US" sz="1400" dirty="0"/>
          </a:p>
          <a:p>
            <a:pPr marL="0" indent="0">
              <a:lnSpc>
                <a:spcPct val="160000"/>
              </a:lnSpc>
              <a:buNone/>
            </a:pPr>
            <a:endParaRPr lang="en-US" sz="1400" dirty="0"/>
          </a:p>
          <a:p>
            <a:pPr marL="0" indent="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CHECK</a:t>
            </a:r>
            <a:r>
              <a:rPr lang="en-US" sz="1400" dirty="0">
                <a:solidFill>
                  <a:srgbClr val="332F2A"/>
                </a:solidFill>
                <a:latin typeface="IBM Plex Mono" pitchFamily="34" charset="0"/>
                <a:ea typeface="IBM Plex Mono" pitchFamily="34" charset="-122"/>
                <a:cs typeface="IBM Plex Mono" pitchFamily="34" charset="-120"/>
              </a:rPr>
              <a:t>  grep -c PLACEHOLDER  -&gt;  0</a:t>
            </a:r>
            <a:endParaRPr lang="en-US" sz="1400" dirty="0"/>
          </a:p>
          <a:p>
            <a:pPr marL="0" indent="0">
              <a:lnSpc>
                <a:spcPct val="160000"/>
              </a:lnSpc>
              <a:buNone/>
            </a:pPr>
            <a:endParaRPr lang="en-US" sz="1400" dirty="0"/>
          </a:p>
          <a:p>
            <a:pPr marL="0" indent="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END</a:t>
            </a:r>
            <a:r>
              <a:rPr lang="en-US" sz="1400" dirty="0">
                <a:solidFill>
                  <a:srgbClr val="332F2A"/>
                </a:solidFill>
                <a:latin typeface="IBM Plex Mono" pitchFamily="34" charset="0"/>
                <a:ea typeface="IBM Plex Mono" pitchFamily="34" charset="-122"/>
                <a:cs typeface="IBM Plex Mono" pitchFamily="34" charset="-120"/>
              </a:rPr>
              <a:t>    intent.md filled in</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pytest still 7 failed</a:t>
            </a:r>
            <a:endParaRPr lang="en-US" sz="1400" dirty="0"/>
          </a:p>
        </p:txBody>
      </p:sp>
      <p:sp>
        <p:nvSpPr>
          <p:cNvPr id="9" name="Text 7"/>
          <p:cNvSpPr/>
          <p:nvPr/>
        </p:nvSpPr>
        <p:spPr>
          <a:xfrm>
            <a:off x="7431430" y="1511300"/>
            <a:ext cx="4201770" cy="130556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The only gate with no prompt. Four questions, four sentences, in your own words — this is the one the agent cannot do for you.</a:t>
            </a:r>
            <a:endParaRPr lang="en-US" sz="1600" dirty="0"/>
          </a:p>
        </p:txBody>
      </p:sp>
      <p:sp>
        <p:nvSpPr>
          <p:cNvPr id="10" name="Text 8"/>
          <p:cNvSpPr/>
          <p:nvPr/>
        </p:nvSpPr>
        <p:spPr>
          <a:xfrm>
            <a:off x="7431430" y="2943860"/>
            <a:ext cx="4201770" cy="130556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It will refuse to write code while PLACEHOLDER is still in the file. That refusal is the gate working, not an error.</a:t>
            </a:r>
            <a:endParaRPr lang="en-US" sz="1600" dirty="0"/>
          </a:p>
        </p:txBody>
      </p:sp>
      <p:sp>
        <p:nvSpPr>
          <p:cNvPr id="11" name="Shape 9"/>
          <p:cNvSpPr/>
          <p:nvPr/>
        </p:nvSpPr>
        <p:spPr>
          <a:xfrm>
            <a:off x="7431430" y="5384800"/>
            <a:ext cx="12700" cy="698500"/>
          </a:xfrm>
          <a:prstGeom prst="rect">
            <a:avLst/>
          </a:prstGeom>
          <a:solidFill>
            <a:srgbClr val="A87A2E"/>
          </a:solidFill>
          <a:ln/>
        </p:spPr>
        <p:txBody>
          <a:bodyPr/>
          <a:lstStyle/>
          <a:p>
            <a:endParaRPr lang="en-TH"/>
          </a:p>
        </p:txBody>
      </p:sp>
      <p:sp>
        <p:nvSpPr>
          <p:cNvPr id="12" name="Text 10"/>
          <p:cNvSpPr/>
          <p:nvPr/>
        </p:nvSpPr>
        <p:spPr>
          <a:xfrm>
            <a:off x="7596530" y="5416550"/>
            <a:ext cx="4036670" cy="698500"/>
          </a:xfrm>
          <a:prstGeom prst="rect">
            <a:avLst/>
          </a:prstGeom>
          <a:noFill/>
          <a:ln/>
        </p:spPr>
        <p:txBody>
          <a:bodyPr wrap="square" lIns="0" tIns="0" rIns="0" bIns="0" rtlCol="0" anchor="t"/>
          <a:lstStyle/>
          <a:p>
            <a:pPr marL="0" indent="0" algn="l">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The question that saves you is the last one: what is deliberately NOT included.</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WORKSHOP 05</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Gate 2 — do this</a:t>
            </a:r>
            <a:endParaRPr lang="en-US" sz="2800" dirty="0"/>
          </a:p>
        </p:txBody>
      </p:sp>
      <p:sp>
        <p:nvSpPr>
          <p:cNvPr id="4" name="Shape 2"/>
          <p:cNvSpPr/>
          <p:nvPr/>
        </p:nvSpPr>
        <p:spPr>
          <a:xfrm>
            <a:off x="558800" y="1181100"/>
            <a:ext cx="11074400" cy="6350"/>
          </a:xfrm>
          <a:prstGeom prst="rect">
            <a:avLst/>
          </a:prstGeom>
          <a:solidFill>
            <a:srgbClr val="E1DED7"/>
          </a:solidFill>
          <a:ln/>
        </p:spPr>
        <p:txBody>
          <a:bodyPr/>
          <a:lstStyle/>
          <a:p>
            <a:endParaRPr lang="en-TH"/>
          </a:p>
        </p:txBody>
      </p:sp>
      <p:sp>
        <p:nvSpPr>
          <p:cNvPr id="5"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36</a:t>
            </a:r>
            <a:endParaRPr lang="en-US" sz="1200" dirty="0"/>
          </a:p>
        </p:txBody>
      </p:sp>
      <p:sp>
        <p:nvSpPr>
          <p:cNvPr id="7" name="Shape 5"/>
          <p:cNvSpPr/>
          <p:nvPr/>
        </p:nvSpPr>
        <p:spPr>
          <a:xfrm>
            <a:off x="558800" y="1511300"/>
            <a:ext cx="6517030" cy="4572000"/>
          </a:xfrm>
          <a:prstGeom prst="rect">
            <a:avLst/>
          </a:prstGeom>
          <a:solidFill>
            <a:srgbClr val="F5F2EC"/>
          </a:solidFill>
          <a:ln w="6350">
            <a:solidFill>
              <a:srgbClr val="E1DED7"/>
            </a:solidFill>
            <a:prstDash val="solid"/>
          </a:ln>
        </p:spPr>
        <p:txBody>
          <a:bodyPr/>
          <a:lstStyle/>
          <a:p>
            <a:endParaRPr lang="en-TH"/>
          </a:p>
        </p:txBody>
      </p:sp>
      <p:sp>
        <p:nvSpPr>
          <p:cNvPr id="8" name="Text 6"/>
          <p:cNvSpPr/>
          <p:nvPr/>
        </p:nvSpPr>
        <p:spPr>
          <a:xfrm>
            <a:off x="800100" y="1727200"/>
            <a:ext cx="6034430" cy="4140200"/>
          </a:xfrm>
          <a:prstGeom prst="rect">
            <a:avLst/>
          </a:prstGeom>
          <a:noFill/>
          <a:ln/>
        </p:spPr>
        <p:txBody>
          <a:bodyPr wrap="square" lIns="0" tIns="0" rIns="0" bIns="0" rtlCol="0" anchor="t"/>
          <a:lstStyle/>
          <a:p>
            <a:pPr marL="0" indent="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GATE 2 — SPEC</a:t>
            </a:r>
            <a:r>
              <a:rPr lang="en-US" sz="1400" dirty="0">
                <a:solidFill>
                  <a:srgbClr val="332F2A"/>
                </a:solidFill>
                <a:latin typeface="IBM Plex Mono" pitchFamily="34" charset="0"/>
                <a:ea typeface="IBM Plex Mono" pitchFamily="34" charset="-122"/>
                <a:cs typeface="IBM Plex Mono" pitchFamily="34" charset="-120"/>
              </a:rPr>
              <a:t>      the agent drafts</a:t>
            </a:r>
            <a:endParaRPr lang="en-US" sz="1400" dirty="0"/>
          </a:p>
          <a:p>
            <a:pPr marL="0" indent="0">
              <a:lnSpc>
                <a:spcPct val="160000"/>
              </a:lnSpc>
              <a:buNone/>
            </a:pPr>
            <a:endParaRPr lang="en-US" sz="1400" dirty="0"/>
          </a:p>
          <a:p>
            <a:pPr marL="0" indent="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DO</a:t>
            </a:r>
            <a:r>
              <a:rPr lang="en-US" sz="1400" dirty="0">
                <a:solidFill>
                  <a:srgbClr val="332F2A"/>
                </a:solidFill>
                <a:latin typeface="IBM Plex Mono" pitchFamily="34" charset="0"/>
                <a:ea typeface="IBM Plex Mono" pitchFamily="34" charset="-122"/>
                <a:cs typeface="IBM Plex Mono" pitchFamily="34" charset="-120"/>
              </a:rPr>
              <a:t>     NEW task, paste "Gate 2"</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from labs/PROMPTS.md</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read it, reply approved</a:t>
            </a:r>
            <a:endParaRPr lang="en-US" sz="1400" dirty="0"/>
          </a:p>
          <a:p>
            <a:pPr marL="0" indent="0">
              <a:lnSpc>
                <a:spcPct val="160000"/>
              </a:lnSpc>
              <a:buNone/>
            </a:pPr>
            <a:endParaRPr lang="en-US" sz="1400" dirty="0"/>
          </a:p>
          <a:p>
            <a:pPr marL="0" indent="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CHECK</a:t>
            </a:r>
            <a:r>
              <a:rPr lang="en-US" sz="1400" dirty="0">
                <a:solidFill>
                  <a:srgbClr val="332F2A"/>
                </a:solidFill>
                <a:latin typeface="IBM Plex Mono" pitchFamily="34" charset="0"/>
                <a:ea typeface="IBM Plex Mono" pitchFamily="34" charset="-122"/>
                <a:cs typeface="IBM Plex Mono" pitchFamily="34" charset="-120"/>
              </a:rPr>
              <a:t>  every bullet has a row,</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all 7 tests cited, and</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could each one FAIL?</a:t>
            </a:r>
            <a:endParaRPr lang="en-US" sz="1400" dirty="0"/>
          </a:p>
          <a:p>
            <a:pPr marL="0" indent="0">
              <a:lnSpc>
                <a:spcPct val="160000"/>
              </a:lnSpc>
              <a:buNone/>
            </a:pPr>
            <a:endParaRPr lang="en-US" sz="1400" dirty="0"/>
          </a:p>
          <a:p>
            <a:pPr marL="0" indent="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END</a:t>
            </a:r>
            <a:r>
              <a:rPr lang="en-US" sz="1400" dirty="0">
                <a:solidFill>
                  <a:srgbClr val="332F2A"/>
                </a:solidFill>
                <a:latin typeface="IBM Plex Mono" pitchFamily="34" charset="0"/>
                <a:ea typeface="IBM Plex Mono" pitchFamily="34" charset="-122"/>
                <a:cs typeface="IBM Plex Mono" pitchFamily="34" charset="-120"/>
              </a:rPr>
              <a:t>    aidlc/requirements.md</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pytest still 7 failed</a:t>
            </a:r>
            <a:endParaRPr lang="en-US" sz="1400" dirty="0"/>
          </a:p>
        </p:txBody>
      </p:sp>
      <p:sp>
        <p:nvSpPr>
          <p:cNvPr id="9" name="Text 7"/>
          <p:cNvSpPr/>
          <p:nvPr/>
        </p:nvSpPr>
        <p:spPr>
          <a:xfrm>
            <a:off x="7431430" y="1511300"/>
            <a:ext cx="4201770" cy="130556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Before you paste anything, write down on paper how you would check the spectrum is right. Then compare it with what comes back.</a:t>
            </a:r>
            <a:endParaRPr lang="en-US" sz="1600" dirty="0"/>
          </a:p>
        </p:txBody>
      </p:sp>
      <p:sp>
        <p:nvSpPr>
          <p:cNvPr id="10" name="Text 8"/>
          <p:cNvSpPr/>
          <p:nvPr/>
        </p:nvSpPr>
        <p:spPr>
          <a:xfrm>
            <a:off x="7431430" y="2943860"/>
            <a:ext cx="4201770" cy="160020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Count the rows against your intent. A pytest criterion may only back a claim about core/ — cite one for what the page does and it passes while the page is blank.</a:t>
            </a:r>
            <a:endParaRPr lang="en-US" sz="1600" dirty="0"/>
          </a:p>
        </p:txBody>
      </p:sp>
      <p:sp>
        <p:nvSpPr>
          <p:cNvPr id="11" name="Shape 9"/>
          <p:cNvSpPr/>
          <p:nvPr/>
        </p:nvSpPr>
        <p:spPr>
          <a:xfrm>
            <a:off x="7431430" y="5384800"/>
            <a:ext cx="12700" cy="698500"/>
          </a:xfrm>
          <a:prstGeom prst="rect">
            <a:avLst/>
          </a:prstGeom>
          <a:solidFill>
            <a:srgbClr val="A87A2E"/>
          </a:solidFill>
          <a:ln/>
        </p:spPr>
        <p:txBody>
          <a:bodyPr/>
          <a:lstStyle/>
          <a:p>
            <a:endParaRPr lang="en-TH"/>
          </a:p>
        </p:txBody>
      </p:sp>
      <p:sp>
        <p:nvSpPr>
          <p:cNvPr id="12" name="Text 10"/>
          <p:cNvSpPr/>
          <p:nvPr/>
        </p:nvSpPr>
        <p:spPr>
          <a:xfrm>
            <a:off x="7596530" y="5416550"/>
            <a:ext cx="4036670" cy="698500"/>
          </a:xfrm>
          <a:prstGeom prst="rect">
            <a:avLst/>
          </a:prstGeom>
          <a:noFill/>
          <a:ln/>
        </p:spPr>
        <p:txBody>
          <a:bodyPr wrap="square" lIns="0" tIns="0" rIns="0" bIns="0" rtlCol="0" anchor="t"/>
          <a:lstStyle/>
          <a:p>
            <a:pPr marL="0" indent="0" algn="l">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One task per gate. A long conversation makes an agent worse, not better.</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WORKSHOP 05</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Gate 3 — do this</a:t>
            </a:r>
            <a:endParaRPr lang="en-US" sz="2800" dirty="0"/>
          </a:p>
        </p:txBody>
      </p:sp>
      <p:sp>
        <p:nvSpPr>
          <p:cNvPr id="4" name="Shape 2"/>
          <p:cNvSpPr/>
          <p:nvPr/>
        </p:nvSpPr>
        <p:spPr>
          <a:xfrm>
            <a:off x="558800" y="1181100"/>
            <a:ext cx="11074400" cy="6350"/>
          </a:xfrm>
          <a:prstGeom prst="rect">
            <a:avLst/>
          </a:prstGeom>
          <a:solidFill>
            <a:srgbClr val="E1DED7"/>
          </a:solidFill>
          <a:ln/>
        </p:spPr>
        <p:txBody>
          <a:bodyPr/>
          <a:lstStyle/>
          <a:p>
            <a:endParaRPr lang="en-TH"/>
          </a:p>
        </p:txBody>
      </p:sp>
      <p:sp>
        <p:nvSpPr>
          <p:cNvPr id="5"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37</a:t>
            </a:r>
            <a:endParaRPr lang="en-US" sz="1200" dirty="0"/>
          </a:p>
        </p:txBody>
      </p:sp>
      <p:sp>
        <p:nvSpPr>
          <p:cNvPr id="7" name="Shape 5"/>
          <p:cNvSpPr/>
          <p:nvPr/>
        </p:nvSpPr>
        <p:spPr>
          <a:xfrm>
            <a:off x="558800" y="1511300"/>
            <a:ext cx="6517030" cy="4572000"/>
          </a:xfrm>
          <a:prstGeom prst="rect">
            <a:avLst/>
          </a:prstGeom>
          <a:solidFill>
            <a:srgbClr val="F5F2EC"/>
          </a:solidFill>
          <a:ln w="6350">
            <a:solidFill>
              <a:srgbClr val="E1DED7"/>
            </a:solidFill>
            <a:prstDash val="solid"/>
          </a:ln>
        </p:spPr>
        <p:txBody>
          <a:bodyPr/>
          <a:lstStyle/>
          <a:p>
            <a:endParaRPr lang="en-TH"/>
          </a:p>
        </p:txBody>
      </p:sp>
      <p:sp>
        <p:nvSpPr>
          <p:cNvPr id="8" name="Text 6"/>
          <p:cNvSpPr/>
          <p:nvPr/>
        </p:nvSpPr>
        <p:spPr>
          <a:xfrm>
            <a:off x="800100" y="1727200"/>
            <a:ext cx="6034430" cy="4140200"/>
          </a:xfrm>
          <a:prstGeom prst="rect">
            <a:avLst/>
          </a:prstGeom>
          <a:noFill/>
          <a:ln/>
        </p:spPr>
        <p:txBody>
          <a:bodyPr wrap="square" lIns="0" tIns="0" rIns="0" bIns="0" rtlCol="0" anchor="t"/>
          <a:lstStyle/>
          <a:p>
            <a:pPr marL="0" indent="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GATE 3 — PLAN</a:t>
            </a:r>
            <a:r>
              <a:rPr lang="en-US" sz="1400" dirty="0">
                <a:solidFill>
                  <a:srgbClr val="332F2A"/>
                </a:solidFill>
                <a:latin typeface="IBM Plex Mono" pitchFamily="34" charset="0"/>
                <a:ea typeface="IBM Plex Mono" pitchFamily="34" charset="-122"/>
                <a:cs typeface="IBM Plex Mono" pitchFamily="34" charset="-120"/>
              </a:rPr>
              <a:t>    one file per task</a:t>
            </a:r>
            <a:endParaRPr lang="en-US" sz="1400" dirty="0"/>
          </a:p>
          <a:p>
            <a:pPr marL="0" indent="0">
              <a:lnSpc>
                <a:spcPct val="160000"/>
              </a:lnSpc>
              <a:buNone/>
            </a:pPr>
            <a:endParaRPr lang="en-US" sz="1400" dirty="0"/>
          </a:p>
          <a:p>
            <a:pPr marL="0" indent="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DO</a:t>
            </a:r>
            <a:r>
              <a:rPr lang="en-US" sz="1400" dirty="0">
                <a:solidFill>
                  <a:srgbClr val="332F2A"/>
                </a:solidFill>
                <a:latin typeface="IBM Plex Mono" pitchFamily="34" charset="0"/>
                <a:ea typeface="IBM Plex Mono" pitchFamily="34" charset="-122"/>
                <a:cs typeface="IBM Plex Mono" pitchFamily="34" charset="-120"/>
              </a:rPr>
              <a:t>     NEW task, paste "Gate 3"</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reply approved</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git commit -m "gates 1-3"</a:t>
            </a:r>
            <a:endParaRPr lang="en-US" sz="1400" dirty="0"/>
          </a:p>
          <a:p>
            <a:pPr marL="0" indent="0">
              <a:lnSpc>
                <a:spcPct val="160000"/>
              </a:lnSpc>
              <a:buNone/>
            </a:pPr>
            <a:endParaRPr lang="en-US" sz="1400" dirty="0"/>
          </a:p>
          <a:p>
            <a:pPr marL="0" indent="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CHECK</a:t>
            </a:r>
            <a:r>
              <a:rPr lang="en-US" sz="1400" dirty="0">
                <a:solidFill>
                  <a:srgbClr val="332F2A"/>
                </a:solidFill>
                <a:latin typeface="IBM Plex Mono" pitchFamily="34" charset="0"/>
                <a:ea typeface="IBM Plex Mono" pitchFamily="34" charset="-122"/>
                <a:cs typeface="IBM Plex Mono" pitchFamily="34" charset="-120"/>
              </a:rPr>
              <a:t>  design.md matches the tests</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two tasks, one file each</a:t>
            </a:r>
            <a:endParaRPr lang="en-US" sz="1400" dirty="0"/>
          </a:p>
          <a:p>
            <a:pPr marL="0" indent="0">
              <a:lnSpc>
                <a:spcPct val="160000"/>
              </a:lnSpc>
              <a:buNone/>
            </a:pPr>
            <a:endParaRPr lang="en-US" sz="1400" dirty="0"/>
          </a:p>
          <a:p>
            <a:pPr marL="0" indent="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END</a:t>
            </a:r>
            <a:r>
              <a:rPr lang="en-US" sz="1400" dirty="0">
                <a:solidFill>
                  <a:srgbClr val="332F2A"/>
                </a:solidFill>
                <a:latin typeface="IBM Plex Mono" pitchFamily="34" charset="0"/>
                <a:ea typeface="IBM Plex Mono" pitchFamily="34" charset="-122"/>
                <a:cs typeface="IBM Plex Mono" pitchFamily="34" charset="-120"/>
              </a:rPr>
              <a:t>    aidlc/design.md</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aidlc/tasks.md</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pytest still 7 failed</a:t>
            </a:r>
            <a:endParaRPr lang="en-US" sz="1400" dirty="0"/>
          </a:p>
        </p:txBody>
      </p:sp>
      <p:sp>
        <p:nvSpPr>
          <p:cNvPr id="9" name="Text 7"/>
          <p:cNvSpPr/>
          <p:nvPr/>
        </p:nvSpPr>
        <p:spPr>
          <a:xfrm>
            <a:off x="7431430" y="1511300"/>
            <a:ext cx="4201770" cy="130556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You are approving a plan, not code. No code exists yet, which is exactly what makes this gate cheap to get right.</a:t>
            </a:r>
            <a:endParaRPr lang="en-US" sz="1600" dirty="0"/>
          </a:p>
        </p:txBody>
      </p:sp>
      <p:sp>
        <p:nvSpPr>
          <p:cNvPr id="10" name="Text 8"/>
          <p:cNvSpPr/>
          <p:nvPr/>
        </p:nvSpPr>
        <p:spPr>
          <a:xfrm>
            <a:off x="7431430" y="2943860"/>
            <a:ext cx="4201770" cy="160020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One task, one file. Working alone that looks like bookkeeping; in Session 2 it is what lets four people build at once with nothing to merge.</a:t>
            </a:r>
            <a:endParaRPr lang="en-US" sz="1600" dirty="0"/>
          </a:p>
        </p:txBody>
      </p:sp>
      <p:sp>
        <p:nvSpPr>
          <p:cNvPr id="11" name="Shape 9"/>
          <p:cNvSpPr/>
          <p:nvPr/>
        </p:nvSpPr>
        <p:spPr>
          <a:xfrm>
            <a:off x="7431430" y="5384800"/>
            <a:ext cx="12700" cy="698500"/>
          </a:xfrm>
          <a:prstGeom prst="rect">
            <a:avLst/>
          </a:prstGeom>
          <a:solidFill>
            <a:srgbClr val="A87A2E"/>
          </a:solidFill>
          <a:ln/>
        </p:spPr>
        <p:txBody>
          <a:bodyPr/>
          <a:lstStyle/>
          <a:p>
            <a:endParaRPr lang="en-TH"/>
          </a:p>
        </p:txBody>
      </p:sp>
      <p:sp>
        <p:nvSpPr>
          <p:cNvPr id="12" name="Text 10"/>
          <p:cNvSpPr/>
          <p:nvPr/>
        </p:nvSpPr>
        <p:spPr>
          <a:xfrm>
            <a:off x="7596530" y="5416550"/>
            <a:ext cx="4036670" cy="698500"/>
          </a:xfrm>
          <a:prstGeom prst="rect">
            <a:avLst/>
          </a:prstGeom>
          <a:noFill/>
          <a:ln/>
        </p:spPr>
        <p:txBody>
          <a:bodyPr wrap="square" lIns="0" tIns="0" rIns="0" bIns="0" rtlCol="0" anchor="t"/>
          <a:lstStyle/>
          <a:p>
            <a:pPr marL="0" indent="0" algn="l">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The task table is easy to check because the prompt dictated it. design.md is the part nobody dictated.</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WORKSHOP 05</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Gate 4 — do this</a:t>
            </a:r>
            <a:endParaRPr lang="en-US" sz="2800" dirty="0"/>
          </a:p>
        </p:txBody>
      </p:sp>
      <p:sp>
        <p:nvSpPr>
          <p:cNvPr id="4" name="Shape 2"/>
          <p:cNvSpPr/>
          <p:nvPr/>
        </p:nvSpPr>
        <p:spPr>
          <a:xfrm>
            <a:off x="558800" y="1181100"/>
            <a:ext cx="11074400" cy="6350"/>
          </a:xfrm>
          <a:prstGeom prst="rect">
            <a:avLst/>
          </a:prstGeom>
          <a:solidFill>
            <a:srgbClr val="E1DED7"/>
          </a:solidFill>
          <a:ln/>
        </p:spPr>
        <p:txBody>
          <a:bodyPr/>
          <a:lstStyle/>
          <a:p>
            <a:endParaRPr lang="en-TH"/>
          </a:p>
        </p:txBody>
      </p:sp>
      <p:sp>
        <p:nvSpPr>
          <p:cNvPr id="5"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38</a:t>
            </a:r>
            <a:endParaRPr lang="en-US" sz="1200" dirty="0"/>
          </a:p>
        </p:txBody>
      </p:sp>
      <p:sp>
        <p:nvSpPr>
          <p:cNvPr id="7" name="Shape 5"/>
          <p:cNvSpPr/>
          <p:nvPr/>
        </p:nvSpPr>
        <p:spPr>
          <a:xfrm>
            <a:off x="558800" y="1511300"/>
            <a:ext cx="6517030" cy="4572000"/>
          </a:xfrm>
          <a:prstGeom prst="rect">
            <a:avLst/>
          </a:prstGeom>
          <a:solidFill>
            <a:srgbClr val="F5F2EC"/>
          </a:solidFill>
          <a:ln w="6350">
            <a:solidFill>
              <a:srgbClr val="E1DED7"/>
            </a:solidFill>
            <a:prstDash val="solid"/>
          </a:ln>
        </p:spPr>
        <p:txBody>
          <a:bodyPr/>
          <a:lstStyle/>
          <a:p>
            <a:endParaRPr lang="en-TH"/>
          </a:p>
        </p:txBody>
      </p:sp>
      <p:sp>
        <p:nvSpPr>
          <p:cNvPr id="8" name="Text 6"/>
          <p:cNvSpPr/>
          <p:nvPr/>
        </p:nvSpPr>
        <p:spPr>
          <a:xfrm>
            <a:off x="800100" y="1727200"/>
            <a:ext cx="6034430" cy="4140200"/>
          </a:xfrm>
          <a:prstGeom prst="rect">
            <a:avLst/>
          </a:prstGeom>
          <a:noFill/>
          <a:ln/>
        </p:spPr>
        <p:txBody>
          <a:bodyPr wrap="square" lIns="0" tIns="0" rIns="0" bIns="0" rtlCol="0" anchor="t"/>
          <a:lstStyle/>
          <a:p>
            <a:pPr marL="0" indent="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GATE 4 — BUILD</a:t>
            </a:r>
            <a:r>
              <a:rPr lang="en-US" sz="1400" dirty="0">
                <a:solidFill>
                  <a:srgbClr val="332F2A"/>
                </a:solidFill>
                <a:latin typeface="IBM Plex Mono" pitchFamily="34" charset="0"/>
                <a:ea typeface="IBM Plex Mono" pitchFamily="34" charset="-122"/>
                <a:cs typeface="IBM Plex Mono" pitchFamily="34" charset="-120"/>
              </a:rPr>
              <a:t>   one task at a time</a:t>
            </a:r>
            <a:endParaRPr lang="en-US" sz="1400" dirty="0"/>
          </a:p>
          <a:p>
            <a:pPr marL="0" indent="0">
              <a:lnSpc>
                <a:spcPct val="160000"/>
              </a:lnSpc>
              <a:buNone/>
            </a:pPr>
            <a:endParaRPr lang="en-US" sz="1400" dirty="0"/>
          </a:p>
          <a:p>
            <a:pPr marL="0" indent="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DO</a:t>
            </a:r>
            <a:r>
              <a:rPr lang="en-US" sz="1400" dirty="0">
                <a:solidFill>
                  <a:srgbClr val="332F2A"/>
                </a:solidFill>
                <a:latin typeface="IBM Plex Mono" pitchFamily="34" charset="0"/>
                <a:ea typeface="IBM Plex Mono" pitchFamily="34" charset="-122"/>
                <a:cs typeface="IBM Plex Mono" pitchFamily="34" charset="-120"/>
              </a:rPr>
              <a:t>     a NEW task for each:</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task 1: pytest, commit</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task 2: run app, commit</a:t>
            </a:r>
            <a:endParaRPr lang="en-US" sz="1400" dirty="0"/>
          </a:p>
          <a:p>
            <a:pPr marL="0" indent="0">
              <a:lnSpc>
                <a:spcPct val="160000"/>
              </a:lnSpc>
              <a:buNone/>
            </a:pPr>
            <a:endParaRPr lang="en-US" sz="1400" dirty="0"/>
          </a:p>
          <a:p>
            <a:pPr marL="0" indent="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CHECK</a:t>
            </a:r>
            <a:r>
              <a:rPr lang="en-US" sz="1400" dirty="0">
                <a:solidFill>
                  <a:srgbClr val="332F2A"/>
                </a:solidFill>
                <a:latin typeface="IBM Plex Mono" pitchFamily="34" charset="0"/>
                <a:ea typeface="IBM Plex Mono" pitchFamily="34" charset="-122"/>
                <a:cs typeface="IBM Plex Mono" pitchFamily="34" charset="-120"/>
              </a:rPr>
              <a:t>  7 spectrum tests pass</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spike 1.0, then 0.3 -&gt; 0.3</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and no legend at all</a:t>
            </a:r>
            <a:endParaRPr lang="en-US" sz="1400" dirty="0"/>
          </a:p>
          <a:p>
            <a:pPr marL="0" indent="0">
              <a:lnSpc>
                <a:spcPct val="160000"/>
              </a:lnSpc>
              <a:buNone/>
            </a:pPr>
            <a:endParaRPr lang="en-US" sz="1400" dirty="0"/>
          </a:p>
          <a:p>
            <a:pPr marL="0" indent="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END</a:t>
            </a:r>
            <a:r>
              <a:rPr lang="en-US" sz="1400" dirty="0">
                <a:solidFill>
                  <a:srgbClr val="332F2A"/>
                </a:solidFill>
                <a:latin typeface="IBM Plex Mono" pitchFamily="34" charset="0"/>
                <a:ea typeface="IBM Plex Mono" pitchFamily="34" charset="-122"/>
                <a:cs typeface="IBM Plex Mono" pitchFamily="34" charset="-120"/>
              </a:rPr>
              <a:t>    core/spectrum.py + page</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t>
            </a:r>
            <a:r>
              <a:rPr lang="en-US" sz="1400" b="1" dirty="0">
                <a:solidFill>
                  <a:srgbClr val="332F2A"/>
                </a:solidFill>
                <a:latin typeface="IBM Plex Mono" pitchFamily="34" charset="0"/>
                <a:ea typeface="IBM Plex Mono" pitchFamily="34" charset="-122"/>
                <a:cs typeface="IBM Plex Mono" pitchFamily="34" charset="-120"/>
              </a:rPr>
              <a:t>pytest 29 pass</a:t>
            </a:r>
            <a:endParaRPr lang="en-US" sz="1400" dirty="0"/>
          </a:p>
        </p:txBody>
      </p:sp>
      <p:sp>
        <p:nvSpPr>
          <p:cNvPr id="9" name="Text 7"/>
          <p:cNvSpPr/>
          <p:nvPr/>
        </p:nvSpPr>
        <p:spPr>
          <a:xfrm>
            <a:off x="7431430" y="1511300"/>
            <a:ext cx="4201770" cy="130556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Two tasks, two fresh Cline conversations, a commit after each. Never both in one task, however tempting it looks.</a:t>
            </a:r>
            <a:endParaRPr lang="en-US" sz="1600" dirty="0"/>
          </a:p>
        </p:txBody>
      </p:sp>
      <p:sp>
        <p:nvSpPr>
          <p:cNvPr id="10" name="Text 8"/>
          <p:cNvSpPr/>
          <p:nvPr/>
        </p:nvSpPr>
        <p:spPr>
          <a:xfrm>
            <a:off x="7431430" y="2943860"/>
            <a:ext cx="4201770" cy="160020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If a test fails, paste that one failure back and let it fix that one thing. Fifteen minutes stuck is the limit, then restore the reference.</a:t>
            </a:r>
            <a:endParaRPr lang="en-US" sz="1600" dirty="0"/>
          </a:p>
        </p:txBody>
      </p:sp>
      <p:sp>
        <p:nvSpPr>
          <p:cNvPr id="11" name="Shape 9"/>
          <p:cNvSpPr/>
          <p:nvPr/>
        </p:nvSpPr>
        <p:spPr>
          <a:xfrm>
            <a:off x="7431430" y="5384800"/>
            <a:ext cx="12700" cy="698500"/>
          </a:xfrm>
          <a:prstGeom prst="rect">
            <a:avLst/>
          </a:prstGeom>
          <a:solidFill>
            <a:srgbClr val="A87A2E"/>
          </a:solidFill>
          <a:ln/>
        </p:spPr>
        <p:txBody>
          <a:bodyPr/>
          <a:lstStyle/>
          <a:p>
            <a:endParaRPr lang="en-TH"/>
          </a:p>
        </p:txBody>
      </p:sp>
      <p:sp>
        <p:nvSpPr>
          <p:cNvPr id="12" name="Text 10"/>
          <p:cNvSpPr/>
          <p:nvPr/>
        </p:nvSpPr>
        <p:spPr>
          <a:xfrm>
            <a:off x="7596530" y="5416550"/>
            <a:ext cx="4036670" cy="698500"/>
          </a:xfrm>
          <a:prstGeom prst="rect">
            <a:avLst/>
          </a:prstGeom>
          <a:noFill/>
          <a:ln/>
        </p:spPr>
        <p:txBody>
          <a:bodyPr wrap="square" lIns="0" tIns="0" rIns="0" bIns="0" rtlCol="0" anchor="t"/>
          <a:lstStyle/>
          <a:p>
            <a:pPr marL="0" indent="0" algn="l">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Commit every time the tests go green. That is what makes git checkout a safe undo.</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WORKSHOP 05</a:t>
            </a:r>
            <a:endParaRPr lang="en-US" sz="1200" dirty="0"/>
          </a:p>
        </p:txBody>
      </p:sp>
      <p:pic>
        <p:nvPicPr>
          <p:cNvPr id="3" name="Image 0" descr="icons/streamlit.png"/>
          <p:cNvPicPr>
            <a:picLocks noChangeAspect="1"/>
          </p:cNvPicPr>
          <p:nvPr/>
        </p:nvPicPr>
        <p:blipFill>
          <a:blip r:embed="rId3"/>
          <a:stretch>
            <a:fillRect/>
          </a:stretch>
        </p:blipFill>
        <p:spPr>
          <a:xfrm>
            <a:off x="11087100" y="361950"/>
            <a:ext cx="203200" cy="203200"/>
          </a:xfrm>
          <a:prstGeom prst="rect">
            <a:avLst/>
          </a:prstGeom>
        </p:spPr>
      </p:pic>
      <p:pic>
        <p:nvPicPr>
          <p:cNvPr id="4" name="Image 1" descr="icons/github.png"/>
          <p:cNvPicPr>
            <a:picLocks noChangeAspect="1"/>
          </p:cNvPicPr>
          <p:nvPr/>
        </p:nvPicPr>
        <p:blipFill>
          <a:blip r:embed="rId4"/>
          <a:stretch>
            <a:fillRect/>
          </a:stretch>
        </p:blipFill>
        <p:spPr>
          <a:xfrm>
            <a:off x="11430000" y="361950"/>
            <a:ext cx="203200" cy="203200"/>
          </a:xfrm>
          <a:prstGeom prst="rect">
            <a:avLst/>
          </a:prstGeom>
        </p:spPr>
      </p:pic>
      <p:sp>
        <p:nvSpPr>
          <p:cNvPr id="5"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Ship it — ten minutes</a:t>
            </a:r>
            <a:endParaRPr lang="en-US" sz="2800" dirty="0"/>
          </a:p>
        </p:txBody>
      </p:sp>
      <p:sp>
        <p:nvSpPr>
          <p:cNvPr id="6" name="Shape 2"/>
          <p:cNvSpPr/>
          <p:nvPr/>
        </p:nvSpPr>
        <p:spPr>
          <a:xfrm>
            <a:off x="558800" y="1181100"/>
            <a:ext cx="11074400" cy="6350"/>
          </a:xfrm>
          <a:prstGeom prst="rect">
            <a:avLst/>
          </a:prstGeom>
          <a:solidFill>
            <a:srgbClr val="E1DED7"/>
          </a:solidFill>
          <a:ln/>
        </p:spPr>
        <p:txBody>
          <a:bodyPr/>
          <a:lstStyle/>
          <a:p>
            <a:endParaRPr lang="en-TH"/>
          </a:p>
        </p:txBody>
      </p:sp>
      <p:sp>
        <p:nvSpPr>
          <p:cNvPr id="7"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8"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39</a:t>
            </a:r>
            <a:endParaRPr lang="en-US" sz="1200" dirty="0"/>
          </a:p>
        </p:txBody>
      </p:sp>
      <p:sp>
        <p:nvSpPr>
          <p:cNvPr id="9" name="Shape 5"/>
          <p:cNvSpPr/>
          <p:nvPr/>
        </p:nvSpPr>
        <p:spPr>
          <a:xfrm>
            <a:off x="558800" y="1511300"/>
            <a:ext cx="6517030" cy="4572000"/>
          </a:xfrm>
          <a:prstGeom prst="rect">
            <a:avLst/>
          </a:prstGeom>
          <a:solidFill>
            <a:srgbClr val="F5F2EC"/>
          </a:solidFill>
          <a:ln w="6350">
            <a:solidFill>
              <a:srgbClr val="E1DED7"/>
            </a:solidFill>
            <a:prstDash val="solid"/>
          </a:ln>
        </p:spPr>
        <p:txBody>
          <a:bodyPr/>
          <a:lstStyle/>
          <a:p>
            <a:endParaRPr lang="en-TH"/>
          </a:p>
        </p:txBody>
      </p:sp>
      <p:sp>
        <p:nvSpPr>
          <p:cNvPr id="10" name="Text 6"/>
          <p:cNvSpPr/>
          <p:nvPr/>
        </p:nvSpPr>
        <p:spPr>
          <a:xfrm>
            <a:off x="800100" y="1727200"/>
            <a:ext cx="6034430" cy="4140200"/>
          </a:xfrm>
          <a:prstGeom prst="rect">
            <a:avLst/>
          </a:prstGeom>
          <a:noFill/>
          <a:ln/>
        </p:spPr>
        <p:txBody>
          <a:bodyPr wrap="square" lIns="0" tIns="0" rIns="0" bIns="0" rtlCol="0" anchor="t"/>
          <a:lstStyle/>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git push</a:t>
            </a:r>
            <a:endParaRPr lang="en-US" sz="1400" dirty="0"/>
          </a:p>
          <a:p>
            <a:pPr marL="0" indent="0">
              <a:lnSpc>
                <a:spcPct val="160000"/>
              </a:lnSpc>
              <a:buNone/>
            </a:pP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share.streamlit.io</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Continue to sign-in</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authorise GitHub  (first time)</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New app -&gt; from existing repo</a:t>
            </a:r>
            <a:endParaRPr lang="en-US" sz="1400" dirty="0"/>
          </a:p>
          <a:p>
            <a:pPr marL="0" indent="0">
              <a:lnSpc>
                <a:spcPct val="160000"/>
              </a:lnSpc>
              <a:buNone/>
            </a:pP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repo    your-repo</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branch  main</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file    app.py</a:t>
            </a:r>
            <a:endParaRPr lang="en-US" sz="1400" dirty="0"/>
          </a:p>
          <a:p>
            <a:pPr marL="0" indent="0">
              <a:lnSpc>
                <a:spcPct val="160000"/>
              </a:lnSpc>
              <a:buNone/>
            </a:pP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Deploy</a:t>
            </a:r>
            <a:endParaRPr lang="en-US" sz="1400" dirty="0"/>
          </a:p>
        </p:txBody>
      </p:sp>
      <p:sp>
        <p:nvSpPr>
          <p:cNvPr id="11" name="Text 7"/>
          <p:cNvSpPr/>
          <p:nvPr/>
        </p:nvSpPr>
        <p:spPr>
          <a:xfrm>
            <a:off x="7431430" y="1511300"/>
            <a:ext cx="4201770" cy="160020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Push first. Your Codespace is not the internet — the cloud builds from GitHub, so anything you have not pushed does not exist as far as it is concerned.</a:t>
            </a:r>
            <a:endParaRPr lang="en-US" sz="1600" dirty="0"/>
          </a:p>
        </p:txBody>
      </p:sp>
      <p:sp>
        <p:nvSpPr>
          <p:cNvPr id="12" name="Text 8"/>
          <p:cNvSpPr/>
          <p:nvPr/>
        </p:nvSpPr>
        <p:spPr>
          <a:xfrm>
            <a:off x="7431430" y="3238500"/>
            <a:ext cx="4201770" cy="160020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The first deploy makes you a Streamlit account and asks for access to your repositories. Builds take two to five minutes, and sixty of us are building at once.</a:t>
            </a:r>
            <a:endParaRPr lang="en-US" sz="1600" dirty="0"/>
          </a:p>
        </p:txBody>
      </p:sp>
      <p:sp>
        <p:nvSpPr>
          <p:cNvPr id="13" name="Shape 9"/>
          <p:cNvSpPr/>
          <p:nvPr/>
        </p:nvSpPr>
        <p:spPr>
          <a:xfrm>
            <a:off x="7431430" y="5384800"/>
            <a:ext cx="12700" cy="698500"/>
          </a:xfrm>
          <a:prstGeom prst="rect">
            <a:avLst/>
          </a:prstGeom>
          <a:solidFill>
            <a:srgbClr val="A87A2E"/>
          </a:solidFill>
          <a:ln/>
        </p:spPr>
        <p:txBody>
          <a:bodyPr/>
          <a:lstStyle/>
          <a:p>
            <a:endParaRPr lang="en-TH"/>
          </a:p>
        </p:txBody>
      </p:sp>
      <p:sp>
        <p:nvSpPr>
          <p:cNvPr id="14" name="Text 10"/>
          <p:cNvSpPr/>
          <p:nvPr/>
        </p:nvSpPr>
        <p:spPr>
          <a:xfrm>
            <a:off x="7596530" y="5416550"/>
            <a:ext cx="4036670" cy="698500"/>
          </a:xfrm>
          <a:prstGeom prst="rect">
            <a:avLst/>
          </a:prstGeom>
          <a:noFill/>
          <a:ln/>
        </p:spPr>
        <p:txBody>
          <a:bodyPr wrap="square" lIns="0" tIns="0" rIns="0" bIns="0" rtlCol="0" anchor="t"/>
          <a:lstStyle/>
          <a:p>
            <a:pPr marL="0" indent="0" algn="l">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Not live by 2:45? Push, and deploy at home. The code and the four documents are the deliverable; the URL is a bonus.</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2EC"/>
        </a:solidFill>
        <a:effectLst/>
      </p:bgPr>
    </p:bg>
    <p:spTree>
      <p:nvGrpSpPr>
        <p:cNvPr id="1" name=""/>
        <p:cNvGrpSpPr/>
        <p:nvPr/>
      </p:nvGrpSpPr>
      <p:grpSpPr>
        <a:xfrm>
          <a:off x="0" y="0"/>
          <a:ext cx="0" cy="0"/>
          <a:chOff x="0" y="0"/>
          <a:chExt cx="0" cy="0"/>
        </a:xfrm>
      </p:grpSpPr>
      <p:sp>
        <p:nvSpPr>
          <p:cNvPr id="2" name="Text 0"/>
          <p:cNvSpPr/>
          <p:nvPr/>
        </p:nvSpPr>
        <p:spPr>
          <a:xfrm>
            <a:off x="558800" y="2286000"/>
            <a:ext cx="11074400" cy="254000"/>
          </a:xfrm>
          <a:prstGeom prst="rect">
            <a:avLst/>
          </a:prstGeom>
          <a:noFill/>
          <a:ln/>
        </p:spPr>
        <p:txBody>
          <a:bodyPr wrap="square" lIns="0" tIns="0" rIns="0" bIns="0" rtlCol="0" anchor="t"/>
          <a:lstStyle/>
          <a:p>
            <a:pPr marL="0" indent="0" algn="l">
              <a:lnSpc>
                <a:spcPct val="145000"/>
              </a:lnSpc>
              <a:buNone/>
            </a:pPr>
            <a:r>
              <a:rPr lang="en-US" sz="1300" kern="0" spc="182" dirty="0">
                <a:solidFill>
                  <a:srgbClr val="A87A2E"/>
                </a:solidFill>
                <a:latin typeface="IBM Plex Mono" pitchFamily="34" charset="0"/>
                <a:ea typeface="IBM Plex Mono" pitchFamily="34" charset="-122"/>
                <a:cs typeface="IBM Plex Mono" pitchFamily="34" charset="-120"/>
              </a:rPr>
              <a:t>SECTION 06</a:t>
            </a:r>
            <a:endParaRPr lang="en-US" sz="1300" dirty="0"/>
          </a:p>
        </p:txBody>
      </p:sp>
      <p:sp>
        <p:nvSpPr>
          <p:cNvPr id="3" name="Text 1"/>
          <p:cNvSpPr/>
          <p:nvPr/>
        </p:nvSpPr>
        <p:spPr>
          <a:xfrm>
            <a:off x="558800" y="2667000"/>
            <a:ext cx="8255000" cy="1206500"/>
          </a:xfrm>
          <a:prstGeom prst="rect">
            <a:avLst/>
          </a:prstGeom>
          <a:noFill/>
          <a:ln/>
        </p:spPr>
        <p:txBody>
          <a:bodyPr wrap="square" lIns="0" tIns="0" rIns="0" bIns="0" rtlCol="0" anchor="t"/>
          <a:lstStyle/>
          <a:p>
            <a:pPr marL="0" indent="0" algn="l">
              <a:lnSpc>
                <a:spcPct val="108000"/>
              </a:lnSpc>
              <a:buNone/>
            </a:pPr>
            <a:r>
              <a:rPr lang="en-US" sz="4000" b="1" dirty="0">
                <a:solidFill>
                  <a:srgbClr val="332F2A"/>
                </a:solidFill>
                <a:latin typeface="Libre Franklin" pitchFamily="34" charset="0"/>
                <a:ea typeface="Libre Franklin" pitchFamily="34" charset="-122"/>
                <a:cs typeface="Libre Franklin" pitchFamily="34" charset="-120"/>
              </a:rPr>
              <a:t>How the analyser actually works</a:t>
            </a:r>
            <a:endParaRPr lang="en-US" sz="4000" dirty="0"/>
          </a:p>
        </p:txBody>
      </p:sp>
      <p:sp>
        <p:nvSpPr>
          <p:cNvPr id="4" name="Text 2"/>
          <p:cNvSpPr/>
          <p:nvPr/>
        </p:nvSpPr>
        <p:spPr>
          <a:xfrm>
            <a:off x="558800" y="4064000"/>
            <a:ext cx="6985000" cy="635000"/>
          </a:xfrm>
          <a:prstGeom prst="rect">
            <a:avLst/>
          </a:prstGeom>
          <a:noFill/>
          <a:ln/>
        </p:spPr>
        <p:txBody>
          <a:bodyPr wrap="square" lIns="0" tIns="0" rIns="0" bIns="0" rtlCol="0" anchor="t"/>
          <a:lstStyle/>
          <a:p>
            <a:pPr marL="0" indent="0" algn="l">
              <a:lnSpc>
                <a:spcPct val="140000"/>
              </a:lnSpc>
              <a:buNone/>
            </a:pPr>
            <a:r>
              <a:rPr lang="en-US" sz="1700" dirty="0">
                <a:solidFill>
                  <a:srgbClr val="77726A"/>
                </a:solidFill>
                <a:latin typeface="Libre Franklin" pitchFamily="34" charset="0"/>
                <a:ea typeface="Libre Franklin" pitchFamily="34" charset="-122"/>
                <a:cs typeface="Libre Franklin" pitchFamily="34" charset="-120"/>
              </a:rPr>
              <a:t>You approved this code. Now read it — the maths first, then the page that puts it on screen.</a:t>
            </a:r>
            <a:endParaRPr lang="en-US" sz="1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SECTION 06</a:t>
            </a:r>
            <a:endParaRPr lang="en-US" sz="1200" dirty="0"/>
          </a:p>
        </p:txBody>
      </p:sp>
      <p:pic>
        <p:nvPicPr>
          <p:cNvPr id="3" name="Image 0" descr="icons/python.png"/>
          <p:cNvPicPr>
            <a:picLocks noChangeAspect="1"/>
          </p:cNvPicPr>
          <p:nvPr/>
        </p:nvPicPr>
        <p:blipFill>
          <a:blip r:embed="rId3"/>
          <a:stretch>
            <a:fillRect/>
          </a:stretch>
        </p:blipFill>
        <p:spPr>
          <a:xfrm>
            <a:off x="11087100" y="361950"/>
            <a:ext cx="203200" cy="203200"/>
          </a:xfrm>
          <a:prstGeom prst="rect">
            <a:avLst/>
          </a:prstGeom>
        </p:spPr>
      </p:pic>
      <p:pic>
        <p:nvPicPr>
          <p:cNvPr id="4" name="Image 1" descr="icons/numpy.png"/>
          <p:cNvPicPr>
            <a:picLocks noChangeAspect="1"/>
          </p:cNvPicPr>
          <p:nvPr/>
        </p:nvPicPr>
        <p:blipFill>
          <a:blip r:embed="rId4"/>
          <a:stretch>
            <a:fillRect/>
          </a:stretch>
        </p:blipFill>
        <p:spPr>
          <a:xfrm>
            <a:off x="11430000" y="361950"/>
            <a:ext cx="203200" cy="203200"/>
          </a:xfrm>
          <a:prstGeom prst="rect">
            <a:avLst/>
          </a:prstGeom>
        </p:spPr>
      </p:pic>
      <p:sp>
        <p:nvSpPr>
          <p:cNvPr id="5"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A wave becomes a list of numbers</a:t>
            </a:r>
            <a:endParaRPr lang="en-US" sz="2800" dirty="0"/>
          </a:p>
        </p:txBody>
      </p:sp>
      <p:sp>
        <p:nvSpPr>
          <p:cNvPr id="6" name="Shape 2"/>
          <p:cNvSpPr/>
          <p:nvPr/>
        </p:nvSpPr>
        <p:spPr>
          <a:xfrm>
            <a:off x="558800" y="1181100"/>
            <a:ext cx="11074400" cy="6350"/>
          </a:xfrm>
          <a:prstGeom prst="rect">
            <a:avLst/>
          </a:prstGeom>
          <a:solidFill>
            <a:srgbClr val="E1DED7"/>
          </a:solidFill>
          <a:ln/>
        </p:spPr>
        <p:txBody>
          <a:bodyPr/>
          <a:lstStyle/>
          <a:p>
            <a:endParaRPr lang="en-TH"/>
          </a:p>
        </p:txBody>
      </p:sp>
      <p:sp>
        <p:nvSpPr>
          <p:cNvPr id="7"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8"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41</a:t>
            </a:r>
            <a:endParaRPr lang="en-US" sz="1200" dirty="0"/>
          </a:p>
        </p:txBody>
      </p:sp>
      <p:sp>
        <p:nvSpPr>
          <p:cNvPr id="9" name="Shape 5"/>
          <p:cNvSpPr/>
          <p:nvPr/>
        </p:nvSpPr>
        <p:spPr>
          <a:xfrm>
            <a:off x="558800" y="1511300"/>
            <a:ext cx="6517030" cy="4572000"/>
          </a:xfrm>
          <a:prstGeom prst="rect">
            <a:avLst/>
          </a:prstGeom>
          <a:solidFill>
            <a:srgbClr val="F5F2EC"/>
          </a:solidFill>
          <a:ln w="6350">
            <a:solidFill>
              <a:srgbClr val="E1DED7"/>
            </a:solidFill>
            <a:prstDash val="solid"/>
          </a:ln>
        </p:spPr>
        <p:txBody>
          <a:bodyPr/>
          <a:lstStyle/>
          <a:p>
            <a:endParaRPr lang="en-TH"/>
          </a:p>
        </p:txBody>
      </p:sp>
      <p:sp>
        <p:nvSpPr>
          <p:cNvPr id="10" name="Text 6"/>
          <p:cNvSpPr/>
          <p:nvPr/>
        </p:nvSpPr>
        <p:spPr>
          <a:xfrm>
            <a:off x="800100" y="1727200"/>
            <a:ext cx="6034430" cy="4140200"/>
          </a:xfrm>
          <a:prstGeom prst="rect">
            <a:avLst/>
          </a:prstGeom>
          <a:noFill/>
          <a:ln/>
        </p:spPr>
        <p:txBody>
          <a:bodyPr wrap="square" lIns="0" tIns="0" rIns="0" bIns="0" rtlCol="0" anchor="t"/>
          <a:lstStyle/>
          <a:p>
            <a:pPr marL="0" indent="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 make_signal — building the input</a:t>
            </a:r>
            <a:endParaRPr lang="en-US" sz="1400" dirty="0"/>
          </a:p>
          <a:p>
            <a:pPr marL="0" indent="0">
              <a:lnSpc>
                <a:spcPct val="160000"/>
              </a:lnSpc>
              <a:buNone/>
            </a:pP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times = np.arange(0, duration, 1/fs)</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signal = np.zeros_like(times)</a:t>
            </a:r>
            <a:endParaRPr lang="en-US" sz="1400" dirty="0"/>
          </a:p>
          <a:p>
            <a:pPr marL="0" indent="0">
              <a:lnSpc>
                <a:spcPct val="160000"/>
              </a:lnSpc>
              <a:buNone/>
            </a:pP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for freq, amp in components:</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signal += amp * np.sin(</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2 * np.pi * freq * times)</a:t>
            </a:r>
            <a:endParaRPr lang="en-US" sz="1400" dirty="0"/>
          </a:p>
          <a:p>
            <a:pPr marL="0" indent="0">
              <a:lnSpc>
                <a:spcPct val="160000"/>
              </a:lnSpc>
              <a:buNone/>
            </a:pP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fs = 1000 samples per second</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duration = 1 s  -&gt;  n = 1000 numbers</a:t>
            </a:r>
            <a:endParaRPr lang="en-US" sz="1400" dirty="0"/>
          </a:p>
        </p:txBody>
      </p:sp>
      <p:sp>
        <p:nvSpPr>
          <p:cNvPr id="11" name="Text 7"/>
          <p:cNvSpPr/>
          <p:nvPr/>
        </p:nvSpPr>
        <p:spPr>
          <a:xfrm>
            <a:off x="7431430" y="1511300"/>
            <a:ext cx="4201770" cy="160020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A computer never stores a curve. It stores the height of the wave at evenly spaced instants — here a thousand of them, one every millisecond.</a:t>
            </a:r>
            <a:endParaRPr lang="en-US" sz="1600" dirty="0"/>
          </a:p>
        </p:txBody>
      </p:sp>
      <p:sp>
        <p:nvSpPr>
          <p:cNvPr id="12" name="Text 8"/>
          <p:cNvSpPr/>
          <p:nvPr/>
        </p:nvSpPr>
        <p:spPr>
          <a:xfrm>
            <a:off x="7431430" y="3238500"/>
            <a:ext cx="4201770" cy="130556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sin(2·pi·f·t) is one tone; the loop adds a term per tone. Everything after this works on that list of a thousand numbers.</a:t>
            </a:r>
            <a:endParaRPr lang="en-US" sz="1600" dirty="0"/>
          </a:p>
        </p:txBody>
      </p:sp>
      <p:sp>
        <p:nvSpPr>
          <p:cNvPr id="13" name="Shape 9"/>
          <p:cNvSpPr/>
          <p:nvPr/>
        </p:nvSpPr>
        <p:spPr>
          <a:xfrm>
            <a:off x="7431430" y="5384800"/>
            <a:ext cx="12700" cy="698500"/>
          </a:xfrm>
          <a:prstGeom prst="rect">
            <a:avLst/>
          </a:prstGeom>
          <a:solidFill>
            <a:srgbClr val="A87A2E"/>
          </a:solidFill>
          <a:ln/>
        </p:spPr>
        <p:txBody>
          <a:bodyPr/>
          <a:lstStyle/>
          <a:p>
            <a:endParaRPr lang="en-TH"/>
          </a:p>
        </p:txBody>
      </p:sp>
      <p:sp>
        <p:nvSpPr>
          <p:cNvPr id="14" name="Text 10"/>
          <p:cNvSpPr/>
          <p:nvPr/>
        </p:nvSpPr>
        <p:spPr>
          <a:xfrm>
            <a:off x="7596530" y="5416550"/>
            <a:ext cx="4036670" cy="698500"/>
          </a:xfrm>
          <a:prstGeom prst="rect">
            <a:avLst/>
          </a:prstGeom>
          <a:noFill/>
          <a:ln/>
        </p:spPr>
        <p:txBody>
          <a:bodyPr wrap="square" lIns="0" tIns="0" rIns="0" bIns="0" rtlCol="0" anchor="t"/>
          <a:lstStyle/>
          <a:p>
            <a:pPr marL="0" indent="0" algn="l">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fs is the only reason the numbers mean anything. Without it, a list of samples has no timescale at all.</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SECTION 06</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You only ever see half the sampling rate</a:t>
            </a:r>
            <a:endParaRPr lang="en-US" sz="2800" dirty="0"/>
          </a:p>
        </p:txBody>
      </p:sp>
      <p:sp>
        <p:nvSpPr>
          <p:cNvPr id="4" name="Shape 2"/>
          <p:cNvSpPr/>
          <p:nvPr/>
        </p:nvSpPr>
        <p:spPr>
          <a:xfrm>
            <a:off x="558800" y="1181100"/>
            <a:ext cx="11074400" cy="6350"/>
          </a:xfrm>
          <a:prstGeom prst="rect">
            <a:avLst/>
          </a:prstGeom>
          <a:solidFill>
            <a:srgbClr val="E1DED7"/>
          </a:solidFill>
          <a:ln/>
        </p:spPr>
        <p:txBody>
          <a:bodyPr/>
          <a:lstStyle/>
          <a:p>
            <a:endParaRPr lang="en-TH"/>
          </a:p>
        </p:txBody>
      </p:sp>
      <p:sp>
        <p:nvSpPr>
          <p:cNvPr id="5"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42</a:t>
            </a:r>
            <a:endParaRPr lang="en-US" sz="1200" dirty="0"/>
          </a:p>
        </p:txBody>
      </p:sp>
      <p:sp>
        <p:nvSpPr>
          <p:cNvPr id="7" name="Text 5"/>
          <p:cNvSpPr/>
          <p:nvPr/>
        </p:nvSpPr>
        <p:spPr>
          <a:xfrm>
            <a:off x="558800" y="1511300"/>
            <a:ext cx="190500" cy="317500"/>
          </a:xfrm>
          <a:prstGeom prst="rect">
            <a:avLst/>
          </a:prstGeom>
          <a:noFill/>
          <a:ln/>
        </p:spPr>
        <p:txBody>
          <a:bodyPr wrap="square" lIns="0" tIns="0" rIns="0" bIns="0" rtlCol="0" anchor="t"/>
          <a:lstStyle/>
          <a:p>
            <a:pPr marL="0" indent="0" algn="l">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8" name="Text 6"/>
          <p:cNvSpPr/>
          <p:nvPr/>
        </p:nvSpPr>
        <p:spPr>
          <a:xfrm>
            <a:off x="927100" y="1511300"/>
            <a:ext cx="9156700" cy="1066165"/>
          </a:xfrm>
          <a:prstGeom prst="rect">
            <a:avLst/>
          </a:prstGeom>
          <a:noFill/>
          <a:ln/>
        </p:spPr>
        <p:txBody>
          <a:bodyPr wrap="square" lIns="0" tIns="0" rIns="0" bIns="0" rtlCol="0" anchor="t"/>
          <a:lstStyle/>
          <a:p>
            <a:pPr marL="0" indent="0" algn="l">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Sample at 1000 Hz and the highest frequency you can measure is 500. </a:t>
            </a:r>
            <a:r>
              <a:rPr lang="en-US" sz="1700" dirty="0">
                <a:solidFill>
                  <a:srgbClr val="332F2A"/>
                </a:solidFill>
                <a:latin typeface="Libre Franklin" pitchFamily="34" charset="0"/>
                <a:ea typeface="Libre Franklin" pitchFamily="34" charset="-122"/>
                <a:cs typeface="Libre Franklin" pitchFamily="34" charset="-120"/>
              </a:rPr>
              <a:t>That ceiling is the Nyquist frequency, exactly half the sampling rate. The lab's 50 Hz and 120 Hz sit comfortably underneath it.</a:t>
            </a:r>
            <a:endParaRPr lang="en-US" sz="1700" dirty="0"/>
          </a:p>
        </p:txBody>
      </p:sp>
      <p:sp>
        <p:nvSpPr>
          <p:cNvPr id="9" name="Text 7"/>
          <p:cNvSpPr/>
          <p:nvPr/>
        </p:nvSpPr>
        <p:spPr>
          <a:xfrm>
            <a:off x="558800" y="2704465"/>
            <a:ext cx="190500" cy="317500"/>
          </a:xfrm>
          <a:prstGeom prst="rect">
            <a:avLst/>
          </a:prstGeom>
          <a:noFill/>
          <a:ln/>
        </p:spPr>
        <p:txBody>
          <a:bodyPr wrap="square" lIns="0" tIns="0" rIns="0" bIns="0" rtlCol="0" anchor="t"/>
          <a:lstStyle/>
          <a:p>
            <a:pPr marL="0" indent="0" algn="l">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0" name="Text 8"/>
          <p:cNvSpPr/>
          <p:nvPr/>
        </p:nvSpPr>
        <p:spPr>
          <a:xfrm>
            <a:off x="927100" y="2704465"/>
            <a:ext cx="9156700" cy="1066165"/>
          </a:xfrm>
          <a:prstGeom prst="rect">
            <a:avLst/>
          </a:prstGeom>
          <a:noFill/>
          <a:ln/>
        </p:spPr>
        <p:txBody>
          <a:bodyPr wrap="square" lIns="0" tIns="0" rIns="0" bIns="0" rtlCol="0" anchor="t"/>
          <a:lstStyle/>
          <a:p>
            <a:pPr marL="0" indent="0" algn="l">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Above the ceiling, a tone comes back wearing a disguise. </a:t>
            </a:r>
            <a:r>
              <a:rPr lang="en-US" sz="1700" dirty="0">
                <a:solidFill>
                  <a:srgbClr val="332F2A"/>
                </a:solidFill>
                <a:latin typeface="Libre Franklin" pitchFamily="34" charset="0"/>
                <a:ea typeface="Libre Franklin" pitchFamily="34" charset="-122"/>
                <a:cs typeface="Libre Franklin" pitchFamily="34" charset="-120"/>
              </a:rPr>
              <a:t>A 600 Hz tone sampled at 1000 Hz is indistinguishable from a 400 Hz one. That is aliasing, and it is why wagon wheels appear to spin backwards on film.</a:t>
            </a:r>
            <a:endParaRPr lang="en-US" sz="1700" dirty="0"/>
          </a:p>
        </p:txBody>
      </p:sp>
      <p:sp>
        <p:nvSpPr>
          <p:cNvPr id="11" name="Text 9"/>
          <p:cNvSpPr/>
          <p:nvPr/>
        </p:nvSpPr>
        <p:spPr>
          <a:xfrm>
            <a:off x="558800" y="3897630"/>
            <a:ext cx="190500" cy="317500"/>
          </a:xfrm>
          <a:prstGeom prst="rect">
            <a:avLst/>
          </a:prstGeom>
          <a:noFill/>
          <a:ln/>
        </p:spPr>
        <p:txBody>
          <a:bodyPr wrap="square" lIns="0" tIns="0" rIns="0" bIns="0" rtlCol="0" anchor="t"/>
          <a:lstStyle/>
          <a:p>
            <a:pPr marL="0" indent="0" algn="l">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2" name="Text 10"/>
          <p:cNvSpPr/>
          <p:nvPr/>
        </p:nvSpPr>
        <p:spPr>
          <a:xfrm>
            <a:off x="927100" y="3897630"/>
            <a:ext cx="9156700" cy="1066165"/>
          </a:xfrm>
          <a:prstGeom prst="rect">
            <a:avLst/>
          </a:prstGeom>
          <a:noFill/>
          <a:ln/>
        </p:spPr>
        <p:txBody>
          <a:bodyPr wrap="square" lIns="0" tIns="0" rIns="0" bIns="0" rtlCol="0" anchor="t"/>
          <a:lstStyle/>
          <a:p>
            <a:pPr marL="0" indent="0" algn="l">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Nothing in the code will warn you. </a:t>
            </a:r>
            <a:r>
              <a:rPr lang="en-US" sz="1700" dirty="0">
                <a:solidFill>
                  <a:srgbClr val="332F2A"/>
                </a:solidFill>
                <a:latin typeface="Libre Franklin" pitchFamily="34" charset="0"/>
                <a:ea typeface="Libre Franklin" pitchFamily="34" charset="-122"/>
                <a:cs typeface="Libre Franklin" pitchFamily="34" charset="-120"/>
              </a:rPr>
              <a:t>rfftfreq simply stops at 500 Hz. A tone above it does not raise an error — it quietly reports the wrong frequency, and the chart looks entirely reasonable.</a:t>
            </a:r>
            <a:endParaRPr lang="en-US" sz="1700" dirty="0"/>
          </a:p>
        </p:txBody>
      </p:sp>
      <p:sp>
        <p:nvSpPr>
          <p:cNvPr id="13" name="Text 11"/>
          <p:cNvSpPr/>
          <p:nvPr/>
        </p:nvSpPr>
        <p:spPr>
          <a:xfrm>
            <a:off x="558800" y="5090795"/>
            <a:ext cx="190500" cy="317500"/>
          </a:xfrm>
          <a:prstGeom prst="rect">
            <a:avLst/>
          </a:prstGeom>
          <a:noFill/>
          <a:ln/>
        </p:spPr>
        <p:txBody>
          <a:bodyPr wrap="square" lIns="0" tIns="0" rIns="0" bIns="0" rtlCol="0" anchor="t"/>
          <a:lstStyle/>
          <a:p>
            <a:pPr marL="0" indent="0" algn="l">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4" name="Text 12"/>
          <p:cNvSpPr/>
          <p:nvPr/>
        </p:nvSpPr>
        <p:spPr>
          <a:xfrm>
            <a:off x="927100" y="5090795"/>
            <a:ext cx="9156700" cy="1066165"/>
          </a:xfrm>
          <a:prstGeom prst="rect">
            <a:avLst/>
          </a:prstGeom>
          <a:noFill/>
          <a:ln/>
        </p:spPr>
        <p:txBody>
          <a:bodyPr wrap="square" lIns="0" tIns="0" rIns="0" bIns="0" rtlCol="0" anchor="t"/>
          <a:lstStyle/>
          <a:p>
            <a:pPr marL="0" indent="0" algn="l">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The fix is always the sampling rate, never the maths. </a:t>
            </a:r>
            <a:r>
              <a:rPr lang="en-US" sz="1700" dirty="0">
                <a:solidFill>
                  <a:srgbClr val="332F2A"/>
                </a:solidFill>
                <a:latin typeface="Libre Franklin" pitchFamily="34" charset="0"/>
                <a:ea typeface="Libre Franklin" pitchFamily="34" charset="-122"/>
                <a:cs typeface="Libre Franklin" pitchFamily="34" charset="-120"/>
              </a:rPr>
              <a:t>To see a 1 kHz tone you must sample faster than 2 kHz. This is the Nyquist–Shannon sampling theorem, and it is the one piece of theory worth carrying out of today.</a:t>
            </a:r>
            <a:endParaRPr lang="en-US" sz="1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SECTION 06</a:t>
            </a:r>
            <a:endParaRPr lang="en-US" sz="1200" dirty="0"/>
          </a:p>
        </p:txBody>
      </p:sp>
      <p:pic>
        <p:nvPicPr>
          <p:cNvPr id="3" name="Image 0" descr="icons/python.png"/>
          <p:cNvPicPr>
            <a:picLocks noChangeAspect="1"/>
          </p:cNvPicPr>
          <p:nvPr/>
        </p:nvPicPr>
        <p:blipFill>
          <a:blip r:embed="rId3"/>
          <a:stretch>
            <a:fillRect/>
          </a:stretch>
        </p:blipFill>
        <p:spPr>
          <a:xfrm>
            <a:off x="11087100" y="361950"/>
            <a:ext cx="203200" cy="203200"/>
          </a:xfrm>
          <a:prstGeom prst="rect">
            <a:avLst/>
          </a:prstGeom>
        </p:spPr>
      </p:pic>
      <p:pic>
        <p:nvPicPr>
          <p:cNvPr id="4" name="Image 1" descr="icons/numpy.png"/>
          <p:cNvPicPr>
            <a:picLocks noChangeAspect="1"/>
          </p:cNvPicPr>
          <p:nvPr/>
        </p:nvPicPr>
        <p:blipFill>
          <a:blip r:embed="rId4"/>
          <a:stretch>
            <a:fillRect/>
          </a:stretch>
        </p:blipFill>
        <p:spPr>
          <a:xfrm>
            <a:off x="11430000" y="361950"/>
            <a:ext cx="203200" cy="203200"/>
          </a:xfrm>
          <a:prstGeom prst="rect">
            <a:avLst/>
          </a:prstGeom>
        </p:spPr>
      </p:pic>
      <p:sp>
        <p:nvSpPr>
          <p:cNvPr id="5"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From N samples to N/2 + 1 frequencies</a:t>
            </a:r>
            <a:endParaRPr lang="en-US" sz="2800" dirty="0"/>
          </a:p>
        </p:txBody>
      </p:sp>
      <p:sp>
        <p:nvSpPr>
          <p:cNvPr id="6" name="Shape 2"/>
          <p:cNvSpPr/>
          <p:nvPr/>
        </p:nvSpPr>
        <p:spPr>
          <a:xfrm>
            <a:off x="558800" y="1181100"/>
            <a:ext cx="11074400" cy="6350"/>
          </a:xfrm>
          <a:prstGeom prst="rect">
            <a:avLst/>
          </a:prstGeom>
          <a:solidFill>
            <a:srgbClr val="E1DED7"/>
          </a:solidFill>
          <a:ln/>
        </p:spPr>
        <p:txBody>
          <a:bodyPr/>
          <a:lstStyle/>
          <a:p>
            <a:endParaRPr lang="en-TH"/>
          </a:p>
        </p:txBody>
      </p:sp>
      <p:sp>
        <p:nvSpPr>
          <p:cNvPr id="7"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8"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43</a:t>
            </a:r>
            <a:endParaRPr lang="en-US" sz="1200" dirty="0"/>
          </a:p>
        </p:txBody>
      </p:sp>
      <p:sp>
        <p:nvSpPr>
          <p:cNvPr id="9" name="Shape 5"/>
          <p:cNvSpPr/>
          <p:nvPr/>
        </p:nvSpPr>
        <p:spPr>
          <a:xfrm>
            <a:off x="558800" y="1511300"/>
            <a:ext cx="6517030" cy="4572000"/>
          </a:xfrm>
          <a:prstGeom prst="rect">
            <a:avLst/>
          </a:prstGeom>
          <a:solidFill>
            <a:srgbClr val="F5F2EC"/>
          </a:solidFill>
          <a:ln w="6350">
            <a:solidFill>
              <a:srgbClr val="E1DED7"/>
            </a:solidFill>
            <a:prstDash val="solid"/>
          </a:ln>
        </p:spPr>
        <p:txBody>
          <a:bodyPr/>
          <a:lstStyle/>
          <a:p>
            <a:endParaRPr lang="en-TH"/>
          </a:p>
        </p:txBody>
      </p:sp>
      <p:sp>
        <p:nvSpPr>
          <p:cNvPr id="10" name="Text 6"/>
          <p:cNvSpPr/>
          <p:nvPr/>
        </p:nvSpPr>
        <p:spPr>
          <a:xfrm>
            <a:off x="800100" y="1727200"/>
            <a:ext cx="6034430" cy="4140200"/>
          </a:xfrm>
          <a:prstGeom prst="rect">
            <a:avLst/>
          </a:prstGeom>
          <a:noFill/>
          <a:ln/>
        </p:spPr>
        <p:txBody>
          <a:bodyPr wrap="square" lIns="0" tIns="0" rIns="0" bIns="0" rtlCol="0" anchor="t"/>
          <a:lstStyle/>
          <a:p>
            <a:pPr marL="0" indent="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 spectrum — time into frequency</a:t>
            </a:r>
            <a:endParaRPr lang="en-US" sz="1400" dirty="0"/>
          </a:p>
          <a:p>
            <a:pPr marL="0" indent="0">
              <a:lnSpc>
                <a:spcPct val="160000"/>
              </a:lnSpc>
              <a:buNone/>
            </a:pP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coefficients = np.fft.rfft(signal)</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freqs = np.fft.rfftfreq(n, 1/fs)</a:t>
            </a:r>
            <a:endParaRPr lang="en-US" sz="1400" dirty="0"/>
          </a:p>
          <a:p>
            <a:pPr marL="0" indent="0">
              <a:lnSpc>
                <a:spcPct val="160000"/>
              </a:lnSpc>
              <a:buNone/>
            </a:pP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n = 1000 samples, fs = 1000 Hz</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-&gt;  501 frequencies, 0 to 500 Hz</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-&gt;  spaced fs/n = 1 Hz apart</a:t>
            </a:r>
            <a:endParaRPr lang="en-US" sz="1400" dirty="0"/>
          </a:p>
          <a:p>
            <a:pPr marL="0" indent="0">
              <a:lnSpc>
                <a:spcPct val="160000"/>
              </a:lnSpc>
              <a:buNone/>
            </a:pP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one second of signal buys you</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1 Hz of frequency detail</a:t>
            </a:r>
            <a:endParaRPr lang="en-US" sz="1400" dirty="0"/>
          </a:p>
        </p:txBody>
      </p:sp>
      <p:sp>
        <p:nvSpPr>
          <p:cNvPr id="11" name="Text 7"/>
          <p:cNvSpPr/>
          <p:nvPr/>
        </p:nvSpPr>
        <p:spPr>
          <a:xfrm>
            <a:off x="7431430" y="1511300"/>
            <a:ext cx="4201770" cy="189484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The discrete Fourier transform asks, of every frequency it can see, how much of that frequency is in the signal. rfft does it for real input and returns only the positive half.</a:t>
            </a:r>
            <a:endParaRPr lang="en-US" sz="1600" dirty="0"/>
          </a:p>
        </p:txBody>
      </p:sp>
      <p:sp>
        <p:nvSpPr>
          <p:cNvPr id="12" name="Text 8"/>
          <p:cNvSpPr/>
          <p:nvPr/>
        </p:nvSpPr>
        <p:spPr>
          <a:xfrm>
            <a:off x="7431430" y="3533140"/>
            <a:ext cx="4201770" cy="160020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Resolution comes from duration alone: bins sit fs/n apart, and n is fs times duration, so the spacing is 1/duration. Two seconds would give 0.5 Hz.</a:t>
            </a:r>
            <a:endParaRPr lang="en-US" sz="1600" dirty="0"/>
          </a:p>
        </p:txBody>
      </p:sp>
      <p:sp>
        <p:nvSpPr>
          <p:cNvPr id="13" name="Shape 9"/>
          <p:cNvSpPr/>
          <p:nvPr/>
        </p:nvSpPr>
        <p:spPr>
          <a:xfrm>
            <a:off x="7431430" y="5384800"/>
            <a:ext cx="12700" cy="698500"/>
          </a:xfrm>
          <a:prstGeom prst="rect">
            <a:avLst/>
          </a:prstGeom>
          <a:solidFill>
            <a:srgbClr val="A87A2E"/>
          </a:solidFill>
          <a:ln/>
        </p:spPr>
        <p:txBody>
          <a:bodyPr/>
          <a:lstStyle/>
          <a:p>
            <a:endParaRPr lang="en-TH"/>
          </a:p>
        </p:txBody>
      </p:sp>
      <p:sp>
        <p:nvSpPr>
          <p:cNvPr id="14" name="Text 10"/>
          <p:cNvSpPr/>
          <p:nvPr/>
        </p:nvSpPr>
        <p:spPr>
          <a:xfrm>
            <a:off x="7596530" y="5416550"/>
            <a:ext cx="4036670" cy="698500"/>
          </a:xfrm>
          <a:prstGeom prst="rect">
            <a:avLst/>
          </a:prstGeom>
          <a:noFill/>
          <a:ln/>
        </p:spPr>
        <p:txBody>
          <a:bodyPr wrap="square" lIns="0" tIns="0" rIns="0" bIns="0" rtlCol="0" anchor="t"/>
          <a:lstStyle/>
          <a:p>
            <a:pPr marL="0" indent="0" algn="l">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Longer recording, finer frequency detail. Faster sampling, higher ceiling. Two different knobs.</a:t>
            </a:r>
            <a:endParaRPr lang="en-US" sz="15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SECTION 06</a:t>
            </a:r>
            <a:endParaRPr lang="en-US" sz="1200" dirty="0"/>
          </a:p>
        </p:txBody>
      </p:sp>
      <p:pic>
        <p:nvPicPr>
          <p:cNvPr id="3" name="Image 0" descr="icons/python.png"/>
          <p:cNvPicPr>
            <a:picLocks noChangeAspect="1"/>
          </p:cNvPicPr>
          <p:nvPr/>
        </p:nvPicPr>
        <p:blipFill>
          <a:blip r:embed="rId3"/>
          <a:stretch>
            <a:fillRect/>
          </a:stretch>
        </p:blipFill>
        <p:spPr>
          <a:xfrm>
            <a:off x="11087100" y="361950"/>
            <a:ext cx="203200" cy="203200"/>
          </a:xfrm>
          <a:prstGeom prst="rect">
            <a:avLst/>
          </a:prstGeom>
        </p:spPr>
      </p:pic>
      <p:pic>
        <p:nvPicPr>
          <p:cNvPr id="4" name="Image 1" descr="icons/numpy.png"/>
          <p:cNvPicPr>
            <a:picLocks noChangeAspect="1"/>
          </p:cNvPicPr>
          <p:nvPr/>
        </p:nvPicPr>
        <p:blipFill>
          <a:blip r:embed="rId4"/>
          <a:stretch>
            <a:fillRect/>
          </a:stretch>
        </p:blipFill>
        <p:spPr>
          <a:xfrm>
            <a:off x="11430000" y="361950"/>
            <a:ext cx="203200" cy="203200"/>
          </a:xfrm>
          <a:prstGeom prst="rect">
            <a:avLst/>
          </a:prstGeom>
        </p:spPr>
      </p:pic>
      <p:sp>
        <p:nvSpPr>
          <p:cNvPr id="5"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The two lines that scale it</a:t>
            </a:r>
            <a:endParaRPr lang="en-US" sz="2800" dirty="0"/>
          </a:p>
        </p:txBody>
      </p:sp>
      <p:sp>
        <p:nvSpPr>
          <p:cNvPr id="6" name="Shape 2"/>
          <p:cNvSpPr/>
          <p:nvPr/>
        </p:nvSpPr>
        <p:spPr>
          <a:xfrm>
            <a:off x="558800" y="1181100"/>
            <a:ext cx="11074400" cy="6350"/>
          </a:xfrm>
          <a:prstGeom prst="rect">
            <a:avLst/>
          </a:prstGeom>
          <a:solidFill>
            <a:srgbClr val="E1DED7"/>
          </a:solidFill>
          <a:ln/>
        </p:spPr>
        <p:txBody>
          <a:bodyPr/>
          <a:lstStyle/>
          <a:p>
            <a:endParaRPr lang="en-TH"/>
          </a:p>
        </p:txBody>
      </p:sp>
      <p:sp>
        <p:nvSpPr>
          <p:cNvPr id="7"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8"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44</a:t>
            </a:r>
            <a:endParaRPr lang="en-US" sz="1200" dirty="0"/>
          </a:p>
        </p:txBody>
      </p:sp>
      <p:sp>
        <p:nvSpPr>
          <p:cNvPr id="9" name="Shape 5"/>
          <p:cNvSpPr/>
          <p:nvPr/>
        </p:nvSpPr>
        <p:spPr>
          <a:xfrm>
            <a:off x="558800" y="1511300"/>
            <a:ext cx="6517030" cy="4572000"/>
          </a:xfrm>
          <a:prstGeom prst="rect">
            <a:avLst/>
          </a:prstGeom>
          <a:solidFill>
            <a:srgbClr val="F5F2EC"/>
          </a:solidFill>
          <a:ln w="6350">
            <a:solidFill>
              <a:srgbClr val="E1DED7"/>
            </a:solidFill>
            <a:prstDash val="solid"/>
          </a:ln>
        </p:spPr>
        <p:txBody>
          <a:bodyPr/>
          <a:lstStyle/>
          <a:p>
            <a:endParaRPr lang="en-TH"/>
          </a:p>
        </p:txBody>
      </p:sp>
      <p:sp>
        <p:nvSpPr>
          <p:cNvPr id="10" name="Text 6"/>
          <p:cNvSpPr/>
          <p:nvPr/>
        </p:nvSpPr>
        <p:spPr>
          <a:xfrm>
            <a:off x="800100" y="1727200"/>
            <a:ext cx="6034430" cy="4140200"/>
          </a:xfrm>
          <a:prstGeom prst="rect">
            <a:avLst/>
          </a:prstGeom>
          <a:noFill/>
          <a:ln/>
        </p:spPr>
        <p:txBody>
          <a:bodyPr wrap="square" lIns="0" tIns="0" rIns="0" bIns="0" rtlCol="0" anchor="t"/>
          <a:lstStyle/>
          <a:p>
            <a:pPr marL="0" indent="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 the two lines that matter</a:t>
            </a:r>
            <a:endParaRPr lang="en-US" sz="1400" dirty="0"/>
          </a:p>
          <a:p>
            <a:pPr marL="0" indent="0">
              <a:lnSpc>
                <a:spcPct val="160000"/>
              </a:lnSpc>
              <a:buNone/>
            </a:pP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mag = 2.0 * np.abs(coefficients) / n</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mag[0] = np.abs(coefficients[0]) / n</a:t>
            </a:r>
            <a:endParaRPr lang="en-US" sz="1400" dirty="0"/>
          </a:p>
          <a:p>
            <a:pPr marL="0" indent="0">
              <a:lnSpc>
                <a:spcPct val="160000"/>
              </a:lnSpc>
              <a:buNone/>
            </a:pP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why 2/n ?</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 tone splits its energy</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between +f and -f</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rfft shows you only +f</a:t>
            </a:r>
            <a:endParaRPr lang="en-US" sz="1400" dirty="0"/>
          </a:p>
          <a:p>
            <a:pPr marL="0" indent="0">
              <a:lnSpc>
                <a:spcPct val="160000"/>
              </a:lnSpc>
              <a:buNone/>
            </a:pP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why is bin 0 different ?</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0 Hz has no negative twin</a:t>
            </a:r>
            <a:endParaRPr lang="en-US" sz="1400" dirty="0"/>
          </a:p>
        </p:txBody>
      </p:sp>
      <p:sp>
        <p:nvSpPr>
          <p:cNvPr id="11" name="Text 7"/>
          <p:cNvSpPr/>
          <p:nvPr/>
        </p:nvSpPr>
        <p:spPr>
          <a:xfrm>
            <a:off x="7431430" y="1511300"/>
            <a:ext cx="4201770" cy="130556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Without the 2/n a one-volt tone reads about five hundred. Every spike lands in the right place and every height is wrong.</a:t>
            </a:r>
            <a:endParaRPr lang="en-US" sz="1600" dirty="0"/>
          </a:p>
        </p:txBody>
      </p:sp>
      <p:sp>
        <p:nvSpPr>
          <p:cNvPr id="12" name="Text 8"/>
          <p:cNvSpPr/>
          <p:nvPr/>
        </p:nvSpPr>
        <p:spPr>
          <a:xfrm>
            <a:off x="7431430" y="2943860"/>
            <a:ext cx="4201770" cy="160020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Bin 0 is a constant offset. It was never split across a pair, so doubling it makes it twice what it should be — the bug the agent writes most often.</a:t>
            </a:r>
            <a:endParaRPr lang="en-US" sz="1600" dirty="0"/>
          </a:p>
        </p:txBody>
      </p:sp>
      <p:sp>
        <p:nvSpPr>
          <p:cNvPr id="13" name="Shape 9"/>
          <p:cNvSpPr/>
          <p:nvPr/>
        </p:nvSpPr>
        <p:spPr>
          <a:xfrm>
            <a:off x="7431430" y="5384800"/>
            <a:ext cx="12700" cy="698500"/>
          </a:xfrm>
          <a:prstGeom prst="rect">
            <a:avLst/>
          </a:prstGeom>
          <a:solidFill>
            <a:srgbClr val="A87A2E"/>
          </a:solidFill>
          <a:ln/>
        </p:spPr>
        <p:txBody>
          <a:bodyPr/>
          <a:lstStyle/>
          <a:p>
            <a:endParaRPr lang="en-TH"/>
          </a:p>
        </p:txBody>
      </p:sp>
      <p:sp>
        <p:nvSpPr>
          <p:cNvPr id="14" name="Text 10"/>
          <p:cNvSpPr/>
          <p:nvPr/>
        </p:nvSpPr>
        <p:spPr>
          <a:xfrm>
            <a:off x="7596530" y="5416550"/>
            <a:ext cx="4036670" cy="698500"/>
          </a:xfrm>
          <a:prstGeom prst="rect">
            <a:avLst/>
          </a:prstGeom>
          <a:noFill/>
          <a:ln/>
        </p:spPr>
        <p:txBody>
          <a:bodyPr wrap="square" lIns="0" tIns="0" rIns="0" bIns="0" rtlCol="0" anchor="t"/>
          <a:lstStyle/>
          <a:p>
            <a:pPr marL="0" indent="0" algn="l">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Requirement 5 in your spec, and the single line most worth checking by hand.</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SECTION 06</a:t>
            </a:r>
            <a:endParaRPr lang="en-US" sz="1200" dirty="0"/>
          </a:p>
        </p:txBody>
      </p:sp>
      <p:pic>
        <p:nvPicPr>
          <p:cNvPr id="3" name="Image 0" descr="icons/streamlit.png"/>
          <p:cNvPicPr>
            <a:picLocks noChangeAspect="1"/>
          </p:cNvPicPr>
          <p:nvPr/>
        </p:nvPicPr>
        <p:blipFill>
          <a:blip r:embed="rId3"/>
          <a:stretch>
            <a:fillRect/>
          </a:stretch>
        </p:blipFill>
        <p:spPr>
          <a:xfrm>
            <a:off x="11087100" y="361950"/>
            <a:ext cx="203200" cy="203200"/>
          </a:xfrm>
          <a:prstGeom prst="rect">
            <a:avLst/>
          </a:prstGeom>
        </p:spPr>
      </p:pic>
      <p:pic>
        <p:nvPicPr>
          <p:cNvPr id="4" name="Image 1" descr="icons/python.png"/>
          <p:cNvPicPr>
            <a:picLocks noChangeAspect="1"/>
          </p:cNvPicPr>
          <p:nvPr/>
        </p:nvPicPr>
        <p:blipFill>
          <a:blip r:embed="rId4"/>
          <a:stretch>
            <a:fillRect/>
          </a:stretch>
        </p:blipFill>
        <p:spPr>
          <a:xfrm>
            <a:off x="11430000" y="361950"/>
            <a:ext cx="203200" cy="203200"/>
          </a:xfrm>
          <a:prstGeom prst="rect">
            <a:avLst/>
          </a:prstGeom>
        </p:spPr>
      </p:pic>
      <p:sp>
        <p:nvSpPr>
          <p:cNvPr id="5"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One file per page, and Streamlit finds it</a:t>
            </a:r>
            <a:endParaRPr lang="en-US" sz="2800" dirty="0"/>
          </a:p>
        </p:txBody>
      </p:sp>
      <p:sp>
        <p:nvSpPr>
          <p:cNvPr id="6" name="Shape 2"/>
          <p:cNvSpPr/>
          <p:nvPr/>
        </p:nvSpPr>
        <p:spPr>
          <a:xfrm>
            <a:off x="558800" y="1181100"/>
            <a:ext cx="11074400" cy="6350"/>
          </a:xfrm>
          <a:prstGeom prst="rect">
            <a:avLst/>
          </a:prstGeom>
          <a:solidFill>
            <a:srgbClr val="E1DED7"/>
          </a:solidFill>
          <a:ln/>
        </p:spPr>
        <p:txBody>
          <a:bodyPr/>
          <a:lstStyle/>
          <a:p>
            <a:endParaRPr lang="en-TH"/>
          </a:p>
        </p:txBody>
      </p:sp>
      <p:sp>
        <p:nvSpPr>
          <p:cNvPr id="7"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8"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45</a:t>
            </a:r>
            <a:endParaRPr lang="en-US" sz="1200" dirty="0"/>
          </a:p>
        </p:txBody>
      </p:sp>
      <p:sp>
        <p:nvSpPr>
          <p:cNvPr id="9" name="Shape 5"/>
          <p:cNvSpPr/>
          <p:nvPr/>
        </p:nvSpPr>
        <p:spPr>
          <a:xfrm>
            <a:off x="558800" y="1511300"/>
            <a:ext cx="6517030" cy="4572000"/>
          </a:xfrm>
          <a:prstGeom prst="rect">
            <a:avLst/>
          </a:prstGeom>
          <a:solidFill>
            <a:srgbClr val="F5F2EC"/>
          </a:solidFill>
          <a:ln w="6350">
            <a:solidFill>
              <a:srgbClr val="E1DED7"/>
            </a:solidFill>
            <a:prstDash val="solid"/>
          </a:ln>
        </p:spPr>
        <p:txBody>
          <a:bodyPr/>
          <a:lstStyle/>
          <a:p>
            <a:endParaRPr lang="en-TH"/>
          </a:p>
        </p:txBody>
      </p:sp>
      <p:sp>
        <p:nvSpPr>
          <p:cNvPr id="10" name="Text 6"/>
          <p:cNvSpPr/>
          <p:nvPr/>
        </p:nvSpPr>
        <p:spPr>
          <a:xfrm>
            <a:off x="800100" y="1727200"/>
            <a:ext cx="6034430" cy="4140200"/>
          </a:xfrm>
          <a:prstGeom prst="rect">
            <a:avLst/>
          </a:prstGeom>
          <a:noFill/>
          <a:ln/>
        </p:spPr>
        <p:txBody>
          <a:bodyPr wrap="square" lIns="0" tIns="0" rIns="0" bIns="0" rtlCol="0" anchor="t"/>
          <a:lstStyle/>
          <a:p>
            <a:pPr marL="0" indent="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app.py</a:t>
            </a:r>
            <a:r>
              <a:rPr lang="en-US" sz="1400" dirty="0">
                <a:solidFill>
                  <a:srgbClr val="332F2A"/>
                </a:solidFill>
                <a:latin typeface="IBM Plex Mono" pitchFamily="34" charset="0"/>
                <a:ea typeface="IBM Plex Mono" pitchFamily="34" charset="-122"/>
                <a:cs typeface="IBM Plex Mono" pitchFamily="34" charset="-120"/>
              </a:rPr>
              <a:t>   run this. the entry point.</a:t>
            </a:r>
            <a:endParaRPr lang="en-US" sz="1400" dirty="0"/>
          </a:p>
          <a:p>
            <a:pPr marL="0" indent="0">
              <a:lnSpc>
                <a:spcPct val="160000"/>
              </a:lnSpc>
              <a:buNone/>
            </a:pPr>
            <a:endParaRPr lang="en-US" sz="1400" dirty="0"/>
          </a:p>
          <a:p>
            <a:pPr marL="0" indent="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pages/</a:t>
            </a:r>
            <a:r>
              <a:rPr lang="en-US" sz="1400" dirty="0">
                <a:solidFill>
                  <a:srgbClr val="332F2A"/>
                </a:solidFill>
                <a:latin typeface="IBM Plex Mono" pitchFamily="34" charset="0"/>
                <a:ea typeface="IBM Plex Mono" pitchFamily="34" charset="-122"/>
                <a:cs typeface="IBM Plex Mono" pitchFamily="34" charset="-120"/>
              </a:rPr>
              <a:t>   one file = one tab</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1_Example.py</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2_Spectrum_Analyzer.py</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9_Intake_Desk.py</a:t>
            </a:r>
            <a:endParaRPr lang="en-US" sz="1400" dirty="0"/>
          </a:p>
          <a:p>
            <a:pPr marL="0" indent="0">
              <a:lnSpc>
                <a:spcPct val="160000"/>
              </a:lnSpc>
              <a:buNone/>
            </a:pP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the leading number orders the tabs</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underscores become spaces</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there is no routing code to write</a:t>
            </a:r>
            <a:endParaRPr lang="en-US" sz="1400" dirty="0"/>
          </a:p>
        </p:txBody>
      </p:sp>
      <p:sp>
        <p:nvSpPr>
          <p:cNvPr id="11" name="Text 7"/>
          <p:cNvSpPr/>
          <p:nvPr/>
        </p:nvSpPr>
        <p:spPr>
          <a:xfrm>
            <a:off x="7431430" y="1511300"/>
            <a:ext cx="4201770" cy="130556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Streamlit turns every file in pages/ into a tab by itself. You never register a route or edit a config — you add a file, and it appears.</a:t>
            </a:r>
            <a:endParaRPr lang="en-US" sz="1600" dirty="0"/>
          </a:p>
        </p:txBody>
      </p:sp>
      <p:sp>
        <p:nvSpPr>
          <p:cNvPr id="12" name="Text 8"/>
          <p:cNvSpPr/>
          <p:nvPr/>
        </p:nvSpPr>
        <p:spPr>
          <a:xfrm>
            <a:off x="7431430" y="2943860"/>
            <a:ext cx="4201770" cy="160020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That is why the plan at Gate 3 gives one file to one task. Next week it is one file to one person, and four people never touch the same one.</a:t>
            </a:r>
            <a:endParaRPr lang="en-US" sz="1600" dirty="0"/>
          </a:p>
        </p:txBody>
      </p:sp>
      <p:sp>
        <p:nvSpPr>
          <p:cNvPr id="13" name="Shape 9"/>
          <p:cNvSpPr/>
          <p:nvPr/>
        </p:nvSpPr>
        <p:spPr>
          <a:xfrm>
            <a:off x="7431430" y="5384800"/>
            <a:ext cx="12700" cy="698500"/>
          </a:xfrm>
          <a:prstGeom prst="rect">
            <a:avLst/>
          </a:prstGeom>
          <a:solidFill>
            <a:srgbClr val="A87A2E"/>
          </a:solidFill>
          <a:ln/>
        </p:spPr>
        <p:txBody>
          <a:bodyPr/>
          <a:lstStyle/>
          <a:p>
            <a:endParaRPr lang="en-TH"/>
          </a:p>
        </p:txBody>
      </p:sp>
      <p:sp>
        <p:nvSpPr>
          <p:cNvPr id="14" name="Text 10"/>
          <p:cNvSpPr/>
          <p:nvPr/>
        </p:nvSpPr>
        <p:spPr>
          <a:xfrm>
            <a:off x="7596530" y="5416550"/>
            <a:ext cx="4036670" cy="698500"/>
          </a:xfrm>
          <a:prstGeom prst="rect">
            <a:avLst/>
          </a:prstGeom>
          <a:noFill/>
          <a:ln/>
        </p:spPr>
        <p:txBody>
          <a:bodyPr wrap="square" lIns="0" tIns="0" rIns="0" bIns="0" rtlCol="0" anchor="t"/>
          <a:lstStyle/>
          <a:p>
            <a:pPr marL="0" indent="0" algn="l">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The convention doing the real work here is a naming rule, not a framework feature.</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SECTION 06</a:t>
            </a:r>
            <a:endParaRPr lang="en-US" sz="1200" dirty="0"/>
          </a:p>
        </p:txBody>
      </p:sp>
      <p:pic>
        <p:nvPicPr>
          <p:cNvPr id="3" name="Image 0" descr="icons/streamlit.png"/>
          <p:cNvPicPr>
            <a:picLocks noChangeAspect="1"/>
          </p:cNvPicPr>
          <p:nvPr/>
        </p:nvPicPr>
        <p:blipFill>
          <a:blip r:embed="rId3"/>
          <a:stretch>
            <a:fillRect/>
          </a:stretch>
        </p:blipFill>
        <p:spPr>
          <a:xfrm>
            <a:off x="11087100" y="361950"/>
            <a:ext cx="203200" cy="203200"/>
          </a:xfrm>
          <a:prstGeom prst="rect">
            <a:avLst/>
          </a:prstGeom>
        </p:spPr>
      </p:pic>
      <p:pic>
        <p:nvPicPr>
          <p:cNvPr id="4" name="Image 1" descr="icons/python.png"/>
          <p:cNvPicPr>
            <a:picLocks noChangeAspect="1"/>
          </p:cNvPicPr>
          <p:nvPr/>
        </p:nvPicPr>
        <p:blipFill>
          <a:blip r:embed="rId4"/>
          <a:stretch>
            <a:fillRect/>
          </a:stretch>
        </p:blipFill>
        <p:spPr>
          <a:xfrm>
            <a:off x="11430000" y="361950"/>
            <a:ext cx="203200" cy="203200"/>
          </a:xfrm>
          <a:prstGeom prst="rect">
            <a:avLst/>
          </a:prstGeom>
        </p:spPr>
      </p:pic>
      <p:sp>
        <p:nvSpPr>
          <p:cNvPr id="5"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Widgets in, chart out, and it reruns every time</a:t>
            </a:r>
            <a:endParaRPr lang="en-US" sz="2800" dirty="0"/>
          </a:p>
        </p:txBody>
      </p:sp>
      <p:sp>
        <p:nvSpPr>
          <p:cNvPr id="6" name="Shape 2"/>
          <p:cNvSpPr/>
          <p:nvPr/>
        </p:nvSpPr>
        <p:spPr>
          <a:xfrm>
            <a:off x="558800" y="1181100"/>
            <a:ext cx="11074400" cy="6350"/>
          </a:xfrm>
          <a:prstGeom prst="rect">
            <a:avLst/>
          </a:prstGeom>
          <a:solidFill>
            <a:srgbClr val="E1DED7"/>
          </a:solidFill>
          <a:ln/>
        </p:spPr>
        <p:txBody>
          <a:bodyPr/>
          <a:lstStyle/>
          <a:p>
            <a:endParaRPr lang="en-TH"/>
          </a:p>
        </p:txBody>
      </p:sp>
      <p:sp>
        <p:nvSpPr>
          <p:cNvPr id="7"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8"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46</a:t>
            </a:r>
            <a:endParaRPr lang="en-US" sz="1200" dirty="0"/>
          </a:p>
        </p:txBody>
      </p:sp>
      <p:sp>
        <p:nvSpPr>
          <p:cNvPr id="9" name="Shape 5"/>
          <p:cNvSpPr/>
          <p:nvPr/>
        </p:nvSpPr>
        <p:spPr>
          <a:xfrm>
            <a:off x="558800" y="1511300"/>
            <a:ext cx="6517030" cy="4572000"/>
          </a:xfrm>
          <a:prstGeom prst="rect">
            <a:avLst/>
          </a:prstGeom>
          <a:solidFill>
            <a:srgbClr val="F5F2EC"/>
          </a:solidFill>
          <a:ln w="6350">
            <a:solidFill>
              <a:srgbClr val="E1DED7"/>
            </a:solidFill>
            <a:prstDash val="solid"/>
          </a:ln>
        </p:spPr>
        <p:txBody>
          <a:bodyPr/>
          <a:lstStyle/>
          <a:p>
            <a:endParaRPr lang="en-TH"/>
          </a:p>
        </p:txBody>
      </p:sp>
      <p:sp>
        <p:nvSpPr>
          <p:cNvPr id="10" name="Text 6"/>
          <p:cNvSpPr/>
          <p:nvPr/>
        </p:nvSpPr>
        <p:spPr>
          <a:xfrm>
            <a:off x="800100" y="1727200"/>
            <a:ext cx="6034430" cy="4140200"/>
          </a:xfrm>
          <a:prstGeom prst="rect">
            <a:avLst/>
          </a:prstGeom>
          <a:noFill/>
          <a:ln/>
        </p:spPr>
        <p:txBody>
          <a:bodyPr wrap="square" lIns="0" tIns="0" rIns="0" bIns="0" rtlCol="0" anchor="t"/>
          <a:lstStyle/>
          <a:p>
            <a:pPr marL="0" indent="0">
              <a:lnSpc>
                <a:spcPct val="160000"/>
              </a:lnSpc>
              <a:buNone/>
            </a:pPr>
            <a:r>
              <a:rPr lang="en-US" sz="1400" b="1" dirty="0">
                <a:solidFill>
                  <a:srgbClr val="332F2A"/>
                </a:solidFill>
                <a:latin typeface="IBM Plex Mono" pitchFamily="34" charset="0"/>
                <a:ea typeface="IBM Plex Mono" pitchFamily="34" charset="-122"/>
                <a:cs typeface="IBM Plex Mono" pitchFamily="34" charset="-120"/>
              </a:rPr>
              <a:t># the page, top to bottom</a:t>
            </a:r>
            <a:endParaRPr lang="en-US" sz="1400" dirty="0"/>
          </a:p>
          <a:p>
            <a:pPr marL="0" indent="0">
              <a:lnSpc>
                <a:spcPct val="160000"/>
              </a:lnSpc>
              <a:buNone/>
            </a:pP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fs = st.select_slider(...)</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freq_a = st.number_input(...)</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amp_a = st.number_input(...)</a:t>
            </a:r>
            <a:endParaRPr lang="en-US" sz="1400" dirty="0"/>
          </a:p>
          <a:p>
            <a:pPr marL="0" indent="0">
              <a:lnSpc>
                <a:spcPct val="160000"/>
              </a:lnSpc>
              <a:buNone/>
            </a:pP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times, sig = make_signal(...)</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freqs, mag = spectrum(sig, fs)</a:t>
            </a:r>
            <a:endParaRPr lang="en-US" sz="1400" dirty="0"/>
          </a:p>
          <a:p>
            <a:pPr marL="0" indent="0">
              <a:lnSpc>
                <a:spcPct val="160000"/>
              </a:lnSpc>
              <a:buNone/>
            </a:pP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st.metric("Strongest frequency", ...)</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st.pyplot(figure)</a:t>
            </a:r>
            <a:endParaRPr lang="en-US" sz="1400" dirty="0"/>
          </a:p>
          <a:p>
            <a:pPr marL="0" indent="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st.info("check it yourself ...")</a:t>
            </a:r>
            <a:endParaRPr lang="en-US" sz="1400" dirty="0"/>
          </a:p>
        </p:txBody>
      </p:sp>
      <p:sp>
        <p:nvSpPr>
          <p:cNvPr id="11" name="Text 7"/>
          <p:cNvSpPr/>
          <p:nvPr/>
        </p:nvSpPr>
        <p:spPr>
          <a:xfrm>
            <a:off x="7431430" y="1511300"/>
            <a:ext cx="4201770" cy="189484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A widget is not an event handler. st.number_input hands back whatever is in the box right now, the script carries on using it, and moving any control reruns the whole file from the top.</a:t>
            </a:r>
            <a:endParaRPr lang="en-US" sz="1600" dirty="0"/>
          </a:p>
        </p:txBody>
      </p:sp>
      <p:sp>
        <p:nvSpPr>
          <p:cNvPr id="12" name="Text 8"/>
          <p:cNvSpPr/>
          <p:nvPr/>
        </p:nvSpPr>
        <p:spPr>
          <a:xfrm>
            <a:off x="7431430" y="3533140"/>
            <a:ext cx="4201770" cy="189484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st.metric, st.pyplot and st.info are how this page shows a result. If your agent reaches for st.line_chart instead, name the axes with x= and y=, or it draws your x-axis as a second line.</a:t>
            </a:r>
            <a:endParaRPr lang="en-US" sz="1600" dirty="0"/>
          </a:p>
        </p:txBody>
      </p:sp>
      <p:sp>
        <p:nvSpPr>
          <p:cNvPr id="13" name="Shape 9"/>
          <p:cNvSpPr/>
          <p:nvPr/>
        </p:nvSpPr>
        <p:spPr>
          <a:xfrm>
            <a:off x="7431430" y="5384800"/>
            <a:ext cx="12700" cy="698500"/>
          </a:xfrm>
          <a:prstGeom prst="rect">
            <a:avLst/>
          </a:prstGeom>
          <a:solidFill>
            <a:srgbClr val="A87A2E"/>
          </a:solidFill>
          <a:ln/>
        </p:spPr>
        <p:txBody>
          <a:bodyPr/>
          <a:lstStyle/>
          <a:p>
            <a:endParaRPr lang="en-TH"/>
          </a:p>
        </p:txBody>
      </p:sp>
      <p:sp>
        <p:nvSpPr>
          <p:cNvPr id="14" name="Text 10"/>
          <p:cNvSpPr/>
          <p:nvPr/>
        </p:nvSpPr>
        <p:spPr>
          <a:xfrm>
            <a:off x="7596530" y="5416550"/>
            <a:ext cx="4036670" cy="698500"/>
          </a:xfrm>
          <a:prstGeom prst="rect">
            <a:avLst/>
          </a:prstGeom>
          <a:noFill/>
          <a:ln/>
        </p:spPr>
        <p:txBody>
          <a:bodyPr wrap="square" lIns="0" tIns="0" rIns="0" bIns="0" rtlCol="0" anchor="t"/>
          <a:lstStyle/>
          <a:p>
            <a:pPr marL="0" indent="0" algn="l">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The maths lives in core/ with no Streamlit in it. That is why seven tests can check it without ever opening a browser.</a:t>
            </a:r>
            <a:endParaRPr lang="en-US" sz="1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SECTION 06</a:t>
            </a:r>
            <a:endParaRPr lang="en-US" sz="1200" dirty="0"/>
          </a:p>
        </p:txBody>
      </p:sp>
      <p:pic>
        <p:nvPicPr>
          <p:cNvPr id="3" name="Image 0" descr="icons/python.png"/>
          <p:cNvPicPr>
            <a:picLocks noChangeAspect="1"/>
          </p:cNvPicPr>
          <p:nvPr/>
        </p:nvPicPr>
        <p:blipFill>
          <a:blip r:embed="rId3"/>
          <a:stretch>
            <a:fillRect/>
          </a:stretch>
        </p:blipFill>
        <p:spPr>
          <a:xfrm>
            <a:off x="10401300" y="361950"/>
            <a:ext cx="203200" cy="203200"/>
          </a:xfrm>
          <a:prstGeom prst="rect">
            <a:avLst/>
          </a:prstGeom>
        </p:spPr>
      </p:pic>
      <p:pic>
        <p:nvPicPr>
          <p:cNvPr id="4" name="Image 1" descr="icons/numpy.png"/>
          <p:cNvPicPr>
            <a:picLocks noChangeAspect="1"/>
          </p:cNvPicPr>
          <p:nvPr/>
        </p:nvPicPr>
        <p:blipFill>
          <a:blip r:embed="rId4"/>
          <a:stretch>
            <a:fillRect/>
          </a:stretch>
        </p:blipFill>
        <p:spPr>
          <a:xfrm>
            <a:off x="10744200" y="361950"/>
            <a:ext cx="203200" cy="203200"/>
          </a:xfrm>
          <a:prstGeom prst="rect">
            <a:avLst/>
          </a:prstGeom>
        </p:spPr>
      </p:pic>
      <p:pic>
        <p:nvPicPr>
          <p:cNvPr id="5" name="Image 2" descr="icons/streamlit.png"/>
          <p:cNvPicPr>
            <a:picLocks noChangeAspect="1"/>
          </p:cNvPicPr>
          <p:nvPr/>
        </p:nvPicPr>
        <p:blipFill>
          <a:blip r:embed="rId5"/>
          <a:stretch>
            <a:fillRect/>
          </a:stretch>
        </p:blipFill>
        <p:spPr>
          <a:xfrm>
            <a:off x="11087100" y="361950"/>
            <a:ext cx="203200" cy="203200"/>
          </a:xfrm>
          <a:prstGeom prst="rect">
            <a:avLst/>
          </a:prstGeom>
        </p:spPr>
      </p:pic>
      <p:pic>
        <p:nvPicPr>
          <p:cNvPr id="6" name="Image 3" descr="icons/pytest.png"/>
          <p:cNvPicPr>
            <a:picLocks noChangeAspect="1"/>
          </p:cNvPicPr>
          <p:nvPr/>
        </p:nvPicPr>
        <p:blipFill>
          <a:blip r:embed="rId6"/>
          <a:stretch>
            <a:fillRect/>
          </a:stretch>
        </p:blipFill>
        <p:spPr>
          <a:xfrm>
            <a:off x="11430000" y="361950"/>
            <a:ext cx="203200" cy="203200"/>
          </a:xfrm>
          <a:prstGeom prst="rect">
            <a:avLst/>
          </a:prstGeom>
        </p:spPr>
      </p:pic>
      <p:sp>
        <p:nvSpPr>
          <p:cNvPr id="7"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Where to read more</a:t>
            </a:r>
            <a:endParaRPr lang="en-US" sz="2800" dirty="0"/>
          </a:p>
        </p:txBody>
      </p:sp>
      <p:sp>
        <p:nvSpPr>
          <p:cNvPr id="8" name="Shape 2"/>
          <p:cNvSpPr/>
          <p:nvPr/>
        </p:nvSpPr>
        <p:spPr>
          <a:xfrm>
            <a:off x="558800" y="1181100"/>
            <a:ext cx="11074400" cy="6350"/>
          </a:xfrm>
          <a:prstGeom prst="rect">
            <a:avLst/>
          </a:prstGeom>
          <a:solidFill>
            <a:srgbClr val="E1DED7"/>
          </a:solidFill>
          <a:ln/>
        </p:spPr>
        <p:txBody>
          <a:bodyPr/>
          <a:lstStyle/>
          <a:p>
            <a:endParaRPr lang="en-TH"/>
          </a:p>
        </p:txBody>
      </p:sp>
      <p:sp>
        <p:nvSpPr>
          <p:cNvPr id="9"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10"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47</a:t>
            </a:r>
            <a:endParaRPr lang="en-US" sz="1200" dirty="0"/>
          </a:p>
        </p:txBody>
      </p:sp>
      <p:sp>
        <p:nvSpPr>
          <p:cNvPr id="11" name="Text 5"/>
          <p:cNvSpPr/>
          <p:nvPr/>
        </p:nvSpPr>
        <p:spPr>
          <a:xfrm>
            <a:off x="558800" y="1511300"/>
            <a:ext cx="5283200" cy="254000"/>
          </a:xfrm>
          <a:prstGeom prst="rect">
            <a:avLst/>
          </a:prstGeom>
          <a:noFill/>
          <a:ln/>
        </p:spPr>
        <p:txBody>
          <a:bodyPr wrap="square" lIns="0" tIns="0" rIns="0" bIns="0" rtlCol="0" anchor="t"/>
          <a:lstStyle/>
          <a:p>
            <a:pPr marL="0" indent="0" algn="l">
              <a:lnSpc>
                <a:spcPct val="145000"/>
              </a:lnSpc>
              <a:buNone/>
            </a:pPr>
            <a:r>
              <a:rPr lang="en-US" sz="1300" kern="0" spc="130" dirty="0">
                <a:solidFill>
                  <a:srgbClr val="A87A2E"/>
                </a:solidFill>
                <a:latin typeface="IBM Plex Mono" pitchFamily="34" charset="0"/>
                <a:ea typeface="IBM Plex Mono" pitchFamily="34" charset="-122"/>
                <a:cs typeface="IBM Plex Mono" pitchFamily="34" charset="-120"/>
              </a:rPr>
              <a:t>THE THEORY</a:t>
            </a:r>
            <a:endParaRPr lang="en-US" sz="1300" dirty="0"/>
          </a:p>
        </p:txBody>
      </p:sp>
      <p:sp>
        <p:nvSpPr>
          <p:cNvPr id="12" name="Text 6"/>
          <p:cNvSpPr/>
          <p:nvPr/>
        </p:nvSpPr>
        <p:spPr>
          <a:xfrm>
            <a:off x="558800" y="1917700"/>
            <a:ext cx="5283200" cy="127000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Steven Smith, “The Scientist and Engineer's Guide to Digital Signal Processing” — free in full at dspguide.com. Chapters 8 to 12 cover everything on the last three slides.</a:t>
            </a:r>
            <a:endParaRPr lang="en-US" sz="1600" dirty="0"/>
          </a:p>
        </p:txBody>
      </p:sp>
      <p:sp>
        <p:nvSpPr>
          <p:cNvPr id="13" name="Text 7"/>
          <p:cNvSpPr/>
          <p:nvPr/>
        </p:nvSpPr>
        <p:spPr>
          <a:xfrm>
            <a:off x="558800" y="3274060"/>
            <a:ext cx="5283200" cy="127000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For intuition rather than algebra, 3Blue1Brown's “But what is the Fourier Transform?” is twenty minutes and worth all of them. Search Nyquist–Shannon sampling theorem for the ceiling.</a:t>
            </a:r>
            <a:endParaRPr lang="en-US" sz="1600" dirty="0"/>
          </a:p>
        </p:txBody>
      </p:sp>
      <p:sp>
        <p:nvSpPr>
          <p:cNvPr id="14" name="Text 8"/>
          <p:cNvSpPr/>
          <p:nvPr/>
        </p:nvSpPr>
        <p:spPr>
          <a:xfrm>
            <a:off x="6350000" y="1511300"/>
            <a:ext cx="5283200" cy="254000"/>
          </a:xfrm>
          <a:prstGeom prst="rect">
            <a:avLst/>
          </a:prstGeom>
          <a:noFill/>
          <a:ln/>
        </p:spPr>
        <p:txBody>
          <a:bodyPr wrap="square" lIns="0" tIns="0" rIns="0" bIns="0" rtlCol="0" anchor="t"/>
          <a:lstStyle/>
          <a:p>
            <a:pPr marL="0" indent="0" algn="l">
              <a:lnSpc>
                <a:spcPct val="145000"/>
              </a:lnSpc>
              <a:buNone/>
            </a:pPr>
            <a:r>
              <a:rPr lang="en-US" sz="1300" kern="0" spc="130" dirty="0">
                <a:solidFill>
                  <a:srgbClr val="A87A2E"/>
                </a:solidFill>
                <a:latin typeface="IBM Plex Mono" pitchFamily="34" charset="0"/>
                <a:ea typeface="IBM Plex Mono" pitchFamily="34" charset="-122"/>
                <a:cs typeface="IBM Plex Mono" pitchFamily="34" charset="-120"/>
              </a:rPr>
              <a:t>THE TOOLS</a:t>
            </a:r>
            <a:endParaRPr lang="en-US" sz="1300" dirty="0"/>
          </a:p>
        </p:txBody>
      </p:sp>
      <p:sp>
        <p:nvSpPr>
          <p:cNvPr id="15" name="Text 9"/>
          <p:cNvSpPr/>
          <p:nvPr/>
        </p:nvSpPr>
        <p:spPr>
          <a:xfrm>
            <a:off x="6350000" y="1917700"/>
            <a:ext cx="5283200" cy="127000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numpy.org documents fft.rfft and fft.rfftfreq, including the normalisation conventions behind every scaling bug you saw today.</a:t>
            </a:r>
            <a:endParaRPr lang="en-US" sz="1600" dirty="0"/>
          </a:p>
        </p:txBody>
      </p:sp>
      <p:sp>
        <p:nvSpPr>
          <p:cNvPr id="16" name="Text 10"/>
          <p:cNvSpPr/>
          <p:nvPr/>
        </p:nvSpPr>
        <p:spPr>
          <a:xfrm>
            <a:off x="6350000" y="3274060"/>
            <a:ext cx="5283200" cy="1270000"/>
          </a:xfrm>
          <a:prstGeom prst="rect">
            <a:avLst/>
          </a:prstGeom>
          <a:noFill/>
          <a:ln/>
        </p:spPr>
        <p:txBody>
          <a:bodyPr wrap="square" lIns="0" tIns="0" rIns="0" bIns="0" rtlCol="0" anchor="t"/>
          <a:lstStyle/>
          <a:p>
            <a:pPr marL="0" indent="0" algn="l">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docs.streamlit.io for the interface and docs.pytest.org for the tests. Both are the official pages, both are shorter than you would expect, and both are what your agent was trained on.</a:t>
            </a:r>
            <a:endParaRPr lang="en-US" sz="16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SECTION 07</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Read the reference before you leave</a:t>
            </a:r>
            <a:endParaRPr lang="en-US" sz="2800" dirty="0"/>
          </a:p>
        </p:txBody>
      </p:sp>
      <p:sp>
        <p:nvSpPr>
          <p:cNvPr id="4" name="Shape 2"/>
          <p:cNvSpPr/>
          <p:nvPr/>
        </p:nvSpPr>
        <p:spPr>
          <a:xfrm>
            <a:off x="558800" y="1181100"/>
            <a:ext cx="11074400" cy="6350"/>
          </a:xfrm>
          <a:prstGeom prst="rect">
            <a:avLst/>
          </a:prstGeom>
          <a:solidFill>
            <a:srgbClr val="E1DED7"/>
          </a:solidFill>
          <a:ln/>
        </p:spPr>
        <p:txBody>
          <a:bodyPr/>
          <a:lstStyle/>
          <a:p>
            <a:endParaRPr lang="en-TH"/>
          </a:p>
        </p:txBody>
      </p:sp>
      <p:sp>
        <p:nvSpPr>
          <p:cNvPr id="5"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48</a:t>
            </a:r>
            <a:endParaRPr lang="en-US" sz="1200" dirty="0"/>
          </a:p>
        </p:txBody>
      </p:sp>
      <p:sp>
        <p:nvSpPr>
          <p:cNvPr id="7" name="Text 5"/>
          <p:cNvSpPr/>
          <p:nvPr/>
        </p:nvSpPr>
        <p:spPr>
          <a:xfrm>
            <a:off x="558800" y="1511300"/>
            <a:ext cx="190500" cy="317500"/>
          </a:xfrm>
          <a:prstGeom prst="rect">
            <a:avLst/>
          </a:prstGeom>
          <a:noFill/>
          <a:ln/>
        </p:spPr>
        <p:txBody>
          <a:bodyPr wrap="square" lIns="0" tIns="0" rIns="0" bIns="0" rtlCol="0" anchor="t"/>
          <a:lstStyle/>
          <a:p>
            <a:pPr marL="0" indent="0" algn="l">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8" name="Text 6"/>
          <p:cNvSpPr/>
          <p:nvPr/>
        </p:nvSpPr>
        <p:spPr>
          <a:xfrm>
            <a:off x="927100" y="1511300"/>
            <a:ext cx="9156700" cy="753110"/>
          </a:xfrm>
          <a:prstGeom prst="rect">
            <a:avLst/>
          </a:prstGeom>
          <a:noFill/>
          <a:ln/>
        </p:spPr>
        <p:txBody>
          <a:bodyPr wrap="square" lIns="0" tIns="0" rIns="0" bIns="0" rtlCol="0" anchor="t"/>
          <a:lstStyle/>
          <a:p>
            <a:pPr marL="0" indent="0" algn="l">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Everyone does this, </a:t>
            </a:r>
            <a:r>
              <a:rPr lang="en-US" sz="1700" dirty="0">
                <a:solidFill>
                  <a:srgbClr val="332F2A"/>
                </a:solidFill>
                <a:latin typeface="Libre Franklin" pitchFamily="34" charset="0"/>
                <a:ea typeface="Libre Franklin" pitchFamily="34" charset="-122"/>
                <a:cs typeface="Libre Franklin" pitchFamily="34" charset="-120"/>
              </a:rPr>
              <a:t>whether your own version works or not. The prompts are in labs/EXPLAIN.md.</a:t>
            </a:r>
            <a:endParaRPr lang="en-US" sz="1700" dirty="0"/>
          </a:p>
        </p:txBody>
      </p:sp>
      <p:sp>
        <p:nvSpPr>
          <p:cNvPr id="9" name="Text 7"/>
          <p:cNvSpPr/>
          <p:nvPr/>
        </p:nvSpPr>
        <p:spPr>
          <a:xfrm>
            <a:off x="558800" y="2391410"/>
            <a:ext cx="190500" cy="317500"/>
          </a:xfrm>
          <a:prstGeom prst="rect">
            <a:avLst/>
          </a:prstGeom>
          <a:noFill/>
          <a:ln/>
        </p:spPr>
        <p:txBody>
          <a:bodyPr wrap="square" lIns="0" tIns="0" rIns="0" bIns="0" rtlCol="0" anchor="t"/>
          <a:lstStyle/>
          <a:p>
            <a:pPr marL="0" indent="0" algn="l">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0" name="Text 8"/>
          <p:cNvSpPr/>
          <p:nvPr/>
        </p:nvSpPr>
        <p:spPr>
          <a:xfrm>
            <a:off x="927100" y="2391410"/>
            <a:ext cx="9156700" cy="753110"/>
          </a:xfrm>
          <a:prstGeom prst="rect">
            <a:avLst/>
          </a:prstGeom>
          <a:noFill/>
          <a:ln/>
        </p:spPr>
        <p:txBody>
          <a:bodyPr wrap="square" lIns="0" tIns="0" rIns="0" bIns="0" rtlCol="0" anchor="t"/>
          <a:lstStyle/>
          <a:p>
            <a:pPr marL="0" indent="0" algn="l">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Ask it to break the code. </a:t>
            </a:r>
            <a:r>
              <a:rPr lang="en-US" sz="1700" dirty="0">
                <a:solidFill>
                  <a:srgbClr val="332F2A"/>
                </a:solidFill>
                <a:latin typeface="Libre Franklin" pitchFamily="34" charset="0"/>
                <a:ea typeface="Libre Franklin" pitchFamily="34" charset="-122"/>
                <a:cs typeface="Libre Franklin" pitchFamily="34" charset="-120"/>
              </a:rPr>
              <a:t>Change the 2/n to 1/n, run the tests, watch which two fail, then change it back.</a:t>
            </a:r>
            <a:endParaRPr lang="en-US" sz="1700" dirty="0"/>
          </a:p>
        </p:txBody>
      </p:sp>
      <p:sp>
        <p:nvSpPr>
          <p:cNvPr id="11" name="Text 9"/>
          <p:cNvSpPr/>
          <p:nvPr/>
        </p:nvSpPr>
        <p:spPr>
          <a:xfrm>
            <a:off x="558800" y="3271520"/>
            <a:ext cx="190500" cy="317500"/>
          </a:xfrm>
          <a:prstGeom prst="rect">
            <a:avLst/>
          </a:prstGeom>
          <a:noFill/>
          <a:ln/>
        </p:spPr>
        <p:txBody>
          <a:bodyPr wrap="square" lIns="0" tIns="0" rIns="0" bIns="0" rtlCol="0" anchor="t"/>
          <a:lstStyle/>
          <a:p>
            <a:pPr marL="0" indent="0" algn="l">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2" name="Text 10"/>
          <p:cNvSpPr/>
          <p:nvPr/>
        </p:nvSpPr>
        <p:spPr>
          <a:xfrm>
            <a:off x="927100" y="3271520"/>
            <a:ext cx="9156700" cy="753110"/>
          </a:xfrm>
          <a:prstGeom prst="rect">
            <a:avLst/>
          </a:prstGeom>
          <a:noFill/>
          <a:ln/>
        </p:spPr>
        <p:txBody>
          <a:bodyPr wrap="square" lIns="0" tIns="0" rIns="0" bIns="0" rtlCol="0" anchor="t"/>
          <a:lstStyle/>
          <a:p>
            <a:pPr marL="0" indent="0" algn="l">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Nothing here edits your work, </a:t>
            </a:r>
            <a:r>
              <a:rPr lang="en-US" sz="1700" dirty="0">
                <a:solidFill>
                  <a:srgbClr val="332F2A"/>
                </a:solidFill>
                <a:latin typeface="Libre Franklin" pitchFamily="34" charset="0"/>
                <a:ea typeface="Libre Franklin" pitchFamily="34" charset="-122"/>
                <a:cs typeface="Libre Franklin" pitchFamily="34" charset="-120"/>
              </a:rPr>
              <a:t>so none of it can break your project. Explaining is the safest thing an agent does.</a:t>
            </a:r>
            <a:endParaRPr lang="en-US" sz="1700" dirty="0"/>
          </a:p>
        </p:txBody>
      </p:sp>
      <p:sp>
        <p:nvSpPr>
          <p:cNvPr id="13" name="Text 11"/>
          <p:cNvSpPr/>
          <p:nvPr/>
        </p:nvSpPr>
        <p:spPr>
          <a:xfrm>
            <a:off x="558800" y="4151630"/>
            <a:ext cx="190500" cy="317500"/>
          </a:xfrm>
          <a:prstGeom prst="rect">
            <a:avLst/>
          </a:prstGeom>
          <a:noFill/>
          <a:ln/>
        </p:spPr>
        <p:txBody>
          <a:bodyPr wrap="square" lIns="0" tIns="0" rIns="0" bIns="0" rtlCol="0" anchor="t"/>
          <a:lstStyle/>
          <a:p>
            <a:pPr marL="0" indent="0" algn="l">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4" name="Text 12"/>
          <p:cNvSpPr/>
          <p:nvPr/>
        </p:nvSpPr>
        <p:spPr>
          <a:xfrm>
            <a:off x="927100" y="4151630"/>
            <a:ext cx="9156700" cy="753110"/>
          </a:xfrm>
          <a:prstGeom prst="rect">
            <a:avLst/>
          </a:prstGeom>
          <a:noFill/>
          <a:ln/>
        </p:spPr>
        <p:txBody>
          <a:bodyPr wrap="square" lIns="0" tIns="0" rIns="0" bIns="0" rtlCol="0" anchor="t"/>
          <a:lstStyle/>
          <a:p>
            <a:pPr marL="0" indent="0" algn="l">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Reading code you did not write, with an AI explaining it, is the most common way these tools are used at work.</a:t>
            </a:r>
            <a:endParaRPr lang="en-US" sz="17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SECTION 07</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The files a person writes at work</a:t>
            </a:r>
            <a:endParaRPr lang="en-US" sz="2800" dirty="0"/>
          </a:p>
        </p:txBody>
      </p:sp>
      <p:sp>
        <p:nvSpPr>
          <p:cNvPr id="4" name="Shape 2"/>
          <p:cNvSpPr/>
          <p:nvPr/>
        </p:nvSpPr>
        <p:spPr>
          <a:xfrm>
            <a:off x="558800" y="1181100"/>
            <a:ext cx="11074400" cy="6350"/>
          </a:xfrm>
          <a:prstGeom prst="rect">
            <a:avLst/>
          </a:prstGeom>
          <a:solidFill>
            <a:srgbClr val="E1DED7"/>
          </a:solidFill>
          <a:ln/>
        </p:spPr>
        <p:txBody>
          <a:bodyPr/>
          <a:lstStyle/>
          <a:p>
            <a:endParaRPr lang="en-TH"/>
          </a:p>
        </p:txBody>
      </p:sp>
      <p:sp>
        <p:nvSpPr>
          <p:cNvPr id="5"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49</a:t>
            </a:r>
            <a:endParaRPr lang="en-US" sz="1200" dirty="0"/>
          </a:p>
        </p:txBody>
      </p:sp>
      <p:sp>
        <p:nvSpPr>
          <p:cNvPr id="7" name="Text 5"/>
          <p:cNvSpPr/>
          <p:nvPr/>
        </p:nvSpPr>
        <p:spPr>
          <a:xfrm>
            <a:off x="558800" y="1511300"/>
            <a:ext cx="190500" cy="317500"/>
          </a:xfrm>
          <a:prstGeom prst="rect">
            <a:avLst/>
          </a:prstGeom>
          <a:noFill/>
          <a:ln/>
        </p:spPr>
        <p:txBody>
          <a:bodyPr wrap="square" lIns="0" tIns="0" rIns="0" bIns="0" rtlCol="0" anchor="t"/>
          <a:lstStyle/>
          <a:p>
            <a:pPr marL="0" indent="0" algn="l">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8" name="Text 6"/>
          <p:cNvSpPr/>
          <p:nvPr/>
        </p:nvSpPr>
        <p:spPr>
          <a:xfrm>
            <a:off x="927100" y="1511300"/>
            <a:ext cx="9156700" cy="753110"/>
          </a:xfrm>
          <a:prstGeom prst="rect">
            <a:avLst/>
          </a:prstGeom>
          <a:noFill/>
          <a:ln/>
        </p:spPr>
        <p:txBody>
          <a:bodyPr wrap="square" lIns="0" tIns="0" rIns="0" bIns="0" rtlCol="0" anchor="t"/>
          <a:lstStyle/>
          <a:p>
            <a:pPr marL="0" indent="0" algn="l">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Open the four you approved. </a:t>
            </a:r>
            <a:r>
              <a:rPr lang="en-US" sz="1700" dirty="0">
                <a:solidFill>
                  <a:srgbClr val="332F2A"/>
                </a:solidFill>
                <a:latin typeface="Libre Franklin" pitchFamily="34" charset="0"/>
                <a:ea typeface="Libre Franklin" pitchFamily="34" charset="-122"/>
                <a:cs typeface="Libre Franklin" pitchFamily="34" charset="-120"/>
              </a:rPr>
              <a:t>aidlc/intent.md, requirements.md, design.md and tasks.md — read them as one set, in order.</a:t>
            </a:r>
            <a:endParaRPr lang="en-US" sz="1700" dirty="0"/>
          </a:p>
        </p:txBody>
      </p:sp>
      <p:sp>
        <p:nvSpPr>
          <p:cNvPr id="9" name="Text 7"/>
          <p:cNvSpPr/>
          <p:nvPr/>
        </p:nvSpPr>
        <p:spPr>
          <a:xfrm>
            <a:off x="558800" y="2391410"/>
            <a:ext cx="190500" cy="317500"/>
          </a:xfrm>
          <a:prstGeom prst="rect">
            <a:avLst/>
          </a:prstGeom>
          <a:noFill/>
          <a:ln/>
        </p:spPr>
        <p:txBody>
          <a:bodyPr wrap="square" lIns="0" tIns="0" rIns="0" bIns="0" rtlCol="0" anchor="t"/>
          <a:lstStyle/>
          <a:p>
            <a:pPr marL="0" indent="0" algn="l">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0" name="Text 8"/>
          <p:cNvSpPr/>
          <p:nvPr/>
        </p:nvSpPr>
        <p:spPr>
          <a:xfrm>
            <a:off x="927100" y="2391410"/>
            <a:ext cx="9156700" cy="753110"/>
          </a:xfrm>
          <a:prstGeom prst="rect">
            <a:avLst/>
          </a:prstGeom>
          <a:noFill/>
          <a:ln/>
        </p:spPr>
        <p:txBody>
          <a:bodyPr wrap="square" lIns="0" tIns="0" rIns="0" bIns="0" rtlCol="0" anchor="t"/>
          <a:lstStyle/>
          <a:p>
            <a:pPr marL="0" indent="0" algn="l">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In a real team a person writes these. </a:t>
            </a:r>
            <a:r>
              <a:rPr lang="en-US" sz="1700" dirty="0">
                <a:solidFill>
                  <a:srgbClr val="332F2A"/>
                </a:solidFill>
                <a:latin typeface="Libre Franklin" pitchFamily="34" charset="0"/>
                <a:ea typeface="Libre Franklin" pitchFamily="34" charset="-122"/>
                <a:cs typeface="Libre Franklin" pitchFamily="34" charset="-120"/>
              </a:rPr>
              <a:t>A product owner or tech lead drafts the intent and spec. The agent drafting them is a start, not a replacement.</a:t>
            </a:r>
            <a:endParaRPr lang="en-US" sz="1700" dirty="0"/>
          </a:p>
        </p:txBody>
      </p:sp>
      <p:sp>
        <p:nvSpPr>
          <p:cNvPr id="11" name="Text 9"/>
          <p:cNvSpPr/>
          <p:nvPr/>
        </p:nvSpPr>
        <p:spPr>
          <a:xfrm>
            <a:off x="558800" y="3271520"/>
            <a:ext cx="190500" cy="317500"/>
          </a:xfrm>
          <a:prstGeom prst="rect">
            <a:avLst/>
          </a:prstGeom>
          <a:noFill/>
          <a:ln/>
        </p:spPr>
        <p:txBody>
          <a:bodyPr wrap="square" lIns="0" tIns="0" rIns="0" bIns="0" rtlCol="0" anchor="t"/>
          <a:lstStyle/>
          <a:p>
            <a:pPr marL="0" indent="0" algn="l">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2" name="Text 10"/>
          <p:cNvSpPr/>
          <p:nvPr/>
        </p:nvSpPr>
        <p:spPr>
          <a:xfrm>
            <a:off x="927100" y="3271520"/>
            <a:ext cx="9156700" cy="753110"/>
          </a:xfrm>
          <a:prstGeom prst="rect">
            <a:avLst/>
          </a:prstGeom>
          <a:noFill/>
          <a:ln/>
        </p:spPr>
        <p:txBody>
          <a:bodyPr wrap="square" lIns="0" tIns="0" rIns="0" bIns="0" rtlCol="0" anchor="t"/>
          <a:lstStyle/>
          <a:p>
            <a:pPr marL="0" indent="0" algn="l">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Which is why you approved each one. </a:t>
            </a:r>
            <a:r>
              <a:rPr lang="en-US" sz="1700" dirty="0">
                <a:solidFill>
                  <a:srgbClr val="332F2A"/>
                </a:solidFill>
                <a:latin typeface="Libre Franklin" pitchFamily="34" charset="0"/>
                <a:ea typeface="Libre Franklin" pitchFamily="34" charset="-122"/>
                <a:cs typeface="Libre Franklin" pitchFamily="34" charset="-120"/>
              </a:rPr>
              <a:t>Everything built today came out of those four files. A wrong line there becomes a wrong app, quickly and cheaply.</a:t>
            </a:r>
            <a:endParaRPr lang="en-US" sz="1700" dirty="0"/>
          </a:p>
        </p:txBody>
      </p:sp>
      <p:sp>
        <p:nvSpPr>
          <p:cNvPr id="13" name="Text 11"/>
          <p:cNvSpPr/>
          <p:nvPr/>
        </p:nvSpPr>
        <p:spPr>
          <a:xfrm>
            <a:off x="558800" y="4151630"/>
            <a:ext cx="190500" cy="317500"/>
          </a:xfrm>
          <a:prstGeom prst="rect">
            <a:avLst/>
          </a:prstGeom>
          <a:noFill/>
          <a:ln/>
        </p:spPr>
        <p:txBody>
          <a:bodyPr wrap="square" lIns="0" tIns="0" rIns="0" bIns="0" rtlCol="0" anchor="t"/>
          <a:lstStyle/>
          <a:p>
            <a:pPr marL="0" indent="0" algn="l">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4" name="Text 12"/>
          <p:cNvSpPr/>
          <p:nvPr/>
        </p:nvSpPr>
        <p:spPr>
          <a:xfrm>
            <a:off x="927100" y="4151630"/>
            <a:ext cx="9156700" cy="753110"/>
          </a:xfrm>
          <a:prstGeom prst="rect">
            <a:avLst/>
          </a:prstGeom>
          <a:noFill/>
          <a:ln/>
        </p:spPr>
        <p:txBody>
          <a:bodyPr wrap="square" lIns="0" tIns="0" rIns="0" bIns="0" rtlCol="0" anchor="t"/>
          <a:lstStyle/>
          <a:p>
            <a:pPr marL="0" indent="0" algn="l">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labs/PROMPTS.md explains why each prompt is worded the way it is. Read it before Session 2 — you will be writing your own.</a:t>
            </a:r>
            <a:endParaRPr lang="en-US" sz="17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2EC"/>
        </a:solidFill>
        <a:effectLst/>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marL="0" indent="0" algn="l">
              <a:lnSpc>
                <a:spcPct val="145000"/>
              </a:lnSpc>
              <a:buNone/>
            </a:pPr>
            <a:r>
              <a:rPr lang="en-US" sz="1200" kern="0" spc="168" dirty="0">
                <a:solidFill>
                  <a:srgbClr val="77726A"/>
                </a:solidFill>
                <a:latin typeface="IBM Plex Mono" pitchFamily="34" charset="0"/>
                <a:ea typeface="IBM Plex Mono" pitchFamily="34" charset="-122"/>
                <a:cs typeface="IBM Plex Mono" pitchFamily="34" charset="-120"/>
              </a:rPr>
              <a:t>SESSION 01</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marL="0" indent="0" algn="l">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What to take away</a:t>
            </a:r>
            <a:endParaRPr lang="en-US" sz="2800" dirty="0"/>
          </a:p>
        </p:txBody>
      </p:sp>
      <p:sp>
        <p:nvSpPr>
          <p:cNvPr id="4" name="Shape 2"/>
          <p:cNvSpPr/>
          <p:nvPr/>
        </p:nvSpPr>
        <p:spPr>
          <a:xfrm>
            <a:off x="558800" y="1181100"/>
            <a:ext cx="11074400" cy="6350"/>
          </a:xfrm>
          <a:prstGeom prst="rect">
            <a:avLst/>
          </a:prstGeom>
          <a:solidFill>
            <a:srgbClr val="E1DED7"/>
          </a:solidFill>
          <a:ln/>
        </p:spPr>
        <p:txBody>
          <a:bodyPr/>
          <a:lstStyle/>
          <a:p>
            <a:endParaRPr lang="en-TH"/>
          </a:p>
        </p:txBody>
      </p:sp>
      <p:sp>
        <p:nvSpPr>
          <p:cNvPr id="5" name="Text 3"/>
          <p:cNvSpPr/>
          <p:nvPr/>
        </p:nvSpPr>
        <p:spPr>
          <a:xfrm>
            <a:off x="558800" y="6337300"/>
            <a:ext cx="9804400" cy="215900"/>
          </a:xfrm>
          <a:prstGeom prst="rect">
            <a:avLst/>
          </a:prstGeom>
          <a:noFill/>
          <a:ln/>
        </p:spPr>
        <p:txBody>
          <a:bodyPr wrap="square" lIns="0" tIns="0" rIns="0" bIns="0" rtlCol="0" anchor="t"/>
          <a:lstStyle/>
          <a:p>
            <a:pPr marL="0" indent="0" algn="l">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1</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99948B"/>
                </a:solidFill>
                <a:latin typeface="IBM Plex Mono" pitchFamily="34" charset="0"/>
                <a:ea typeface="IBM Plex Mono" pitchFamily="34" charset="-122"/>
                <a:cs typeface="IBM Plex Mono" pitchFamily="34" charset="-120"/>
              </a:rPr>
              <a:t>50</a:t>
            </a:r>
            <a:endParaRPr lang="en-US" sz="1200" dirty="0"/>
          </a:p>
        </p:txBody>
      </p:sp>
      <p:sp>
        <p:nvSpPr>
          <p:cNvPr id="7" name="Text 5"/>
          <p:cNvSpPr/>
          <p:nvPr/>
        </p:nvSpPr>
        <p:spPr>
          <a:xfrm>
            <a:off x="558800" y="1511300"/>
            <a:ext cx="444500" cy="317500"/>
          </a:xfrm>
          <a:prstGeom prst="rect">
            <a:avLst/>
          </a:prstGeom>
          <a:noFill/>
          <a:ln/>
        </p:spPr>
        <p:txBody>
          <a:bodyPr wrap="square" lIns="0" tIns="0" rIns="0" bIns="0" rtlCol="0" anchor="t"/>
          <a:lstStyle/>
          <a:p>
            <a:pPr marL="0" indent="0" algn="l">
              <a:lnSpc>
                <a:spcPct val="145000"/>
              </a:lnSpc>
              <a:buNone/>
            </a:pPr>
            <a:r>
              <a:rPr lang="en-US" sz="1700" dirty="0">
                <a:solidFill>
                  <a:srgbClr val="A87A2E"/>
                </a:solidFill>
                <a:latin typeface="IBM Plex Mono" pitchFamily="34" charset="0"/>
                <a:ea typeface="IBM Plex Mono" pitchFamily="34" charset="-122"/>
                <a:cs typeface="IBM Plex Mono" pitchFamily="34" charset="-120"/>
              </a:rPr>
              <a:t>01</a:t>
            </a:r>
            <a:endParaRPr lang="en-US" sz="1700" dirty="0"/>
          </a:p>
        </p:txBody>
      </p:sp>
      <p:sp>
        <p:nvSpPr>
          <p:cNvPr id="8" name="Text 6"/>
          <p:cNvSpPr/>
          <p:nvPr/>
        </p:nvSpPr>
        <p:spPr>
          <a:xfrm>
            <a:off x="1003300" y="1498600"/>
            <a:ext cx="9461500" cy="447040"/>
          </a:xfrm>
          <a:prstGeom prst="rect">
            <a:avLst/>
          </a:prstGeom>
          <a:noFill/>
          <a:ln/>
        </p:spPr>
        <p:txBody>
          <a:bodyPr wrap="square" lIns="0" tIns="0" rIns="0" bIns="0" rtlCol="0" anchor="t"/>
          <a:lstStyle/>
          <a:p>
            <a:pPr marL="0" indent="0" algn="l">
              <a:lnSpc>
                <a:spcPct val="140000"/>
              </a:lnSpc>
              <a:buNone/>
            </a:pPr>
            <a:r>
              <a:rPr lang="en-US" sz="1800" dirty="0">
                <a:solidFill>
                  <a:srgbClr val="332F2A"/>
                </a:solidFill>
                <a:latin typeface="Libre Franklin" pitchFamily="34" charset="0"/>
                <a:ea typeface="Libre Franklin" pitchFamily="34" charset="-122"/>
                <a:cs typeface="Libre Franklin" pitchFamily="34" charset="-120"/>
              </a:rPr>
              <a:t>An agent is a harness driving a model. Knowing which half broke is half the fix.</a:t>
            </a:r>
            <a:endParaRPr lang="en-US" sz="1800" dirty="0"/>
          </a:p>
        </p:txBody>
      </p:sp>
      <p:sp>
        <p:nvSpPr>
          <p:cNvPr id="9" name="Text 7"/>
          <p:cNvSpPr/>
          <p:nvPr/>
        </p:nvSpPr>
        <p:spPr>
          <a:xfrm>
            <a:off x="558800" y="2110740"/>
            <a:ext cx="444500" cy="317500"/>
          </a:xfrm>
          <a:prstGeom prst="rect">
            <a:avLst/>
          </a:prstGeom>
          <a:noFill/>
          <a:ln/>
        </p:spPr>
        <p:txBody>
          <a:bodyPr wrap="square" lIns="0" tIns="0" rIns="0" bIns="0" rtlCol="0" anchor="t"/>
          <a:lstStyle/>
          <a:p>
            <a:pPr marL="0" indent="0" algn="l">
              <a:lnSpc>
                <a:spcPct val="145000"/>
              </a:lnSpc>
              <a:buNone/>
            </a:pPr>
            <a:r>
              <a:rPr lang="en-US" sz="1700" dirty="0">
                <a:solidFill>
                  <a:srgbClr val="A87A2E"/>
                </a:solidFill>
                <a:latin typeface="IBM Plex Mono" pitchFamily="34" charset="0"/>
                <a:ea typeface="IBM Plex Mono" pitchFamily="34" charset="-122"/>
                <a:cs typeface="IBM Plex Mono" pitchFamily="34" charset="-120"/>
              </a:rPr>
              <a:t>02</a:t>
            </a:r>
            <a:endParaRPr lang="en-US" sz="1700" dirty="0"/>
          </a:p>
        </p:txBody>
      </p:sp>
      <p:sp>
        <p:nvSpPr>
          <p:cNvPr id="10" name="Text 8"/>
          <p:cNvSpPr/>
          <p:nvPr/>
        </p:nvSpPr>
        <p:spPr>
          <a:xfrm>
            <a:off x="1003300" y="2098040"/>
            <a:ext cx="9461500" cy="447040"/>
          </a:xfrm>
          <a:prstGeom prst="rect">
            <a:avLst/>
          </a:prstGeom>
          <a:noFill/>
          <a:ln/>
        </p:spPr>
        <p:txBody>
          <a:bodyPr wrap="square" lIns="0" tIns="0" rIns="0" bIns="0" rtlCol="0" anchor="t"/>
          <a:lstStyle/>
          <a:p>
            <a:pPr marL="0" indent="0" algn="l">
              <a:lnSpc>
                <a:spcPct val="140000"/>
              </a:lnSpc>
              <a:buNone/>
            </a:pPr>
            <a:r>
              <a:rPr lang="en-US" sz="1800" dirty="0">
                <a:solidFill>
                  <a:srgbClr val="332F2A"/>
                </a:solidFill>
                <a:latin typeface="Libre Franklin" pitchFamily="34" charset="0"/>
                <a:ea typeface="Libre Franklin" pitchFamily="34" charset="-122"/>
                <a:cs typeface="Libre Franklin" pitchFamily="34" charset="-120"/>
              </a:rPr>
              <a:t>A requirement you cannot check by running something is not a requirement yet.</a:t>
            </a:r>
            <a:endParaRPr lang="en-US" sz="1800" dirty="0"/>
          </a:p>
        </p:txBody>
      </p:sp>
      <p:sp>
        <p:nvSpPr>
          <p:cNvPr id="11" name="Text 9"/>
          <p:cNvSpPr/>
          <p:nvPr/>
        </p:nvSpPr>
        <p:spPr>
          <a:xfrm>
            <a:off x="558800" y="2710180"/>
            <a:ext cx="444500" cy="317500"/>
          </a:xfrm>
          <a:prstGeom prst="rect">
            <a:avLst/>
          </a:prstGeom>
          <a:noFill/>
          <a:ln/>
        </p:spPr>
        <p:txBody>
          <a:bodyPr wrap="square" lIns="0" tIns="0" rIns="0" bIns="0" rtlCol="0" anchor="t"/>
          <a:lstStyle/>
          <a:p>
            <a:pPr marL="0" indent="0" algn="l">
              <a:lnSpc>
                <a:spcPct val="145000"/>
              </a:lnSpc>
              <a:buNone/>
            </a:pPr>
            <a:r>
              <a:rPr lang="en-US" sz="1700" dirty="0">
                <a:solidFill>
                  <a:srgbClr val="A87A2E"/>
                </a:solidFill>
                <a:latin typeface="IBM Plex Mono" pitchFamily="34" charset="0"/>
                <a:ea typeface="IBM Plex Mono" pitchFamily="34" charset="-122"/>
                <a:cs typeface="IBM Plex Mono" pitchFamily="34" charset="-120"/>
              </a:rPr>
              <a:t>03</a:t>
            </a:r>
            <a:endParaRPr lang="en-US" sz="1700" dirty="0"/>
          </a:p>
        </p:txBody>
      </p:sp>
      <p:sp>
        <p:nvSpPr>
          <p:cNvPr id="12" name="Text 10"/>
          <p:cNvSpPr/>
          <p:nvPr/>
        </p:nvSpPr>
        <p:spPr>
          <a:xfrm>
            <a:off x="1003300" y="2697480"/>
            <a:ext cx="9461500" cy="447040"/>
          </a:xfrm>
          <a:prstGeom prst="rect">
            <a:avLst/>
          </a:prstGeom>
          <a:noFill/>
          <a:ln/>
        </p:spPr>
        <p:txBody>
          <a:bodyPr wrap="square" lIns="0" tIns="0" rIns="0" bIns="0" rtlCol="0" anchor="t"/>
          <a:lstStyle/>
          <a:p>
            <a:pPr marL="0" indent="0" algn="l">
              <a:lnSpc>
                <a:spcPct val="140000"/>
              </a:lnSpc>
              <a:buNone/>
            </a:pPr>
            <a:r>
              <a:rPr lang="en-US" sz="1800" dirty="0">
                <a:solidFill>
                  <a:srgbClr val="332F2A"/>
                </a:solidFill>
                <a:latin typeface="Libre Franklin" pitchFamily="34" charset="0"/>
                <a:ea typeface="Libre Franklin" pitchFamily="34" charset="-122"/>
                <a:cs typeface="Libre Franklin" pitchFamily="34" charset="-120"/>
              </a:rPr>
              <a:t>Looking right and being right differ, and only one of them survives a test.</a:t>
            </a:r>
            <a:endParaRPr lang="en-US" sz="1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CFBF8"/>
        </a:solidFill>
        <a:effectLst/>
      </p:bgPr>
    </p:bg>
    <p:spTree>
      <p:nvGrpSpPr>
        <p:cNvPr id="1" name=""/>
        <p:cNvGrpSpPr/>
        <p:nvPr/>
      </p:nvGrpSpPr>
      <p:grpSpPr>
        <a:xfrm>
          <a:off x="0" y="0"/>
          <a:ext cx="0" cy="0"/>
          <a:chOff x="0" y="0"/>
          <a:chExt cx="0" cy="0"/>
        </a:xfrm>
      </p:grpSpPr>
      <p:sp>
        <p:nvSpPr>
          <p:cNvPr id="2" name="Text 0"/>
          <p:cNvSpPr/>
          <p:nvPr/>
        </p:nvSpPr>
        <p:spPr>
          <a:xfrm>
            <a:off x="558800" y="609600"/>
            <a:ext cx="11074400" cy="254000"/>
          </a:xfrm>
          <a:prstGeom prst="rect">
            <a:avLst/>
          </a:prstGeom>
          <a:noFill/>
          <a:ln/>
        </p:spPr>
        <p:txBody>
          <a:bodyPr wrap="square" lIns="0" tIns="0" rIns="0" bIns="0" rtlCol="0" anchor="t"/>
          <a:lstStyle/>
          <a:p>
            <a:pPr marL="0" indent="0" algn="l">
              <a:lnSpc>
                <a:spcPct val="145000"/>
              </a:lnSpc>
              <a:buNone/>
            </a:pPr>
            <a:r>
              <a:rPr lang="en-US" sz="1300" kern="0" spc="182" dirty="0">
                <a:solidFill>
                  <a:srgbClr val="A87A2E"/>
                </a:solidFill>
                <a:latin typeface="IBM Plex Mono" pitchFamily="34" charset="0"/>
                <a:ea typeface="IBM Plex Mono" pitchFamily="34" charset="-122"/>
                <a:cs typeface="IBM Plex Mono" pitchFamily="34" charset="-120"/>
              </a:rPr>
              <a:t>QUESTIONS</a:t>
            </a:r>
            <a:endParaRPr lang="en-US" sz="1300" dirty="0"/>
          </a:p>
        </p:txBody>
      </p:sp>
      <p:sp>
        <p:nvSpPr>
          <p:cNvPr id="3" name="Text 1"/>
          <p:cNvSpPr/>
          <p:nvPr/>
        </p:nvSpPr>
        <p:spPr>
          <a:xfrm>
            <a:off x="558800" y="3048000"/>
            <a:ext cx="5283200" cy="1524000"/>
          </a:xfrm>
          <a:prstGeom prst="rect">
            <a:avLst/>
          </a:prstGeom>
          <a:noFill/>
          <a:ln/>
        </p:spPr>
        <p:txBody>
          <a:bodyPr wrap="square" lIns="0" tIns="0" rIns="0" bIns="0" rtlCol="0" anchor="t"/>
          <a:lstStyle/>
          <a:p>
            <a:pPr marL="0" indent="0" algn="l">
              <a:lnSpc>
                <a:spcPct val="108000"/>
              </a:lnSpc>
              <a:buNone/>
            </a:pPr>
            <a:r>
              <a:rPr lang="en-US" sz="4000" b="1" dirty="0">
                <a:solidFill>
                  <a:srgbClr val="332F2A"/>
                </a:solidFill>
                <a:latin typeface="Libre Franklin" pitchFamily="34" charset="0"/>
                <a:ea typeface="Libre Franklin" pitchFamily="34" charset="-122"/>
                <a:cs typeface="Libre Franklin" pitchFamily="34" charset="-120"/>
              </a:rPr>
              <a:t>What did your agent get wrong?</a:t>
            </a:r>
            <a:endParaRPr lang="en-US" sz="4000" dirty="0"/>
          </a:p>
        </p:txBody>
      </p:sp>
      <p:sp>
        <p:nvSpPr>
          <p:cNvPr id="4" name="Text 2"/>
          <p:cNvSpPr/>
          <p:nvPr/>
        </p:nvSpPr>
        <p:spPr>
          <a:xfrm>
            <a:off x="6350000" y="3556000"/>
            <a:ext cx="5283200" cy="39624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Finish and deploy Lab 1 if it is not live yet</a:t>
            </a:r>
            <a:endParaRPr lang="en-US" sz="1600" dirty="0"/>
          </a:p>
        </p:txBody>
      </p:sp>
      <p:sp>
        <p:nvSpPr>
          <p:cNvPr id="5" name="Text 3"/>
          <p:cNvSpPr/>
          <p:nvPr/>
        </p:nvSpPr>
        <p:spPr>
          <a:xfrm>
            <a:off x="6350000" y="3975100"/>
            <a:ext cx="5283200" cy="396240"/>
          </a:xfrm>
          <a:prstGeom prst="rect">
            <a:avLst/>
          </a:prstGeom>
          <a:noFill/>
          <a:ln/>
        </p:spPr>
        <p:txBody>
          <a:bodyPr wrap="square" lIns="0" tIns="0" rIns="0" bIns="0" rtlCol="0" anchor="t"/>
          <a:lstStyle/>
          <a:p>
            <a:pPr marL="0" indent="0" algn="l">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Read the AI-DLC notes before Session 2</a:t>
            </a:r>
            <a:endParaRPr lang="en-US" sz="1600" dirty="0"/>
          </a:p>
        </p:txBody>
      </p:sp>
      <p:sp>
        <p:nvSpPr>
          <p:cNvPr id="6" name="Text 4"/>
          <p:cNvSpPr/>
          <p:nvPr/>
        </p:nvSpPr>
        <p:spPr>
          <a:xfrm>
            <a:off x="6350000" y="4508500"/>
            <a:ext cx="5283200" cy="254000"/>
          </a:xfrm>
          <a:prstGeom prst="rect">
            <a:avLst/>
          </a:prstGeom>
          <a:noFill/>
          <a:ln/>
        </p:spPr>
        <p:txBody>
          <a:bodyPr wrap="square" lIns="0" tIns="0" rIns="0" bIns="0" rtlCol="0" anchor="t"/>
          <a:lstStyle/>
          <a:p>
            <a:pPr marL="0" indent="0" algn="l">
              <a:lnSpc>
                <a:spcPct val="145000"/>
              </a:lnSpc>
              <a:buNone/>
            </a:pPr>
            <a:r>
              <a:rPr lang="en-US" sz="1300" dirty="0">
                <a:solidFill>
                  <a:srgbClr val="77726A"/>
                </a:solidFill>
                <a:latin typeface="IBM Plex Mono" pitchFamily="34" charset="0"/>
                <a:ea typeface="IBM Plex Mono" pitchFamily="34" charset="-122"/>
                <a:cs typeface="IBM Plex Mono" pitchFamily="34" charset="-120"/>
              </a:rPr>
              <a:t>come back in at github.com/codespaces · do not make a new one</a:t>
            </a:r>
            <a:endParaRPr lang="en-US" sz="1300" dirty="0"/>
          </a:p>
        </p:txBody>
      </p:sp>
      <p:sp>
        <p:nvSpPr>
          <p:cNvPr id="7" name="Shape 5"/>
          <p:cNvSpPr/>
          <p:nvPr/>
        </p:nvSpPr>
        <p:spPr>
          <a:xfrm>
            <a:off x="558800" y="6172200"/>
            <a:ext cx="11074400" cy="6350"/>
          </a:xfrm>
          <a:prstGeom prst="rect">
            <a:avLst/>
          </a:prstGeom>
          <a:solidFill>
            <a:srgbClr val="E1DED7"/>
          </a:solidFill>
          <a:ln/>
        </p:spPr>
        <p:txBody>
          <a:bodyPr/>
          <a:lstStyle/>
          <a:p>
            <a:endParaRPr lang="en-TH"/>
          </a:p>
        </p:txBody>
      </p:sp>
      <p:sp>
        <p:nvSpPr>
          <p:cNvPr id="8" name="Text 6"/>
          <p:cNvSpPr/>
          <p:nvPr/>
        </p:nvSpPr>
        <p:spPr>
          <a:xfrm>
            <a:off x="558800" y="6337300"/>
            <a:ext cx="7620000" cy="215900"/>
          </a:xfrm>
          <a:prstGeom prst="rect">
            <a:avLst/>
          </a:prstGeom>
          <a:noFill/>
          <a:ln/>
        </p:spPr>
        <p:txBody>
          <a:bodyPr wrap="square" lIns="0" tIns="0" rIns="0" bIns="0" rtlCol="0" anchor="t"/>
          <a:lstStyle/>
          <a:p>
            <a:pPr marL="0" indent="0" algn="l">
              <a:lnSpc>
                <a:spcPct val="145000"/>
              </a:lnSpc>
              <a:buNone/>
            </a:pPr>
            <a:r>
              <a:rPr lang="en-US" sz="1200" dirty="0">
                <a:solidFill>
                  <a:srgbClr val="77726A"/>
                </a:solidFill>
                <a:latin typeface="IBM Plex Mono" pitchFamily="34" charset="0"/>
                <a:ea typeface="IBM Plex Mono" pitchFamily="34" charset="-122"/>
                <a:cs typeface="IBM Plex Mono" pitchFamily="34" charset="-120"/>
              </a:rPr>
              <a:t>Your Name · you@university.ac.th</a:t>
            </a:r>
            <a:endParaRPr lang="en-US" sz="1200" dirty="0"/>
          </a:p>
        </p:txBody>
      </p:sp>
      <p:sp>
        <p:nvSpPr>
          <p:cNvPr id="9" name="Text 7"/>
          <p:cNvSpPr/>
          <p:nvPr/>
        </p:nvSpPr>
        <p:spPr>
          <a:xfrm>
            <a:off x="10363200" y="6337300"/>
            <a:ext cx="1270000" cy="215900"/>
          </a:xfrm>
          <a:prstGeom prst="rect">
            <a:avLst/>
          </a:prstGeom>
          <a:noFill/>
          <a:ln/>
        </p:spPr>
        <p:txBody>
          <a:bodyPr wrap="square" lIns="0" tIns="0" rIns="0" bIns="0" rtlCol="0" anchor="t"/>
          <a:lstStyle/>
          <a:p>
            <a:pPr marL="0" indent="0" algn="r">
              <a:lnSpc>
                <a:spcPct val="145000"/>
              </a:lnSpc>
              <a:buNone/>
            </a:pPr>
            <a:r>
              <a:rPr lang="en-US" sz="1200" dirty="0">
                <a:solidFill>
                  <a:srgbClr val="77726A"/>
                </a:solidFill>
                <a:latin typeface="IBM Plex Mono" pitchFamily="34" charset="0"/>
                <a:ea typeface="IBM Plex Mono" pitchFamily="34" charset="-122"/>
                <a:cs typeface="IBM Plex Mono" pitchFamily="34" charset="-120"/>
              </a:rPr>
              <a:t>51</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307</TotalTime>
  <Words>9017</Words>
  <Application>Microsoft Macintosh PowerPoint</Application>
  <PresentationFormat>Widescreen</PresentationFormat>
  <Paragraphs>743</Paragraphs>
  <Slides>51</Slides>
  <Notes>51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51</vt:i4>
      </vt:variant>
    </vt:vector>
  </HeadingPairs>
  <TitlesOfParts>
    <vt:vector size="55" baseType="lpstr">
      <vt:lpstr>Arial</vt:lpstr>
      <vt:lpstr>IBM Plex Mono</vt:lpstr>
      <vt:lpstr>Libre Franklin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Freelancer Sharing</cp:lastModifiedBy>
  <cp:revision>1</cp:revision>
  <dcterms:created xsi:type="dcterms:W3CDTF">2026-09-04T02:35:03Z</dcterms:created>
  <dcterms:modified xsi:type="dcterms:W3CDTF">2026-09-04T13:40:34Z</dcterms:modified>
</cp:coreProperties>
</file>